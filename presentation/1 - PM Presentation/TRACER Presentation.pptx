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10287000" cx="18288000"/>
  <p:notesSz cx="10287000" cy="18288000"/>
  <p:embeddedFontLst>
    <p:embeddedFont>
      <p:font typeface="Poppi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ayuru Reh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oppins-bold.fntdata"/><Relationship Id="rId10" Type="http://schemas.openxmlformats.org/officeDocument/2006/relationships/slide" Target="slides/slide5.xml"/><Relationship Id="rId32" Type="http://schemas.openxmlformats.org/officeDocument/2006/relationships/font" Target="fonts/Poppins-regular.fntdata"/><Relationship Id="rId13" Type="http://schemas.openxmlformats.org/officeDocument/2006/relationships/slide" Target="slides/slide8.xml"/><Relationship Id="rId35" Type="http://schemas.openxmlformats.org/officeDocument/2006/relationships/font" Target="fonts/Poppins-boldItalic.fntdata"/><Relationship Id="rId12" Type="http://schemas.openxmlformats.org/officeDocument/2006/relationships/slide" Target="slides/slide7.xml"/><Relationship Id="rId34" Type="http://schemas.openxmlformats.org/officeDocument/2006/relationships/font" Target="fonts/Poppins-italic.fntdata"/><Relationship Id="rId15" Type="http://schemas.openxmlformats.org/officeDocument/2006/relationships/slide" Target="slides/slide10.xml"/><Relationship Id="rId37" Type="http://schemas.openxmlformats.org/officeDocument/2006/relationships/font" Target="fonts/Inter-bold.fntdata"/><Relationship Id="rId14" Type="http://schemas.openxmlformats.org/officeDocument/2006/relationships/slide" Target="slides/slide9.xml"/><Relationship Id="rId36" Type="http://schemas.openxmlformats.org/officeDocument/2006/relationships/font" Target="fonts/Inter-regular.fntdata"/><Relationship Id="rId17" Type="http://schemas.openxmlformats.org/officeDocument/2006/relationships/slide" Target="slides/slide12.xml"/><Relationship Id="rId39" Type="http://schemas.openxmlformats.org/officeDocument/2006/relationships/font" Target="fonts/Inter-boldItalic.fntdata"/><Relationship Id="rId16" Type="http://schemas.openxmlformats.org/officeDocument/2006/relationships/slide" Target="slides/slide11.xml"/><Relationship Id="rId38" Type="http://schemas.openxmlformats.org/officeDocument/2006/relationships/font" Target="fonts/Inter-italic.fntdata"/><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8T16:37:29.058">
    <p:pos x="6000" y="0"/>
    <p:text>SR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8-08T16:39:16.381">
    <p:pos x="6000" y="0"/>
    <p:text>LITHMA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8-08T16:39:43.693">
    <p:pos x="6000" y="0"/>
    <p:text>SULA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We're presenting TRACER, the Tri-Action Risk Assessment and Calibration for Execution Routing of Small Language Model responses. Our research asks whether a calibrated ml model can decide, after the fact, whether to accept, repair, or regenerate that response, more reliably than today's simpler routing methods. </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why this decision happens after generation rather than before. By the time TRACER gets involved, the small language model has already produced its answer, so the question isn't which model should respond, it's what we do with the response we already have. That matters because confidence and correctness aren't the same thing: a model can sound certain and still be wrong. Some wrong answers are easy to fix with a quick correction; others are built on a wrong approach and need a completely new attempt. Treating every failure the same way either throws away usable work or keeps a broken answer alive, which is exactly the gap this research targets.</a:t>
            </a:r>
            <a:endParaRPr/>
          </a:p>
        </p:txBody>
      </p:sp>
      <p:sp>
        <p:nvSpPr>
          <p:cNvPr id="25" name="Google Shape;25;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Today's cascading systems can accept an answer or escalate it to a bigger model, but they can't tell you how risky each follow-up option actually is. </a:t>
            </a:r>
            <a:endParaRPr/>
          </a:p>
          <a:p>
            <a:pPr indent="0" lvl="0" marL="0" rtl="0" algn="l">
              <a:spcBef>
                <a:spcPts val="0"/>
              </a:spcBef>
              <a:spcAft>
                <a:spcPts val="0"/>
              </a:spcAft>
              <a:buNone/>
            </a:pPr>
            <a:r>
              <a:rPr lang="en-US"/>
              <a:t>A response that's almost right is often safer to repair than to discard; a response built on the wrong approach is usually safer to regenerate from scratch than to patch. </a:t>
            </a:r>
            <a:endParaRPr/>
          </a:p>
          <a:p>
            <a:pPr indent="0" lvl="0" marL="0" rtl="0" algn="l">
              <a:spcBef>
                <a:spcPts val="0"/>
              </a:spcBef>
              <a:spcAft>
                <a:spcPts val="0"/>
              </a:spcAft>
              <a:buNone/>
            </a:pPr>
            <a:r>
              <a:rPr lang="en-US"/>
              <a:t>Our research question is whether a calibrated, failure-aware ML policy can reduce incorrect final answers by choosing intelligently among accept, repair, and regenerate, compared with simpler binary or fixed-action approaches.</a:t>
            </a:r>
            <a:endParaRPr/>
          </a:p>
        </p:txBody>
      </p:sp>
      <p:sp>
        <p:nvSpPr>
          <p:cNvPr id="49" name="Google Shape;49;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we have </a:t>
            </a:r>
            <a:r>
              <a:rPr lang="en-US"/>
              <a:t>defined these three actions. Risk is the probability that the final answer is still wrong after whichever action we take, this is validated by code and numerical tests rather than a human opinion. </a:t>
            </a:r>
            <a:endParaRPr/>
          </a:p>
          <a:p>
            <a:pPr indent="0" lvl="0" marL="0" rtl="0" algn="l">
              <a:spcBef>
                <a:spcPts val="0"/>
              </a:spcBef>
              <a:spcAft>
                <a:spcPts val="0"/>
              </a:spcAft>
              <a:buNone/>
            </a:pPr>
            <a:r>
              <a:rPr lang="en-US"/>
              <a:t>Repair means the stronger model gets one shot at fixing the draft, using the SLM's answer. </a:t>
            </a:r>
            <a:endParaRPr/>
          </a:p>
          <a:p>
            <a:pPr indent="0" lvl="0" marL="0" rtl="0" algn="l">
              <a:spcBef>
                <a:spcPts val="0"/>
              </a:spcBef>
              <a:spcAft>
                <a:spcPts val="0"/>
              </a:spcAft>
              <a:buNone/>
            </a:pPr>
            <a:r>
              <a:rPr lang="en-US"/>
              <a:t>Regenerate means the stronger model solves the task completely independently, without seeing the incorrect SLM draft at all, so it isn't anchored to the SLM's mistakes.</a:t>
            </a:r>
            <a:endParaRPr/>
          </a:p>
        </p:txBody>
      </p:sp>
      <p:sp>
        <p:nvSpPr>
          <p:cNvPr id="72" name="Google Shape;72;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weeks isn't long for a three-action ML study, so we've deliberately narrowed the scope to keep it achievable. </a:t>
            </a:r>
            <a:endParaRPr/>
          </a:p>
          <a:p>
            <a:pPr indent="0" lvl="0" marL="0" rtl="0" algn="l">
              <a:spcBef>
                <a:spcPts val="0"/>
              </a:spcBef>
              <a:spcAft>
                <a:spcPts val="0"/>
              </a:spcAft>
              <a:buNone/>
            </a:pPr>
            <a:r>
              <a:rPr lang="en-US"/>
              <a:t>In scope: two task domains we can verify objectively, two small language models, one fixed stronger model, and a single attempt each at repair and regeneration.</a:t>
            </a:r>
            <a:endParaRPr/>
          </a:p>
          <a:p>
            <a:pPr indent="0" lvl="0" marL="0" rtl="0" algn="l">
              <a:spcBef>
                <a:spcPts val="0"/>
              </a:spcBef>
              <a:spcAft>
                <a:spcPts val="0"/>
              </a:spcAft>
              <a:buNone/>
            </a:pPr>
            <a:r>
              <a:rPr lang="en-US"/>
              <a:t>Out of scope: cost or latency optimisation, RL, RAG, multi-agent debate, and any kind of iterative repair loop. </a:t>
            </a:r>
            <a:endParaRPr/>
          </a:p>
          <a:p>
            <a:pPr indent="0" lvl="0" marL="0" rtl="0" algn="l">
              <a:spcBef>
                <a:spcPts val="0"/>
              </a:spcBef>
              <a:spcAft>
                <a:spcPts val="0"/>
              </a:spcAft>
              <a:buNone/>
            </a:pPr>
            <a:r>
              <a:rPr lang="en-US"/>
              <a:t>Success means a reproducible answer to our research question, backed by calibration quality, false-acceptance rate, risk regret, and evidence that it transfers across models.</a:t>
            </a:r>
            <a:endParaRPr/>
          </a:p>
        </p:txBody>
      </p:sp>
      <p:sp>
        <p:nvSpPr>
          <p:cNvPr id="101" name="Google Shape;101;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3 main research gaps. First, most cascading systems only support a binary choice, accept or escalate, and even newer systems that add resampling or rerouting don't jointly learn the risk of all three actions we care about. </a:t>
            </a:r>
            <a:endParaRPr/>
          </a:p>
          <a:p>
            <a:pPr indent="0" lvl="0" marL="0" rtl="0" algn="l">
              <a:spcBef>
                <a:spcPts val="0"/>
              </a:spcBef>
              <a:spcAft>
                <a:spcPts val="0"/>
              </a:spcAft>
              <a:buNone/>
            </a:pPr>
            <a:r>
              <a:rPr lang="en-US"/>
              <a:t>Second, confidence estimation methods generally score the answer you already have, not what would happen if you repaired or regenerated it. </a:t>
            </a:r>
            <a:endParaRPr/>
          </a:p>
          <a:p>
            <a:pPr indent="0" lvl="0" marL="0" rtl="0" algn="l">
              <a:spcBef>
                <a:spcPts val="0"/>
              </a:spcBef>
              <a:spcAft>
                <a:spcPts val="0"/>
              </a:spcAft>
              <a:buNone/>
            </a:pPr>
            <a:r>
              <a:rPr lang="en-US"/>
              <a:t>Third, calibrated routing research is almost entirely about accept-or-defer decisions; nobody has really built a calibrated selector across corrective actions like repair versus regenerate. </a:t>
            </a:r>
            <a:endParaRPr/>
          </a:p>
          <a:p>
            <a:pPr indent="0" lvl="0" marL="0" rtl="0" algn="l">
              <a:spcBef>
                <a:spcPts val="0"/>
              </a:spcBef>
              <a:spcAft>
                <a:spcPts val="0"/>
              </a:spcAft>
              <a:buNone/>
            </a:pPr>
            <a:r>
              <a:rPr lang="en-US"/>
              <a:t>That gap, calibrated and action-specific, is exactly what TRACER is built to fill.</a:t>
            </a:r>
            <a:endParaRPr/>
          </a:p>
        </p:txBody>
      </p:sp>
      <p:sp>
        <p:nvSpPr>
          <p:cNvPr id="130" name="Google Shape;130;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lays out exactly how we compare against the closest prior work. TRACER is the only approach here that uses the SLM's output, actually repairs the draft, supports independent regeneration, and produces a calibrated risk estimate specific to each of the three actions.</a:t>
            </a:r>
            <a:endParaRPr/>
          </a:p>
        </p:txBody>
      </p:sp>
      <p:sp>
        <p:nvSpPr>
          <p:cNvPr id="154" name="Google Shape;154;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aim is simply to build and evaluate a calibrated model that estimates failure risk for each action and picks the lowest-risk one. </a:t>
            </a:r>
            <a:endParaRPr/>
          </a:p>
          <a:p>
            <a:pPr indent="0" lvl="0" marL="0" rtl="0" algn="l">
              <a:spcBef>
                <a:spcPts val="0"/>
              </a:spcBef>
              <a:spcAft>
                <a:spcPts val="0"/>
              </a:spcAft>
              <a:buNone/>
            </a:pPr>
            <a:r>
              <a:rPr lang="en-US"/>
              <a:t>The hypothesis is that this approach will beat binary accept-or-escalate and fixed-action baselines on both error rate and false acceptance.</a:t>
            </a:r>
            <a:endParaRPr/>
          </a:p>
        </p:txBody>
      </p:sp>
      <p:sp>
        <p:nvSpPr>
          <p:cNvPr id="232" name="Google Shape;232;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This slide presents our proposed solution: TRACER.</a:t>
            </a:r>
            <a:endParaRPr/>
          </a:p>
          <a:p>
            <a:pPr indent="0" lvl="0" marL="0" rtl="0" algn="l">
              <a:spcBef>
                <a:spcPts val="0"/>
              </a:spcBef>
              <a:spcAft>
                <a:spcPts val="0"/>
              </a:spcAft>
              <a:buSzPts val="1100"/>
              <a:buNone/>
            </a:pPr>
            <a:r>
              <a:rPr lang="en-US"/>
              <a:t>The system is built around a learned risk estimator, rather than a fixed set of rules.</a:t>
            </a:r>
            <a:endParaRPr/>
          </a:p>
          <a:p>
            <a:pPr indent="0" lvl="0" marL="0" rtl="0" algn="l">
              <a:spcBef>
                <a:spcPts val="0"/>
              </a:spcBef>
              <a:spcAft>
                <a:spcPts val="0"/>
              </a:spcAft>
              <a:buSzPts val="1100"/>
              <a:buNone/>
            </a:pPr>
            <a:r>
              <a:rPr lang="en-US"/>
              <a:t>The process begins when a user task is passed to the small language model.</a:t>
            </a:r>
            <a:endParaRPr/>
          </a:p>
          <a:p>
            <a:pPr indent="0" lvl="0" marL="0" rtl="0" algn="l">
              <a:spcBef>
                <a:spcPts val="0"/>
              </a:spcBef>
              <a:spcAft>
                <a:spcPts val="0"/>
              </a:spcAft>
              <a:buSzPts val="1100"/>
              <a:buNone/>
            </a:pPr>
            <a:r>
              <a:rPr lang="en-US"/>
              <a:t>The SLM produces a draft response.</a:t>
            </a:r>
            <a:endParaRPr/>
          </a:p>
          <a:p>
            <a:pPr indent="0" lvl="0" marL="0" rtl="0" algn="l">
              <a:spcBef>
                <a:spcPts val="0"/>
              </a:spcBef>
              <a:spcAft>
                <a:spcPts val="0"/>
              </a:spcAft>
              <a:buSzPts val="1100"/>
              <a:buNone/>
            </a:pPr>
            <a:r>
              <a:rPr lang="en-US"/>
              <a:t>From this, we extract a set of features: query and response embeddings, the model's own uncertainty, and validator signals such as whether code compiles.</a:t>
            </a:r>
            <a:endParaRPr/>
          </a:p>
          <a:p>
            <a:pPr indent="0" lvl="0" marL="0" rtl="0" algn="l">
              <a:spcBef>
                <a:spcPts val="0"/>
              </a:spcBef>
              <a:spcAft>
                <a:spcPts val="0"/>
              </a:spcAft>
              <a:buSzPts val="1100"/>
              <a:buNone/>
            </a:pPr>
            <a:r>
              <a:rPr lang="en-US"/>
              <a:t>These features are passed into ACRE, our risk estimator.</a:t>
            </a:r>
            <a:endParaRPr/>
          </a:p>
          <a:p>
            <a:pPr indent="0" lvl="0" marL="0" rtl="0" algn="l">
              <a:spcBef>
                <a:spcPts val="0"/>
              </a:spcBef>
              <a:spcAft>
                <a:spcPts val="0"/>
              </a:spcAft>
              <a:buSzPts val="1100"/>
              <a:buNone/>
            </a:pPr>
            <a:r>
              <a:rPr lang="en-US"/>
              <a:t>ACRE returns three calibrated risk scores, corresponding to accept, repair, and regenerate.</a:t>
            </a:r>
            <a:endParaRPr/>
          </a:p>
          <a:p>
            <a:pPr indent="0" lvl="0" marL="0" rtl="0" algn="l">
              <a:spcBef>
                <a:spcPts val="0"/>
              </a:spcBef>
              <a:spcAft>
                <a:spcPts val="0"/>
              </a:spcAft>
              <a:buSzPts val="1100"/>
              <a:buNone/>
            </a:pPr>
            <a:r>
              <a:rPr lang="en-US"/>
              <a:t>The system then selects the action with the lowest predicted risk.</a:t>
            </a:r>
            <a:br>
              <a:rPr lang="en-US"/>
            </a:br>
            <a:br>
              <a:rPr lang="en-US"/>
            </a:br>
            <a:br>
              <a:rPr lang="en-US"/>
            </a:br>
            <a:r>
              <a:rPr lang="en-US"/>
              <a:t>////</a:t>
            </a:r>
            <a:endParaRPr/>
          </a:p>
          <a:p>
            <a:pPr indent="0" lvl="0" marL="0" rtl="0" algn="l">
              <a:spcBef>
                <a:spcPts val="0"/>
              </a:spcBef>
              <a:spcAft>
                <a:spcPts val="0"/>
              </a:spcAft>
              <a:buSzPts val="1100"/>
              <a:buNone/>
            </a:pPr>
            <a:r>
              <a:rPr lang="en-US"/>
              <a:t>The key thing to emphasise: validator signals act as model inputs, not as hardcoded decision rules.</a:t>
            </a:r>
            <a:endParaRPr/>
          </a:p>
          <a:p>
            <a:pPr indent="0" lvl="0" marL="0" rtl="0" algn="l">
              <a:spcBef>
                <a:spcPts val="0"/>
              </a:spcBef>
              <a:spcAft>
                <a:spcPts val="0"/>
              </a:spcAft>
              <a:buNone/>
            </a:pPr>
            <a:r>
              <a:t/>
            </a:r>
            <a:endParaRPr/>
          </a:p>
        </p:txBody>
      </p:sp>
      <p:sp>
        <p:nvSpPr>
          <p:cNvPr id="262" name="Google Shape;262;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Our methodology is structured as a controlled offline experiment.</a:t>
            </a:r>
            <a:endParaRPr/>
          </a:p>
          <a:p>
            <a:pPr indent="0" lvl="0" marL="0" rtl="0" algn="l">
              <a:spcBef>
                <a:spcPts val="0"/>
              </a:spcBef>
              <a:spcAft>
                <a:spcPts val="0"/>
              </a:spcAft>
              <a:buSzPts val="1100"/>
              <a:buNone/>
            </a:pPr>
            <a:r>
              <a:rPr lang="en-US"/>
              <a:t>The first stage is task preparation, drawing on two domains: code debugging and financial reasoning.</a:t>
            </a:r>
            <a:endParaRPr/>
          </a:p>
          <a:p>
            <a:pPr indent="0" lvl="0" marL="0" rtl="0" algn="l">
              <a:spcBef>
                <a:spcPts val="0"/>
              </a:spcBef>
              <a:spcAft>
                <a:spcPts val="0"/>
              </a:spcAft>
              <a:buSzPts val="1100"/>
              <a:buNone/>
            </a:pPr>
            <a:r>
              <a:rPr lang="en-US"/>
              <a:t>Second, for every SLM response, we generate all three possible outcomes: accept, repair, and regenerate.</a:t>
            </a:r>
            <a:endParaRPr/>
          </a:p>
          <a:p>
            <a:pPr indent="0" lvl="0" marL="0" rtl="0" algn="l">
              <a:spcBef>
                <a:spcPts val="0"/>
              </a:spcBef>
              <a:spcAft>
                <a:spcPts val="0"/>
              </a:spcAft>
              <a:buSzPts val="1100"/>
              <a:buNone/>
            </a:pPr>
            <a:r>
              <a:rPr lang="en-US"/>
              <a:t>Third, we train and calibrate three separate failure-risk heads.</a:t>
            </a:r>
            <a:endParaRPr/>
          </a:p>
          <a:p>
            <a:pPr indent="0" lvl="0" marL="0" rtl="0" algn="l">
              <a:spcBef>
                <a:spcPts val="0"/>
              </a:spcBef>
              <a:spcAft>
                <a:spcPts val="0"/>
              </a:spcAft>
              <a:buSzPts val="1100"/>
              <a:buNone/>
            </a:pPr>
            <a:r>
              <a:rPr lang="en-US"/>
              <a:t>Fourth, we evaluate performance using error rate, false acceptance, and calibration metrics.</a:t>
            </a:r>
            <a:endParaRPr/>
          </a:p>
          <a:p>
            <a:pPr indent="0" lvl="0" marL="0" rtl="0" algn="l">
              <a:spcBef>
                <a:spcPts val="0"/>
              </a:spcBef>
              <a:spcAft>
                <a:spcPts val="0"/>
              </a:spcAft>
              <a:buSzPts val="1100"/>
              <a:buNone/>
            </a:pPr>
            <a:r>
              <a:rPr lang="en-US"/>
              <a:t>Together, this provides ACRE with reliable, labelled training data.</a:t>
            </a:r>
            <a:endParaRPr/>
          </a:p>
          <a:p>
            <a:pPr indent="0" lvl="0" marL="0" rtl="0" algn="l">
              <a:spcBef>
                <a:spcPts val="0"/>
              </a:spcBef>
              <a:spcAft>
                <a:spcPts val="0"/>
              </a:spcAft>
              <a:buSzPts val="1100"/>
              <a:buNone/>
            </a:pPr>
            <a:r>
              <a:t/>
            </a:r>
            <a:endParaRPr/>
          </a:p>
          <a:p>
            <a:pPr indent="0" lvl="0" marL="0" rtl="0" algn="l">
              <a:spcBef>
                <a:spcPts val="0"/>
              </a:spcBef>
              <a:spcAft>
                <a:spcPts val="0"/>
              </a:spcAft>
              <a:buNone/>
            </a:pPr>
            <a:r>
              <a:t/>
            </a:r>
            <a:endParaRPr/>
          </a:p>
        </p:txBody>
      </p:sp>
      <p:sp>
        <p:nvSpPr>
          <p:cNvPr id="300" name="Google Shape;300;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ACRE stands for the Action-Conditional Risk Estimator.</a:t>
            </a:r>
            <a:endParaRPr/>
          </a:p>
          <a:p>
            <a:pPr indent="0" lvl="0" marL="0" rtl="0" algn="l">
              <a:spcBef>
                <a:spcPts val="0"/>
              </a:spcBef>
              <a:spcAft>
                <a:spcPts val="0"/>
              </a:spcAft>
              <a:buSzPts val="1100"/>
              <a:buNone/>
            </a:pPr>
            <a:r>
              <a:rPr lang="en-US"/>
              <a:t>It represents the core machine learning contribution of the project.</a:t>
            </a:r>
            <a:endParaRPr/>
          </a:p>
          <a:p>
            <a:pPr indent="0" lvl="0" marL="0" rtl="0" algn="l">
              <a:spcBef>
                <a:spcPts val="0"/>
              </a:spcBef>
              <a:spcAft>
                <a:spcPts val="0"/>
              </a:spcAft>
              <a:buSzPts val="1100"/>
              <a:buNone/>
            </a:pPr>
            <a:r>
              <a:rPr lang="en-US"/>
              <a:t>Its inputs include the query embedding, the response embedding, and other features.</a:t>
            </a:r>
            <a:endParaRPr/>
          </a:p>
          <a:p>
            <a:pPr indent="0" lvl="0" marL="0" rtl="0" algn="l">
              <a:spcBef>
                <a:spcPts val="0"/>
              </a:spcBef>
              <a:spcAft>
                <a:spcPts val="0"/>
              </a:spcAft>
              <a:buSzPts val="1100"/>
              <a:buNone/>
            </a:pPr>
            <a:r>
              <a:rPr lang="en-US"/>
              <a:t>These inputs pass through a shared network.</a:t>
            </a:r>
            <a:endParaRPr/>
          </a:p>
          <a:p>
            <a:pPr indent="0" lvl="0" marL="0" rtl="0" algn="l">
              <a:spcBef>
                <a:spcPts val="0"/>
              </a:spcBef>
              <a:spcAft>
                <a:spcPts val="0"/>
              </a:spcAft>
              <a:buSzPts val="1100"/>
              <a:buNone/>
            </a:pPr>
            <a:r>
              <a:rPr lang="en-US"/>
              <a:t>Then three separate heads each estimate a failure probability, one per action.</a:t>
            </a:r>
            <a:endParaRPr/>
          </a:p>
          <a:p>
            <a:pPr indent="0" lvl="0" marL="0" rtl="0" algn="l">
              <a:spcBef>
                <a:spcPts val="0"/>
              </a:spcBef>
              <a:spcAft>
                <a:spcPts val="0"/>
              </a:spcAft>
              <a:buSzPts val="1100"/>
              <a:buNone/>
            </a:pPr>
            <a:r>
              <a:rPr lang="en-US"/>
              <a:t>Each head is calibrated independently.</a:t>
            </a:r>
            <a:endParaRPr/>
          </a:p>
          <a:p>
            <a:pPr indent="0" lvl="0" marL="0" rtl="0" algn="l">
              <a:spcBef>
                <a:spcPts val="0"/>
              </a:spcBef>
              <a:spcAft>
                <a:spcPts val="0"/>
              </a:spcAft>
              <a:buSzPts val="1100"/>
              <a:buNone/>
            </a:pPr>
            <a:r>
              <a:rPr lang="en-US"/>
              <a:t>And as mentioned earlier final decision is to select the action with the lowest calibrated risk.</a:t>
            </a:r>
            <a:endParaRPr/>
          </a:p>
          <a:p>
            <a:pPr indent="0" lvl="0" marL="0" rtl="0" algn="l">
              <a:spcBef>
                <a:spcPts val="0"/>
              </a:spcBef>
              <a:spcAft>
                <a:spcPts val="0"/>
              </a:spcAft>
              <a:buNone/>
            </a:pPr>
            <a:br>
              <a:rPr lang="en-US"/>
            </a:br>
            <a:br>
              <a:rPr lang="en-US"/>
            </a:br>
            <a:br>
              <a:rPr lang="en-US"/>
            </a:br>
            <a:r>
              <a:rPr lang="en-US"/>
              <a:t>/////</a:t>
            </a:r>
            <a:br>
              <a:rPr lang="en-US"/>
            </a:br>
            <a:r>
              <a:rPr lang="en-US"/>
              <a:t>Calibration is necessary because a model's raw confidence is not inherently reliable.</a:t>
            </a:r>
            <a:endParaRPr/>
          </a:p>
        </p:txBody>
      </p:sp>
      <p:sp>
        <p:nvSpPr>
          <p:cNvPr id="332" name="Google Shape;332;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Evaluation is conducted across two domains, each with objective validators.</a:t>
            </a:r>
            <a:endParaRPr/>
          </a:p>
          <a:p>
            <a:pPr indent="0" lvl="0" marL="0" rtl="0" algn="l">
              <a:spcBef>
                <a:spcPts val="0"/>
              </a:spcBef>
              <a:spcAft>
                <a:spcPts val="0"/>
              </a:spcAft>
              <a:buSzPts val="1100"/>
              <a:buNone/>
            </a:pPr>
            <a:r>
              <a:rPr lang="en-US"/>
              <a:t>Code debugging is assessed using DebugBench, through compilation and unit tests.</a:t>
            </a:r>
            <a:endParaRPr/>
          </a:p>
          <a:p>
            <a:pPr indent="0" lvl="0" marL="0" rtl="0" algn="l">
              <a:spcBef>
                <a:spcPts val="0"/>
              </a:spcBef>
              <a:spcAft>
                <a:spcPts val="0"/>
              </a:spcAft>
              <a:buSzPts val="1100"/>
              <a:buNone/>
            </a:pPr>
            <a:r>
              <a:rPr lang="en-US"/>
              <a:t>Financial reasoning is assessed using FinQA, through exact-answer verification.</a:t>
            </a:r>
            <a:endParaRPr/>
          </a:p>
          <a:p>
            <a:pPr indent="0" lvl="0" marL="0" rtl="0" algn="l">
              <a:spcBef>
                <a:spcPts val="0"/>
              </a:spcBef>
              <a:spcAft>
                <a:spcPts val="0"/>
              </a:spcAft>
              <a:buSzPts val="1100"/>
              <a:buNone/>
            </a:pPr>
            <a:r>
              <a:rPr lang="en-US"/>
              <a:t>We compare against eight baselines using these primary and secondary metrics shows here.</a:t>
            </a:r>
            <a:endParaRPr/>
          </a:p>
          <a:p>
            <a:pPr indent="0" lvl="0" marL="0" rtl="0" algn="l">
              <a:spcBef>
                <a:spcPts val="0"/>
              </a:spcBef>
              <a:spcAft>
                <a:spcPts val="0"/>
              </a:spcAft>
              <a:buSzPts val="1100"/>
              <a:buNone/>
            </a:pPr>
            <a:r>
              <a:rPr lang="en-US"/>
              <a:t>Lastly, a positive result requires outperforming these baselines with statistically supported, well-calibrated risk estimates.</a:t>
            </a:r>
            <a:endParaRPr/>
          </a:p>
          <a:p>
            <a:pPr indent="0" lvl="0" marL="0" rtl="0" algn="l">
              <a:spcBef>
                <a:spcPts val="0"/>
              </a:spcBef>
              <a:spcAft>
                <a:spcPts val="0"/>
              </a:spcAft>
              <a:buNone/>
            </a:pPr>
            <a:r>
              <a:t/>
            </a:r>
            <a:endParaRPr/>
          </a:p>
        </p:txBody>
      </p:sp>
      <p:sp>
        <p:nvSpPr>
          <p:cNvPr id="366" name="Google Shape;366;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For project delivery, we adopted Agile Scrum rather than a Waterfall approach.</a:t>
            </a:r>
            <a:endParaRPr/>
          </a:p>
          <a:p>
            <a:pPr indent="0" lvl="0" marL="0" rtl="0" algn="l">
              <a:spcBef>
                <a:spcPts val="0"/>
              </a:spcBef>
              <a:spcAft>
                <a:spcPts val="0"/>
              </a:spcAft>
              <a:buClr>
                <a:schemeClr val="dk1"/>
              </a:buClr>
              <a:buSzPts val="1100"/>
              <a:buFont typeface="Arial"/>
              <a:buNone/>
            </a:pPr>
            <a:r>
              <a:rPr lang="en-US"/>
              <a:t>This research is exploratory in nature, and pilot results may change our task mix, prompts, validators, or features.</a:t>
            </a:r>
            <a:endParaRPr/>
          </a:p>
          <a:p>
            <a:pPr indent="0" lvl="0" marL="0" rtl="0" algn="l">
              <a:spcBef>
                <a:spcPts val="0"/>
              </a:spcBef>
              <a:spcAft>
                <a:spcPts val="0"/>
              </a:spcAft>
              <a:buClr>
                <a:schemeClr val="dk1"/>
              </a:buClr>
              <a:buSzPts val="1100"/>
              <a:buFont typeface="Arial"/>
              <a:buNone/>
            </a:pPr>
            <a:r>
              <a:rPr lang="en-US"/>
              <a:t>A Waterfall structure would lock these decisions in prematurely, before sufficient evidence exists.</a:t>
            </a:r>
            <a:endParaRPr/>
          </a:p>
          <a:p>
            <a:pPr indent="0" lvl="0" marL="0" rtl="0" algn="l">
              <a:spcBef>
                <a:spcPts val="0"/>
              </a:spcBef>
              <a:spcAft>
                <a:spcPts val="0"/>
              </a:spcAft>
              <a:buClr>
                <a:schemeClr val="dk1"/>
              </a:buClr>
              <a:buSzPts val="1100"/>
              <a:buFont typeface="Arial"/>
              <a:buNone/>
            </a:pPr>
            <a:r>
              <a:rPr lang="en-US"/>
              <a:t>We also need ongoing feedback, as calibration and validator quality need frequent review throughout.</a:t>
            </a:r>
            <a:endParaRPr/>
          </a:p>
          <a:p>
            <a:pPr indent="0" lvl="0" marL="0" rtl="0" algn="l">
              <a:spcBef>
                <a:spcPts val="0"/>
              </a:spcBef>
              <a:spcAft>
                <a:spcPts val="0"/>
              </a:spcAft>
              <a:buClr>
                <a:schemeClr val="dk1"/>
              </a:buClr>
              <a:buSzPts val="1100"/>
              <a:buFont typeface="Arial"/>
              <a:buNone/>
            </a:pPr>
            <a:r>
              <a:rPr lang="en-US"/>
              <a:t>Agile's sprint structure also protects our 12-week deadline: a fixed backlog and clear sprint goals stop scope from quietly expanding.</a:t>
            </a:r>
            <a:endParaRPr/>
          </a:p>
          <a:p>
            <a:pPr indent="0" lvl="0" marL="0" rtl="0" algn="l">
              <a:spcBef>
                <a:spcPts val="0"/>
              </a:spcBef>
              <a:spcAft>
                <a:spcPts val="0"/>
              </a:spcAft>
              <a:buClr>
                <a:schemeClr val="dk1"/>
              </a:buClr>
              <a:buSzPts val="1100"/>
              <a:buFont typeface="Arial"/>
              <a:buNone/>
            </a:pPr>
            <a:r>
              <a:rPr lang="en-US"/>
              <a:t>This is supported by a defined toolchain: Jira for sprint planning, GitHub for version control, and MLflow for experiment tracking.</a:t>
            </a:r>
            <a:endParaRPr/>
          </a:p>
          <a:p>
            <a:pPr indent="0" lvl="0" marL="0" rtl="0" algn="l">
              <a:spcBef>
                <a:spcPts val="0"/>
              </a:spcBef>
              <a:spcAft>
                <a:spcPts val="0"/>
              </a:spcAft>
              <a:buClr>
                <a:schemeClr val="dk1"/>
              </a:buClr>
              <a:buSzPts val="1100"/>
              <a:buFont typeface="Arial"/>
              <a:buNone/>
            </a:pPr>
            <a:r>
              <a:rPr lang="en-US"/>
              <a:t>Together, this approach will help us be flexible while keeping track of our project within the timeline.</a:t>
            </a:r>
            <a:endParaRPr/>
          </a:p>
          <a:p>
            <a:pPr indent="0" lvl="0" marL="0" rtl="0" algn="l">
              <a:spcBef>
                <a:spcPts val="0"/>
              </a:spcBef>
              <a:spcAft>
                <a:spcPts val="0"/>
              </a:spcAft>
              <a:buSzPts val="1100"/>
              <a:buNone/>
            </a:pPr>
            <a:r>
              <a:t/>
            </a:r>
            <a:endParaRPr/>
          </a:p>
          <a:p>
            <a:pPr indent="0" lvl="0" marL="0" rtl="0" algn="l">
              <a:spcBef>
                <a:spcPts val="0"/>
              </a:spcBef>
              <a:spcAft>
                <a:spcPts val="0"/>
              </a:spcAft>
              <a:buNone/>
            </a:pPr>
            <a:r>
              <a:t/>
            </a:r>
            <a:endParaRPr/>
          </a:p>
        </p:txBody>
      </p:sp>
      <p:sp>
        <p:nvSpPr>
          <p:cNvPr id="407" name="Google Shape;407;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In practice, the project is organised into twelve one-week sprints.</a:t>
            </a:r>
            <a:endParaRPr/>
          </a:p>
          <a:p>
            <a:pPr indent="0" lvl="0" marL="0" rtl="0" algn="l">
              <a:spcBef>
                <a:spcPts val="0"/>
              </a:spcBef>
              <a:spcAft>
                <a:spcPts val="0"/>
              </a:spcAft>
              <a:buClr>
                <a:schemeClr val="dk1"/>
              </a:buClr>
              <a:buSzPts val="1100"/>
              <a:buFont typeface="Arial"/>
              <a:buNone/>
            </a:pPr>
            <a:r>
              <a:rPr lang="en-US"/>
              <a:t>Each sprint follows a consistent cycle: planning from the backlog, building or experimenting, reviewing outcomes, and conducting a retrospective.</a:t>
            </a:r>
            <a:endParaRPr/>
          </a:p>
          <a:p>
            <a:pPr indent="0" lvl="0" marL="0" rtl="0" algn="l">
              <a:spcBef>
                <a:spcPts val="0"/>
              </a:spcBef>
              <a:spcAft>
                <a:spcPts val="0"/>
              </a:spcAft>
              <a:buClr>
                <a:schemeClr val="dk1"/>
              </a:buClr>
              <a:buSzPts val="1100"/>
              <a:buFont typeface="Arial"/>
              <a:buNone/>
            </a:pPr>
            <a:r>
              <a:rPr lang="en-US"/>
              <a:t>The Jira backlog is structured around six epics.</a:t>
            </a:r>
            <a:endParaRPr/>
          </a:p>
          <a:p>
            <a:pPr indent="0" lvl="0" marL="0" rtl="0" algn="l">
              <a:spcBef>
                <a:spcPts val="0"/>
              </a:spcBef>
              <a:spcAft>
                <a:spcPts val="0"/>
              </a:spcAft>
              <a:buClr>
                <a:schemeClr val="dk1"/>
              </a:buClr>
              <a:buSzPts val="1100"/>
              <a:buFont typeface="Arial"/>
              <a:buNone/>
            </a:pPr>
            <a:r>
              <a:rPr lang="en-US"/>
              <a:t>These correspond to the project's major phases: research and literature, data and validators, outcome generation, ACRE development, evaluation, and finally, the paper and presentation.</a:t>
            </a:r>
            <a:endParaRPr/>
          </a:p>
          <a:p>
            <a:pPr indent="0" lvl="0" marL="0" rtl="0" algn="l">
              <a:spcBef>
                <a:spcPts val="0"/>
              </a:spcBef>
              <a:spcAft>
                <a:spcPts val="0"/>
              </a:spcAft>
              <a:buClr>
                <a:schemeClr val="dk1"/>
              </a:buClr>
              <a:buSzPts val="1100"/>
              <a:buFont typeface="Arial"/>
              <a:buNone/>
            </a:pPr>
            <a:r>
              <a:rPr lang="en-US"/>
              <a:t>This structure will assure that our project is coherent, rather than disconnected units of work.</a:t>
            </a:r>
            <a:br>
              <a:rPr lang="en-US"/>
            </a:br>
            <a:br>
              <a:rPr lang="en-US"/>
            </a:br>
            <a:r>
              <a:rPr lang="en-US"/>
              <a:t>Roles are also clearly defined within the team.</a:t>
            </a:r>
            <a:endParaRPr/>
          </a:p>
          <a:p>
            <a:pPr indent="0" lvl="0" marL="0" rtl="0" algn="l">
              <a:spcBef>
                <a:spcPts val="0"/>
              </a:spcBef>
              <a:spcAft>
                <a:spcPts val="0"/>
              </a:spcAft>
              <a:buClr>
                <a:schemeClr val="dk1"/>
              </a:buClr>
              <a:buSzPts val="1100"/>
              <a:buFont typeface="Arial"/>
              <a:buNone/>
            </a:pPr>
            <a:r>
              <a:rPr lang="en-US"/>
              <a:t>Sayuru is the Product Owner, prioritising the backlog and representing the project's direction.</a:t>
            </a:r>
            <a:endParaRPr/>
          </a:p>
          <a:p>
            <a:pPr indent="0" lvl="0" marL="0" rtl="0" algn="l">
              <a:spcBef>
                <a:spcPts val="0"/>
              </a:spcBef>
              <a:spcAft>
                <a:spcPts val="0"/>
              </a:spcAft>
              <a:buClr>
                <a:schemeClr val="dk1"/>
              </a:buClr>
              <a:buSzPts val="1100"/>
              <a:buFont typeface="Arial"/>
              <a:buNone/>
            </a:pPr>
            <a:r>
              <a:rPr lang="en-US"/>
              <a:t>The Scrum Master role rotates every three sprints among all three members, so no one is stuck coordinating the whole project throughout and everyone gets hands-on experience running the process.</a:t>
            </a:r>
            <a:endParaRPr/>
          </a:p>
          <a:p>
            <a:pPr indent="0" lvl="0" marL="0" rtl="0" algn="l">
              <a:spcBef>
                <a:spcPts val="0"/>
              </a:spcBef>
              <a:spcAft>
                <a:spcPts val="0"/>
              </a:spcAft>
              <a:buClr>
                <a:schemeClr val="dk1"/>
              </a:buClr>
              <a:buSzPts val="1100"/>
              <a:buFont typeface="Arial"/>
              <a:buNone/>
            </a:pPr>
            <a:r>
              <a:rPr lang="en-US"/>
              <a:t>All three of us will work as researchers, each owning a workstream while sharing the write-up and analysis part.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46" name="Google Shape;446;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Stakeholders were identified and mapped according to the degree of engagement required.</a:t>
            </a:r>
            <a:endParaRPr/>
          </a:p>
          <a:p>
            <a:pPr indent="0" lvl="0" marL="0" rtl="0" algn="l">
              <a:spcBef>
                <a:spcPts val="0"/>
              </a:spcBef>
              <a:spcAft>
                <a:spcPts val="0"/>
              </a:spcAft>
              <a:buClr>
                <a:schemeClr val="dk1"/>
              </a:buClr>
              <a:buSzPts val="1100"/>
              <a:buFont typeface="Arial"/>
              <a:buNone/>
            </a:pPr>
            <a:r>
              <a:rPr lang="en-US"/>
              <a:t>The supervisor and the three-person team require the closest and most frequent contact.</a:t>
            </a:r>
            <a:endParaRPr/>
          </a:p>
          <a:p>
            <a:pPr indent="0" lvl="0" marL="0" rtl="0" algn="l">
              <a:spcBef>
                <a:spcPts val="0"/>
              </a:spcBef>
              <a:spcAft>
                <a:spcPts val="0"/>
              </a:spcAft>
              <a:buClr>
                <a:schemeClr val="dk1"/>
              </a:buClr>
              <a:buSzPts val="1100"/>
              <a:buFont typeface="Arial"/>
              <a:buNone/>
            </a:pPr>
            <a:r>
              <a:rPr lang="en-US"/>
              <a:t>The module lecturer and examiner require visible progress to remain satisfied.</a:t>
            </a:r>
            <a:endParaRPr/>
          </a:p>
          <a:p>
            <a:pPr indent="0" lvl="0" marL="0" rtl="0" algn="l">
              <a:spcBef>
                <a:spcPts val="0"/>
              </a:spcBef>
              <a:spcAft>
                <a:spcPts val="0"/>
              </a:spcAft>
              <a:buClr>
                <a:schemeClr val="dk1"/>
              </a:buClr>
              <a:buSzPts val="1100"/>
              <a:buFont typeface="Arial"/>
              <a:buNone/>
            </a:pPr>
            <a:r>
              <a:rPr lang="en-US"/>
              <a:t>Research peers and future users require only ongoing awareness of progress.</a:t>
            </a:r>
            <a:endParaRPr/>
          </a:p>
          <a:p>
            <a:pPr indent="0" lvl="0" marL="0" rtl="0" algn="l">
              <a:spcBef>
                <a:spcPts val="0"/>
              </a:spcBef>
              <a:spcAft>
                <a:spcPts val="0"/>
              </a:spcAft>
              <a:buClr>
                <a:schemeClr val="dk1"/>
              </a:buClr>
              <a:buSzPts val="1100"/>
              <a:buFont typeface="Arial"/>
              <a:buNone/>
            </a:pPr>
            <a:r>
              <a:rPr lang="en-US"/>
              <a:t>External API providers are monitored rather than actively managed.</a:t>
            </a:r>
            <a:endParaRPr/>
          </a:p>
          <a:p>
            <a:pPr indent="0" lvl="0" marL="0" rtl="0" algn="l">
              <a:spcBef>
                <a:spcPts val="0"/>
              </a:spcBef>
              <a:spcAft>
                <a:spcPts val="0"/>
              </a:spcAft>
              <a:buClr>
                <a:schemeClr val="dk1"/>
              </a:buClr>
              <a:buSzPts val="1100"/>
              <a:buFont typeface="Arial"/>
              <a:buNone/>
            </a:pPr>
            <a:r>
              <a:rPr lang="en-US"/>
              <a:t>Within the team, each researcher is responsible for one workstream: datasets, validators, or the ACRE model.</a:t>
            </a:r>
            <a:endParaRPr/>
          </a:p>
          <a:p>
            <a:pPr indent="0" lvl="0" marL="0" rtl="0" algn="l">
              <a:spcBef>
                <a:spcPts val="0"/>
              </a:spcBef>
              <a:spcAft>
                <a:spcPts val="0"/>
              </a:spcAft>
              <a:buClr>
                <a:schemeClr val="dk1"/>
              </a:buClr>
              <a:buSzPts val="1100"/>
              <a:buFont typeface="Arial"/>
              <a:buNone/>
            </a:pPr>
            <a:r>
              <a:rPr lang="en-US"/>
              <a:t>Literature review, writing, and final analysis remain shared responsibilities across all three members.</a:t>
            </a:r>
            <a:endParaRPr/>
          </a:p>
          <a:p>
            <a:pPr indent="0" lvl="0" marL="0" rtl="0" algn="l">
              <a:spcBef>
                <a:spcPts val="0"/>
              </a:spcBef>
              <a:spcAft>
                <a:spcPts val="0"/>
              </a:spcAft>
              <a:buNone/>
            </a:pPr>
            <a:r>
              <a:t/>
            </a:r>
            <a:endParaRPr/>
          </a:p>
        </p:txBody>
      </p:sp>
      <p:sp>
        <p:nvSpPr>
          <p:cNvPr id="489" name="Google Shape;489;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slide presents our Work Breakdown Structure.</a:t>
            </a:r>
            <a:endParaRPr/>
          </a:p>
          <a:p>
            <a:pPr indent="0" lvl="0" marL="0" rtl="0" algn="l">
              <a:spcBef>
                <a:spcPts val="0"/>
              </a:spcBef>
              <a:spcAft>
                <a:spcPts val="0"/>
              </a:spcAft>
              <a:buClr>
                <a:schemeClr val="dk1"/>
              </a:buClr>
              <a:buSzPts val="1100"/>
              <a:buFont typeface="Arial"/>
              <a:buNone/>
            </a:pPr>
            <a:r>
              <a:rPr lang="en-US"/>
              <a:t>It is intentionally deliverable-oriented in design.</a:t>
            </a:r>
            <a:endParaRPr/>
          </a:p>
          <a:p>
            <a:pPr indent="0" lvl="0" marL="0" rtl="0" algn="l">
              <a:spcBef>
                <a:spcPts val="0"/>
              </a:spcBef>
              <a:spcAft>
                <a:spcPts val="0"/>
              </a:spcAft>
              <a:buClr>
                <a:schemeClr val="dk1"/>
              </a:buClr>
              <a:buSzPts val="1100"/>
              <a:buFont typeface="Arial"/>
              <a:buNone/>
            </a:pPr>
            <a:r>
              <a:rPr lang="en-US"/>
              <a:t>Each Level 1 work package corresponds directly to a Jira epic, ensuring alignment between planning and execution.</a:t>
            </a:r>
            <a:endParaRPr/>
          </a:p>
          <a:p>
            <a:pPr indent="0" lvl="0" marL="0" rtl="0" algn="l">
              <a:spcBef>
                <a:spcPts val="0"/>
              </a:spcBef>
              <a:spcAft>
                <a:spcPts val="0"/>
              </a:spcAft>
              <a:buClr>
                <a:schemeClr val="dk1"/>
              </a:buClr>
              <a:buSzPts val="1100"/>
              <a:buFont typeface="Arial"/>
              <a:buNone/>
            </a:pPr>
            <a:r>
              <a:rPr lang="en-US"/>
              <a:t>The structure follows the project's natural lifecycle, from top to bottom.</a:t>
            </a:r>
            <a:endParaRPr/>
          </a:p>
          <a:p>
            <a:pPr indent="0" lvl="0" marL="0" rtl="0" algn="l">
              <a:spcBef>
                <a:spcPts val="0"/>
              </a:spcBef>
              <a:spcAft>
                <a:spcPts val="0"/>
              </a:spcAft>
              <a:buClr>
                <a:schemeClr val="dk1"/>
              </a:buClr>
              <a:buSzPts val="1100"/>
              <a:buFont typeface="Arial"/>
              <a:buNone/>
            </a:pPr>
            <a:r>
              <a:rPr lang="en-US"/>
              <a:t>This begins with research and design, followed by data and infrastructure, outcome generation, ACRE development, evaluation, and finally reporting part.</a:t>
            </a:r>
            <a:endParaRPr/>
          </a:p>
          <a:p>
            <a:pPr indent="0" lvl="0" marL="0" rtl="0" algn="l">
              <a:spcBef>
                <a:spcPts val="0"/>
              </a:spcBef>
              <a:spcAft>
                <a:spcPts val="0"/>
              </a:spcAft>
              <a:buClr>
                <a:schemeClr val="dk1"/>
              </a:buClr>
              <a:buSzPts val="1100"/>
              <a:buFont typeface="Arial"/>
              <a:buNone/>
            </a:pPr>
            <a:r>
              <a:rPr lang="en-US"/>
              <a:t>This alignment ensures that all project activity is directly reflected in how progress is tracked.</a:t>
            </a:r>
            <a:endParaRPr/>
          </a:p>
          <a:p>
            <a:pPr indent="0" lvl="0" marL="0" rtl="0" algn="l">
              <a:spcBef>
                <a:spcPts val="0"/>
              </a:spcBef>
              <a:spcAft>
                <a:spcPts val="0"/>
              </a:spcAft>
              <a:buNone/>
            </a:pPr>
            <a:r>
              <a:t/>
            </a:r>
            <a:endParaRPr/>
          </a:p>
        </p:txBody>
      </p:sp>
      <p:sp>
        <p:nvSpPr>
          <p:cNvPr id="524" name="Google Shape;524;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our sprint-by-sprint plan across all twelve weeks. Each column is one sprint, and the coloured bars show exactly which work package is active during which week; the work naturally flows left to right, from literature and setup, through dataset generation and model training, into evaluation and finally the write-up. The six milestones underneath are real evidence gates, not just calendar markers: the protocol freezing in week two, the pilot passing in week four, the dataset itself freezing by week six. If we miss one of these, that's our signal to adjust scope immediately rather than letting it slide.</a:t>
            </a:r>
            <a:endParaRPr/>
          </a:p>
        </p:txBody>
      </p:sp>
      <p:sp>
        <p:nvSpPr>
          <p:cNvPr id="597" name="Google Shape;597;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risk matrix separates likelihood from impact so we can see at a glance which risks need attention first -- the top-right corner is where regeneration dominance and validator or compute risks cluster. We've grouped every risk into four standard categories: technical risks around the model and data, schedule risks around scope, resource risks around compute and API access, and one stakeholder risk around availability for feedback. Nothing here is hidden; each one has an owner and a mitigation on the next slide.</a:t>
            </a:r>
            <a:endParaRPr/>
          </a:p>
        </p:txBody>
      </p:sp>
      <p:sp>
        <p:nvSpPr>
          <p:cNvPr id="758" name="Google Shape;758;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each risk we plan three layers of response. Preventive actions reduce the chance a risk occurs at all, like piloting early and unit-testing every validator. Contingency plans are what we actually do if a risk shows up anyway, so we're not improvising under pressure. And the monitoring approach is how we'd notice a problem early enough for either layer to still work, through weekly reviews and a live Jira risk register.</a:t>
            </a:r>
            <a:endParaRPr/>
          </a:p>
        </p:txBody>
      </p:sp>
      <p:sp>
        <p:nvSpPr>
          <p:cNvPr id="818" name="Google Shape;818;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where we show live evidence rather than describe it. We are in Sprint 3, with two weeks completed: the Jira board and GitHub commit history are already live, and the third panel shows the proof-of-concept experiments we've run so far -- not a finished prototype yet. Drop the latest screenshots in before each review. The milestone strip below tracks the six evidence gates from our sprint plan and should be updated as each one is actually reached, not just planned.</a:t>
            </a:r>
            <a:endParaRPr/>
          </a:p>
        </p:txBody>
      </p:sp>
      <p:sp>
        <p:nvSpPr>
          <p:cNvPr id="861" name="Google Shape;861;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 does success actually look like at the end of week twelve? Concretely: a calibrated three-action risk model, a labelled action-outcome dataset that didn't exist before, and a clear comparative evaluation against binary routing, fixed-action policies, and standard ML baselines like logistic regression and XGBoost. On the delivery side, that means twelve completed sprints with a traceable backlog, versioned code, and full experiment logs. The most important thing to communicate here is that success isn't defined as the hypothesis being proven right, it's defined as producing a rigorous, defensible answer either way.</a:t>
            </a:r>
            <a:endParaRPr/>
          </a:p>
        </p:txBody>
      </p:sp>
      <p:sp>
        <p:nvSpPr>
          <p:cNvPr id="876" name="Google Shape;876;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want to be transparent about exactly where we are right now, because it's easy to overstate progress on a proposal like this. What's genuinely defined and locked in: the title, the research question, our operational definitions, the literature gap we're targeting, the scope, the architecture, and our evaluation metrics. What's planned but not yet built: the datasets, model roles, validators, baselines, and the risk register you've just seen. What comes immediately next is repository setup, getting our local models actually serving requests, implementing the validators, and running that pilot. To be direct, nothing has been implemented or tested yet; this proposal is the design, not the results.</a:t>
            </a:r>
            <a:endParaRPr/>
          </a:p>
        </p:txBody>
      </p:sp>
      <p:sp>
        <p:nvSpPr>
          <p:cNvPr id="896" name="Google Shape;896;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1" name="Google Shape;961;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 before writing a line of experiment code, this design phase taught us three things worth sharing. First, you cannot skip straight to modelling; risk, repair, and regenerate had to be nailed down precisely before anything could be labelled, which forced us to think hard about validator correctness and leakage. Second, this only works if we collect every action's outcome for the same task, which raises real cost and class-imbalance concerns we've had to plan around from day one. Third, a calibrated model is worthless without strong, boring baselines to compare against, otherwise we can't prove it's actually adding value.</a:t>
            </a:r>
            <a:endParaRPr/>
          </a:p>
        </p:txBody>
      </p:sp>
      <p:sp>
        <p:nvSpPr>
          <p:cNvPr id="962" name="Google Shape;962;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bring this together: today's routing and cascading research mostly stops at accepting or deferring an answer, it doesn't jointly estimate what would happen if you repaired it or regenerated it instead. TRACER's contribution is ACRE, a model that learns calibrated failure probability for all three actions from real, objectively-verified outcomes, not guesswork. We're testing that across two verifiable domains and two different small language model families, and delivering the whole study through twelve disciplined one-week sprints. Where we stand today: the research design is complete and ready to build on, and our very next checkpoint is implementing the validators and running the pilot.</a:t>
            </a:r>
            <a:endParaRPr/>
          </a:p>
        </p:txBody>
      </p:sp>
      <p:sp>
        <p:nvSpPr>
          <p:cNvPr id="992" name="Google Shape;992;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first block covers the routing, cascading, and confidence-estimation literature our problem statement builds on. It's here for the written record and for anyone who wants to trace a specific claim back to its source; no need to read it aloud during the talk.</a:t>
            </a:r>
            <a:endParaRPr/>
          </a:p>
        </p:txBody>
      </p:sp>
      <p:sp>
        <p:nvSpPr>
          <p:cNvPr id="1009" name="Google Shape;1009;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our proposal. We'd like to thank our supervisor and the examiner for their time today, and we're happy to take questions, particularly on the scope decisions, the ACRE model, or the sprint plan.</a:t>
            </a:r>
            <a:endParaRPr/>
          </a:p>
        </p:txBody>
      </p:sp>
      <p:sp>
        <p:nvSpPr>
          <p:cNvPr id="1041" name="Google Shape;1041;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omments" Target="../comments/comment3.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4594"/>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4">
            <a:alphaModFix amt="35000"/>
          </a:blip>
          <a:srcRect b="0" l="0" r="0" t="0"/>
          <a:stretch/>
        </p:blipFill>
        <p:spPr>
          <a:xfrm>
            <a:off x="13144500" y="-1714500"/>
            <a:ext cx="6667500" cy="6667500"/>
          </a:xfrm>
          <a:prstGeom prst="rect">
            <a:avLst/>
          </a:prstGeom>
          <a:noFill/>
          <a:ln>
            <a:noFill/>
          </a:ln>
        </p:spPr>
      </p:pic>
      <p:pic>
        <p:nvPicPr>
          <p:cNvPr descr="preencoded.png" id="17" name="Google Shape;17;p3"/>
          <p:cNvPicPr preferRelativeResize="0"/>
          <p:nvPr/>
        </p:nvPicPr>
        <p:blipFill rotWithShape="1">
          <a:blip r:embed="rId5">
            <a:alphaModFix amt="30000"/>
          </a:blip>
          <a:srcRect b="0" l="0" r="0" t="0"/>
          <a:stretch/>
        </p:blipFill>
        <p:spPr>
          <a:xfrm>
            <a:off x="-1333500" y="7048500"/>
            <a:ext cx="5334000" cy="5334000"/>
          </a:xfrm>
          <a:prstGeom prst="rect">
            <a:avLst/>
          </a:prstGeom>
          <a:noFill/>
          <a:ln>
            <a:noFill/>
          </a:ln>
        </p:spPr>
      </p:pic>
      <p:sp>
        <p:nvSpPr>
          <p:cNvPr id="18" name="Google Shape;18;p3"/>
          <p:cNvSpPr/>
          <p:nvPr/>
        </p:nvSpPr>
        <p:spPr>
          <a:xfrm>
            <a:off x="1428750" y="3190275"/>
            <a:ext cx="6667500" cy="1467000"/>
          </a:xfrm>
          <a:prstGeom prst="rect">
            <a:avLst/>
          </a:prstGeom>
          <a:noFill/>
          <a:ln>
            <a:noFill/>
          </a:ln>
        </p:spPr>
        <p:txBody>
          <a:bodyPr anchorCtr="0" anchor="t" bIns="25400" lIns="25400" spcFirstLastPara="1" rIns="25400" wrap="square" tIns="25400">
            <a:noAutofit/>
          </a:bodyPr>
          <a:lstStyle/>
          <a:p>
            <a:pPr indent="0" lvl="0" marL="0" marR="0" rtl="0" algn="l">
              <a:lnSpc>
                <a:spcPct val="66568"/>
              </a:lnSpc>
              <a:spcBef>
                <a:spcPts val="0"/>
              </a:spcBef>
              <a:spcAft>
                <a:spcPts val="0"/>
              </a:spcAft>
              <a:buClr>
                <a:srgbClr val="FFFFFF"/>
              </a:buClr>
              <a:buSzPts val="11250"/>
              <a:buFont typeface="Poppins"/>
              <a:buNone/>
            </a:pPr>
            <a:r>
              <a:rPr b="1" i="0" lang="en-US" sz="11250" u="none" cap="none" strike="noStrike">
                <a:solidFill>
                  <a:srgbClr val="FFFFFF"/>
                </a:solidFill>
                <a:latin typeface="Poppins"/>
                <a:ea typeface="Poppins"/>
                <a:cs typeface="Poppins"/>
                <a:sym typeface="Poppins"/>
              </a:rPr>
              <a:t>TRACER</a:t>
            </a:r>
            <a:endParaRPr b="0" i="0" sz="11250" u="none" cap="none" strike="noStrike">
              <a:solidFill>
                <a:schemeClr val="dk1"/>
              </a:solidFill>
              <a:latin typeface="Calibri"/>
              <a:ea typeface="Calibri"/>
              <a:cs typeface="Calibri"/>
              <a:sym typeface="Calibri"/>
            </a:endParaRPr>
          </a:p>
        </p:txBody>
      </p:sp>
      <p:sp>
        <p:nvSpPr>
          <p:cNvPr id="19" name="Google Shape;19;p3"/>
          <p:cNvSpPr/>
          <p:nvPr/>
        </p:nvSpPr>
        <p:spPr>
          <a:xfrm>
            <a:off x="1428750" y="4885725"/>
            <a:ext cx="14184000" cy="921900"/>
          </a:xfrm>
          <a:prstGeom prst="rect">
            <a:avLst/>
          </a:prstGeom>
          <a:noFill/>
          <a:ln>
            <a:noFill/>
          </a:ln>
        </p:spPr>
        <p:txBody>
          <a:bodyPr anchorCtr="0" anchor="t" bIns="25400" lIns="25400" spcFirstLastPara="1" rIns="25400" wrap="square" tIns="25400">
            <a:noAutofit/>
          </a:bodyPr>
          <a:lstStyle/>
          <a:p>
            <a:pPr indent="0" lvl="0" marL="0" marR="0" rtl="0" algn="l">
              <a:lnSpc>
                <a:spcPct val="117966"/>
              </a:lnSpc>
              <a:spcBef>
                <a:spcPts val="0"/>
              </a:spcBef>
              <a:spcAft>
                <a:spcPts val="0"/>
              </a:spcAft>
              <a:buClr>
                <a:srgbClr val="C6DBEF"/>
              </a:buClr>
              <a:buSzPts val="2400"/>
              <a:buFont typeface="Inter"/>
              <a:buNone/>
            </a:pPr>
            <a:r>
              <a:rPr b="0" i="0" lang="en-US" sz="2500" u="none" cap="none" strike="noStrike">
                <a:solidFill>
                  <a:srgbClr val="C6DBEF"/>
                </a:solidFill>
                <a:latin typeface="Inter"/>
                <a:ea typeface="Inter"/>
                <a:cs typeface="Inter"/>
                <a:sym typeface="Inter"/>
              </a:rPr>
              <a:t>Tri-</a:t>
            </a:r>
            <a:r>
              <a:rPr lang="en-US" sz="2500">
                <a:solidFill>
                  <a:srgbClr val="C6DBEF"/>
                </a:solidFill>
                <a:latin typeface="Inter"/>
                <a:ea typeface="Inter"/>
                <a:cs typeface="Inter"/>
                <a:sym typeface="Inter"/>
              </a:rPr>
              <a:t>a</a:t>
            </a:r>
            <a:r>
              <a:rPr b="0" i="0" lang="en-US" sz="2500" u="none" cap="none" strike="noStrike">
                <a:solidFill>
                  <a:srgbClr val="C6DBEF"/>
                </a:solidFill>
                <a:latin typeface="Inter"/>
                <a:ea typeface="Inter"/>
                <a:cs typeface="Inter"/>
                <a:sym typeface="Inter"/>
              </a:rPr>
              <a:t>ction Risk Assessment and Calibration for Execution Routing of Small Language Model Responses</a:t>
            </a:r>
            <a:endParaRPr b="0" i="0" sz="2500" u="none" cap="none" strike="noStrike">
              <a:solidFill>
                <a:schemeClr val="dk1"/>
              </a:solidFill>
              <a:latin typeface="Calibri"/>
              <a:ea typeface="Calibri"/>
              <a:cs typeface="Calibri"/>
              <a:sym typeface="Calibri"/>
            </a:endParaRPr>
          </a:p>
        </p:txBody>
      </p:sp>
      <p:sp>
        <p:nvSpPr>
          <p:cNvPr id="20" name="Google Shape;20;p3"/>
          <p:cNvSpPr/>
          <p:nvPr/>
        </p:nvSpPr>
        <p:spPr>
          <a:xfrm>
            <a:off x="1428750" y="7066625"/>
            <a:ext cx="5334000" cy="204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800"/>
              <a:buFont typeface="Inter"/>
              <a:buNone/>
            </a:pPr>
            <a:r>
              <a:rPr b="1" lang="en-US" sz="2200">
                <a:solidFill>
                  <a:srgbClr val="DEEBF7"/>
                </a:solidFill>
                <a:latin typeface="Inter"/>
                <a:ea typeface="Inter"/>
                <a:cs typeface="Inter"/>
                <a:sym typeface="Inter"/>
              </a:rPr>
              <a:t>GROUP 7</a:t>
            </a:r>
            <a:endParaRPr b="1" sz="2200">
              <a:solidFill>
                <a:srgbClr val="DEEBF7"/>
              </a:solidFill>
              <a:latin typeface="Inter"/>
              <a:ea typeface="Inter"/>
              <a:cs typeface="Inter"/>
              <a:sym typeface="Inter"/>
            </a:endParaRPr>
          </a:p>
          <a:p>
            <a:pPr indent="0" lvl="0" marL="0" marR="0" rtl="0" algn="l">
              <a:spcBef>
                <a:spcPts val="0"/>
              </a:spcBef>
              <a:spcAft>
                <a:spcPts val="0"/>
              </a:spcAft>
              <a:buClr>
                <a:srgbClr val="DEEBF7"/>
              </a:buClr>
              <a:buSzPts val="1800"/>
              <a:buFont typeface="Inter"/>
              <a:buNone/>
            </a:pPr>
            <a:r>
              <a:rPr b="0" i="0" lang="en-US" sz="2000" u="none" cap="none" strike="noStrike">
                <a:solidFill>
                  <a:srgbClr val="DEEBF7"/>
                </a:solidFill>
                <a:latin typeface="Inter"/>
                <a:ea typeface="Inter"/>
                <a:cs typeface="Inter"/>
                <a:sym typeface="Inter"/>
              </a:rPr>
              <a:t>S R Bopitiya </a:t>
            </a:r>
            <a:r>
              <a:rPr lang="en-US" sz="2000">
                <a:solidFill>
                  <a:srgbClr val="DEEBF7"/>
                </a:solidFill>
                <a:latin typeface="Inter"/>
                <a:ea typeface="Inter"/>
                <a:cs typeface="Inter"/>
                <a:sym typeface="Inter"/>
              </a:rPr>
              <a:t>- </a:t>
            </a:r>
            <a:r>
              <a:rPr b="0" i="0" lang="en-US" sz="2000" u="none" cap="none" strike="noStrike">
                <a:solidFill>
                  <a:srgbClr val="DEEBF7"/>
                </a:solidFill>
                <a:latin typeface="Inter"/>
                <a:ea typeface="Inter"/>
                <a:cs typeface="Inter"/>
                <a:sym typeface="Inter"/>
              </a:rPr>
              <a:t>24071158</a:t>
            </a:r>
            <a:endParaRPr sz="2000">
              <a:solidFill>
                <a:srgbClr val="DEEBF7"/>
              </a:solidFill>
              <a:latin typeface="Inter"/>
              <a:ea typeface="Inter"/>
              <a:cs typeface="Inter"/>
              <a:sym typeface="Inter"/>
            </a:endParaRPr>
          </a:p>
          <a:p>
            <a:pPr indent="0" lvl="0" marL="0" marR="0" rtl="0" algn="l">
              <a:spcBef>
                <a:spcPts val="0"/>
              </a:spcBef>
              <a:spcAft>
                <a:spcPts val="0"/>
              </a:spcAft>
              <a:buClr>
                <a:srgbClr val="DEEBF7"/>
              </a:buClr>
              <a:buSzPts val="1800"/>
              <a:buFont typeface="Inter"/>
              <a:buNone/>
            </a:pPr>
            <a:r>
              <a:rPr b="0" i="0" lang="en-US" sz="2000" u="none" cap="none" strike="noStrike">
                <a:solidFill>
                  <a:srgbClr val="DEEBF7"/>
                </a:solidFill>
                <a:latin typeface="Inter"/>
                <a:ea typeface="Inter"/>
                <a:cs typeface="Inter"/>
                <a:sym typeface="Inter"/>
              </a:rPr>
              <a:t>N S I Weerasinghe</a:t>
            </a:r>
            <a:r>
              <a:rPr lang="en-US" sz="2000">
                <a:solidFill>
                  <a:srgbClr val="DEEBF7"/>
                </a:solidFill>
                <a:latin typeface="Inter"/>
                <a:ea typeface="Inter"/>
                <a:cs typeface="Inter"/>
                <a:sym typeface="Inter"/>
              </a:rPr>
              <a:t> - </a:t>
            </a:r>
            <a:r>
              <a:rPr b="0" i="0" lang="en-US" sz="2000" u="none" cap="none" strike="noStrike">
                <a:solidFill>
                  <a:srgbClr val="DEEBF7"/>
                </a:solidFill>
                <a:latin typeface="Inter"/>
                <a:ea typeface="Inter"/>
                <a:cs typeface="Inter"/>
                <a:sym typeface="Inter"/>
              </a:rPr>
              <a:t>24105235</a:t>
            </a:r>
            <a:endParaRPr sz="2000">
              <a:solidFill>
                <a:srgbClr val="DEEBF7"/>
              </a:solidFill>
              <a:latin typeface="Inter"/>
              <a:ea typeface="Inter"/>
              <a:cs typeface="Inter"/>
              <a:sym typeface="Inter"/>
            </a:endParaRPr>
          </a:p>
          <a:p>
            <a:pPr indent="0" lvl="0" marL="0" marR="0" rtl="0" algn="l">
              <a:spcBef>
                <a:spcPts val="0"/>
              </a:spcBef>
              <a:spcAft>
                <a:spcPts val="0"/>
              </a:spcAft>
              <a:buClr>
                <a:srgbClr val="DEEBF7"/>
              </a:buClr>
              <a:buSzPts val="1800"/>
              <a:buFont typeface="Inter"/>
              <a:buNone/>
            </a:pPr>
            <a:r>
              <a:rPr b="0" i="0" lang="en-US" sz="2000" u="none" cap="none" strike="noStrike">
                <a:solidFill>
                  <a:srgbClr val="DEEBF7"/>
                </a:solidFill>
                <a:latin typeface="Inter"/>
                <a:ea typeface="Inter"/>
                <a:cs typeface="Inter"/>
                <a:sym typeface="Inter"/>
              </a:rPr>
              <a:t>T W L A Perera </a:t>
            </a:r>
            <a:r>
              <a:rPr lang="en-US" sz="2000">
                <a:solidFill>
                  <a:srgbClr val="DEEBF7"/>
                </a:solidFill>
                <a:latin typeface="Inter"/>
                <a:ea typeface="Inter"/>
                <a:cs typeface="Inter"/>
                <a:sym typeface="Inter"/>
              </a:rPr>
              <a:t>- </a:t>
            </a:r>
            <a:r>
              <a:rPr b="0" i="0" lang="en-US" sz="2000" u="none" cap="none" strike="noStrike">
                <a:solidFill>
                  <a:srgbClr val="DEEBF7"/>
                </a:solidFill>
                <a:latin typeface="Inter"/>
                <a:ea typeface="Inter"/>
                <a:cs typeface="Inter"/>
                <a:sym typeface="Inter"/>
              </a:rPr>
              <a:t>24101822</a:t>
            </a:r>
            <a:br>
              <a:rPr b="0" i="0" lang="en-US" sz="2000" u="none" cap="none" strike="noStrike">
                <a:solidFill>
                  <a:srgbClr val="DEEBF7"/>
                </a:solidFill>
                <a:latin typeface="Inter"/>
                <a:ea typeface="Inter"/>
                <a:cs typeface="Inter"/>
                <a:sym typeface="Inter"/>
              </a:rPr>
            </a:br>
            <a:br>
              <a:rPr b="0" i="0" lang="en-US" sz="2000" u="none" cap="none" strike="noStrike">
                <a:solidFill>
                  <a:srgbClr val="DEEBF7"/>
                </a:solidFill>
                <a:latin typeface="Inter"/>
                <a:ea typeface="Inter"/>
                <a:cs typeface="Inter"/>
                <a:sym typeface="Inter"/>
              </a:rPr>
            </a:br>
            <a:r>
              <a:rPr b="1" i="0" lang="en-US" sz="2000" u="none" cap="none" strike="noStrike">
                <a:solidFill>
                  <a:srgbClr val="DEEBF7"/>
                </a:solidFill>
                <a:latin typeface="Inter"/>
                <a:ea typeface="Inter"/>
                <a:cs typeface="Inter"/>
                <a:sym typeface="Inter"/>
              </a:rPr>
              <a:t>Supervised </a:t>
            </a:r>
            <a:r>
              <a:rPr b="1" lang="en-US" sz="2000">
                <a:solidFill>
                  <a:srgbClr val="DEEBF7"/>
                </a:solidFill>
                <a:latin typeface="Inter"/>
                <a:ea typeface="Inter"/>
                <a:cs typeface="Inter"/>
                <a:sym typeface="Inter"/>
              </a:rPr>
              <a:t>By: </a:t>
            </a:r>
            <a:r>
              <a:rPr lang="en-US" sz="2000">
                <a:solidFill>
                  <a:srgbClr val="DEEBF7"/>
                </a:solidFill>
                <a:latin typeface="Inter"/>
                <a:ea typeface="Inter"/>
                <a:cs typeface="Inter"/>
                <a:sym typeface="Inter"/>
              </a:rPr>
              <a:t>Dr. Umanga Pilapitya</a:t>
            </a:r>
            <a:endParaRPr b="0" i="0" sz="2000" u="none" cap="none" strike="noStrike">
              <a:solidFill>
                <a:schemeClr val="dk1"/>
              </a:solidFill>
              <a:latin typeface="Calibri"/>
              <a:ea typeface="Calibri"/>
              <a:cs typeface="Calibri"/>
              <a:sym typeface="Calibri"/>
            </a:endParaRPr>
          </a:p>
        </p:txBody>
      </p:sp>
      <p:pic>
        <p:nvPicPr>
          <p:cNvPr id="21" name="Google Shape;21;p3"/>
          <p:cNvPicPr preferRelativeResize="0"/>
          <p:nvPr/>
        </p:nvPicPr>
        <p:blipFill>
          <a:blip r:embed="rId6">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1143000" y="2822909"/>
            <a:ext cx="9552900" cy="4770300"/>
          </a:xfrm>
          <a:prstGeom prst="roundRect">
            <a:avLst>
              <a:gd fmla="val 4342" name="adj"/>
            </a:avLst>
          </a:prstGeom>
          <a:solidFill>
            <a:srgbClr val="DEEBF7"/>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 name="Google Shape;28;p4"/>
          <p:cNvPicPr preferRelativeResize="0"/>
          <p:nvPr/>
        </p:nvPicPr>
        <p:blipFill rotWithShape="1">
          <a:blip r:embed="rId3">
            <a:alphaModFix amt="50000"/>
          </a:blip>
          <a:srcRect b="0" l="0" r="0" t="0"/>
          <a:stretch/>
        </p:blipFill>
        <p:spPr>
          <a:xfrm>
            <a:off x="15240000" y="-1143000"/>
            <a:ext cx="4572000" cy="4572000"/>
          </a:xfrm>
          <a:prstGeom prst="rect">
            <a:avLst/>
          </a:prstGeom>
          <a:noFill/>
          <a:ln>
            <a:noFill/>
          </a:ln>
        </p:spPr>
      </p:pic>
      <p:sp>
        <p:nvSpPr>
          <p:cNvPr id="29" name="Google Shape;29;p4"/>
          <p:cNvSpPr/>
          <p:nvPr/>
        </p:nvSpPr>
        <p:spPr>
          <a:xfrm>
            <a:off x="1143000" y="1301750"/>
            <a:ext cx="11171700" cy="651600"/>
          </a:xfrm>
          <a:prstGeom prst="rect">
            <a:avLst/>
          </a:prstGeom>
          <a:noFill/>
          <a:ln>
            <a:noFill/>
          </a:ln>
        </p:spPr>
        <p:txBody>
          <a:bodyPr anchorCtr="0" anchor="t" bIns="25400" lIns="25400" spcFirstLastPara="1" rIns="25400" wrap="square" tIns="25400">
            <a:noAutofit/>
          </a:bodyPr>
          <a:lstStyle/>
          <a:p>
            <a:pPr indent="0" lvl="0" marL="0" marR="0" rtl="0" algn="l">
              <a:lnSpc>
                <a:spcPct val="77280"/>
              </a:lnSpc>
              <a:spcBef>
                <a:spcPts val="0"/>
              </a:spcBef>
              <a:spcAft>
                <a:spcPts val="0"/>
              </a:spcAft>
              <a:buClr>
                <a:srgbClr val="084594"/>
              </a:buClr>
              <a:buSzPts val="4200"/>
              <a:buFont typeface="Poppins"/>
              <a:buNone/>
            </a:pPr>
            <a:r>
              <a:rPr b="1" i="0" lang="en-US" sz="4200" u="none" cap="none" strike="noStrike">
                <a:solidFill>
                  <a:srgbClr val="084594"/>
                </a:solidFill>
                <a:latin typeface="Poppins"/>
                <a:ea typeface="Poppins"/>
                <a:cs typeface="Poppins"/>
                <a:sym typeface="Poppins"/>
              </a:rPr>
              <a:t>Why Post-Generation Routing Matters</a:t>
            </a:r>
            <a:endParaRPr b="0" i="0" sz="4200" u="none" cap="none" strike="noStrike">
              <a:solidFill>
                <a:schemeClr val="dk1"/>
              </a:solidFill>
              <a:latin typeface="Calibri"/>
              <a:ea typeface="Calibri"/>
              <a:cs typeface="Calibri"/>
              <a:sym typeface="Calibri"/>
            </a:endParaRPr>
          </a:p>
        </p:txBody>
      </p:sp>
      <p:sp>
        <p:nvSpPr>
          <p:cNvPr id="30" name="Google Shape;30;p4"/>
          <p:cNvSpPr/>
          <p:nvPr/>
        </p:nvSpPr>
        <p:spPr>
          <a:xfrm>
            <a:off x="1440650" y="3107859"/>
            <a:ext cx="8327700" cy="723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Small language models are practical locally, but reliability varies by task and failure type.</a:t>
            </a:r>
            <a:endParaRPr b="0" i="0" sz="2400" u="none" cap="none" strike="noStrike">
              <a:solidFill>
                <a:schemeClr val="dk1"/>
              </a:solidFill>
              <a:latin typeface="Calibri"/>
              <a:ea typeface="Calibri"/>
              <a:cs typeface="Calibri"/>
              <a:sym typeface="Calibri"/>
            </a:endParaRPr>
          </a:p>
        </p:txBody>
      </p:sp>
      <p:sp>
        <p:nvSpPr>
          <p:cNvPr id="31" name="Google Shape;31;p4"/>
          <p:cNvSpPr/>
          <p:nvPr/>
        </p:nvSpPr>
        <p:spPr>
          <a:xfrm>
            <a:off x="1440650" y="4239043"/>
            <a:ext cx="8917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Raw confidence can be high even when the response is wrong.</a:t>
            </a:r>
            <a:endParaRPr b="0" i="0" sz="2400" u="none" cap="none" strike="noStrike">
              <a:solidFill>
                <a:schemeClr val="dk1"/>
              </a:solidFill>
              <a:latin typeface="Calibri"/>
              <a:ea typeface="Calibri"/>
              <a:cs typeface="Calibri"/>
              <a:sym typeface="Calibri"/>
            </a:endParaRPr>
          </a:p>
        </p:txBody>
      </p:sp>
      <p:sp>
        <p:nvSpPr>
          <p:cNvPr id="32" name="Google Shape;32;p4"/>
          <p:cNvSpPr/>
          <p:nvPr/>
        </p:nvSpPr>
        <p:spPr>
          <a:xfrm>
            <a:off x="1440650" y="5352054"/>
            <a:ext cx="8917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Some drafts are locally repairable; others need a fresh solution.</a:t>
            </a:r>
            <a:endParaRPr b="0" i="0" sz="2400" u="none" cap="none" strike="noStrike">
              <a:solidFill>
                <a:schemeClr val="dk1"/>
              </a:solidFill>
              <a:latin typeface="Calibri"/>
              <a:ea typeface="Calibri"/>
              <a:cs typeface="Calibri"/>
              <a:sym typeface="Calibri"/>
            </a:endParaRPr>
          </a:p>
        </p:txBody>
      </p:sp>
      <p:sp>
        <p:nvSpPr>
          <p:cNvPr id="33" name="Google Shape;33;p4"/>
          <p:cNvSpPr/>
          <p:nvPr/>
        </p:nvSpPr>
        <p:spPr>
          <a:xfrm>
            <a:off x="1440650" y="6348996"/>
            <a:ext cx="8327700" cy="723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Treating every failure identically can waste valid evidence or preserve flawed reasoning.</a:t>
            </a:r>
            <a:endParaRPr b="0" i="0" sz="2400" u="none" cap="none" strike="noStrike">
              <a:solidFill>
                <a:schemeClr val="dk1"/>
              </a:solidFill>
              <a:latin typeface="Calibri"/>
              <a:ea typeface="Calibri"/>
              <a:cs typeface="Calibri"/>
              <a:sym typeface="Calibri"/>
            </a:endParaRPr>
          </a:p>
        </p:txBody>
      </p:sp>
      <p:sp>
        <p:nvSpPr>
          <p:cNvPr id="34" name="Google Shape;34;p4"/>
          <p:cNvSpPr/>
          <p:nvPr/>
        </p:nvSpPr>
        <p:spPr>
          <a:xfrm>
            <a:off x="11247975" y="2841454"/>
            <a:ext cx="6465900" cy="3690300"/>
          </a:xfrm>
          <a:prstGeom prst="roundRect">
            <a:avLst>
              <a:gd fmla="val 4342" name="adj"/>
            </a:avLst>
          </a:prstGeom>
          <a:solidFill>
            <a:srgbClr val="DEEBF7"/>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1667075" y="3381577"/>
            <a:ext cx="609600" cy="6096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11628975" y="3381577"/>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650"/>
              <a:buFont typeface="Poppins"/>
              <a:buNone/>
            </a:pPr>
            <a:r>
              <a:rPr b="1" i="0" lang="en-US" sz="1650" u="none" cap="none" strike="noStrike">
                <a:solidFill>
                  <a:srgbClr val="FFFFFF"/>
                </a:solidFill>
                <a:latin typeface="Poppins"/>
                <a:ea typeface="Poppins"/>
                <a:cs typeface="Poppins"/>
                <a:sym typeface="Poppins"/>
              </a:rPr>
              <a:t>1</a:t>
            </a:r>
            <a:endParaRPr b="0" i="0" sz="1650" u="none" cap="none" strike="noStrike">
              <a:solidFill>
                <a:schemeClr val="dk1"/>
              </a:solidFill>
              <a:latin typeface="Calibri"/>
              <a:ea typeface="Calibri"/>
              <a:cs typeface="Calibri"/>
              <a:sym typeface="Calibri"/>
            </a:endParaRPr>
          </a:p>
        </p:txBody>
      </p:sp>
      <p:sp>
        <p:nvSpPr>
          <p:cNvPr id="37" name="Google Shape;37;p4"/>
          <p:cNvSpPr/>
          <p:nvPr/>
        </p:nvSpPr>
        <p:spPr>
          <a:xfrm>
            <a:off x="12448125" y="3477484"/>
            <a:ext cx="3944700" cy="317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SLM produces a response</a:t>
            </a:r>
            <a:endParaRPr b="0" i="0" sz="2400" u="none" cap="none" strike="noStrike">
              <a:solidFill>
                <a:schemeClr val="dk1"/>
              </a:solidFill>
              <a:latin typeface="Calibri"/>
              <a:ea typeface="Calibri"/>
              <a:cs typeface="Calibri"/>
              <a:sym typeface="Calibri"/>
            </a:endParaRPr>
          </a:p>
        </p:txBody>
      </p:sp>
      <p:sp>
        <p:nvSpPr>
          <p:cNvPr id="38" name="Google Shape;38;p4"/>
          <p:cNvSpPr/>
          <p:nvPr/>
        </p:nvSpPr>
        <p:spPr>
          <a:xfrm>
            <a:off x="11667075" y="4334077"/>
            <a:ext cx="609600" cy="609600"/>
          </a:xfrm>
          <a:prstGeom prst="ellipse">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11628975" y="4334077"/>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650"/>
              <a:buFont typeface="Poppins"/>
              <a:buNone/>
            </a:pPr>
            <a:r>
              <a:rPr b="1" i="0" lang="en-US" sz="1650" u="none" cap="none" strike="noStrike">
                <a:solidFill>
                  <a:srgbClr val="FFFFFF"/>
                </a:solidFill>
                <a:latin typeface="Poppins"/>
                <a:ea typeface="Poppins"/>
                <a:cs typeface="Poppins"/>
                <a:sym typeface="Poppins"/>
              </a:rPr>
              <a:t>2</a:t>
            </a:r>
            <a:endParaRPr b="0" i="0" sz="1650" u="none" cap="none" strike="noStrike">
              <a:solidFill>
                <a:schemeClr val="dk1"/>
              </a:solidFill>
              <a:latin typeface="Calibri"/>
              <a:ea typeface="Calibri"/>
              <a:cs typeface="Calibri"/>
              <a:sym typeface="Calibri"/>
            </a:endParaRPr>
          </a:p>
        </p:txBody>
      </p:sp>
      <p:sp>
        <p:nvSpPr>
          <p:cNvPr id="40" name="Google Shape;40;p4"/>
          <p:cNvSpPr/>
          <p:nvPr/>
        </p:nvSpPr>
        <p:spPr>
          <a:xfrm>
            <a:off x="12448125" y="4429984"/>
            <a:ext cx="3974400" cy="317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Estimate three action risks</a:t>
            </a:r>
            <a:endParaRPr b="0" i="0" sz="2400" u="none" cap="none" strike="noStrike">
              <a:solidFill>
                <a:schemeClr val="dk1"/>
              </a:solidFill>
              <a:latin typeface="Calibri"/>
              <a:ea typeface="Calibri"/>
              <a:cs typeface="Calibri"/>
              <a:sym typeface="Calibri"/>
            </a:endParaRPr>
          </a:p>
        </p:txBody>
      </p:sp>
      <p:sp>
        <p:nvSpPr>
          <p:cNvPr id="41" name="Google Shape;41;p4"/>
          <p:cNvSpPr/>
          <p:nvPr/>
        </p:nvSpPr>
        <p:spPr>
          <a:xfrm>
            <a:off x="11667075" y="5286577"/>
            <a:ext cx="609600" cy="609600"/>
          </a:xfrm>
          <a:prstGeom prst="ellipse">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11628975" y="5286577"/>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350"/>
              <a:buFont typeface="Poppins"/>
              <a:buNone/>
            </a:pPr>
            <a:r>
              <a:rPr b="1" i="0" lang="en-US" sz="1350" u="none" cap="none" strike="noStrike">
                <a:solidFill>
                  <a:srgbClr val="FFFFFF"/>
                </a:solidFill>
                <a:latin typeface="Poppins"/>
                <a:ea typeface="Poppins"/>
                <a:cs typeface="Poppins"/>
                <a:sym typeface="Poppins"/>
              </a:rPr>
              <a:t>3</a:t>
            </a:r>
            <a:endParaRPr b="0" i="0" sz="1350" u="none" cap="none" strike="noStrike">
              <a:solidFill>
                <a:schemeClr val="dk1"/>
              </a:solidFill>
              <a:latin typeface="Calibri"/>
              <a:ea typeface="Calibri"/>
              <a:cs typeface="Calibri"/>
              <a:sym typeface="Calibri"/>
            </a:endParaRPr>
          </a:p>
        </p:txBody>
      </p:sp>
      <p:sp>
        <p:nvSpPr>
          <p:cNvPr id="43" name="Google Shape;43;p4"/>
          <p:cNvSpPr/>
          <p:nvPr/>
        </p:nvSpPr>
        <p:spPr>
          <a:xfrm>
            <a:off x="12448125" y="5382484"/>
            <a:ext cx="5012100" cy="317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800"/>
              <a:buFont typeface="Inter"/>
              <a:buNone/>
            </a:pPr>
            <a:r>
              <a:rPr b="0" i="0" lang="en-US" sz="2400" u="none" cap="none" strike="noStrike">
                <a:solidFill>
                  <a:srgbClr val="16324A"/>
                </a:solidFill>
                <a:latin typeface="Inter"/>
                <a:ea typeface="Inter"/>
                <a:cs typeface="Inter"/>
                <a:sym typeface="Inter"/>
              </a:rPr>
              <a:t>ACCEPT / REPAIR / REGENERATE</a:t>
            </a:r>
            <a:endParaRPr b="0" i="0" sz="2400" u="none" cap="none" strike="noStrike">
              <a:solidFill>
                <a:schemeClr val="dk1"/>
              </a:solidFill>
              <a:latin typeface="Calibri"/>
              <a:ea typeface="Calibri"/>
              <a:cs typeface="Calibri"/>
              <a:sym typeface="Calibri"/>
            </a:endParaRPr>
          </a:p>
        </p:txBody>
      </p:sp>
      <p:sp>
        <p:nvSpPr>
          <p:cNvPr id="44" name="Google Shape;44;p4"/>
          <p:cNvSpPr/>
          <p:nvPr/>
        </p:nvSpPr>
        <p:spPr>
          <a:xfrm>
            <a:off x="1143000" y="9486900"/>
            <a:ext cx="17602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500"/>
              <a:buFont typeface="Inter"/>
              <a:buNone/>
            </a:pPr>
            <a:r>
              <a:rPr b="0" i="0" lang="en-US" sz="1500" u="none" cap="none" strike="noStrike">
                <a:solidFill>
                  <a:srgbClr val="4A6785"/>
                </a:solidFill>
                <a:latin typeface="Inter"/>
                <a:ea typeface="Inter"/>
                <a:cs typeface="Inter"/>
                <a:sym typeface="Inter"/>
              </a:rPr>
              <a:t>Sources: Mahaut et al. (ACL 2024) • Chuang et al. (ICML 2025)</a:t>
            </a:r>
            <a:endParaRPr b="0" i="0" sz="1500" u="none" cap="none" strike="noStrike">
              <a:solidFill>
                <a:schemeClr val="dk1"/>
              </a:solidFill>
              <a:latin typeface="Calibri"/>
              <a:ea typeface="Calibri"/>
              <a:cs typeface="Calibri"/>
              <a:sym typeface="Calibri"/>
            </a:endParaRPr>
          </a:p>
        </p:txBody>
      </p:sp>
      <p:pic>
        <p:nvPicPr>
          <p:cNvPr id="45" name="Google Shape;45;p4"/>
          <p:cNvPicPr preferRelativeResize="0"/>
          <p:nvPr/>
        </p:nvPicPr>
        <p:blipFill>
          <a:blip r:embed="rId4">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50" name="Shape 50"/>
        <p:cNvGrpSpPr/>
        <p:nvPr/>
      </p:nvGrpSpPr>
      <p:grpSpPr>
        <a:xfrm>
          <a:off x="0" y="0"/>
          <a:ext cx="0" cy="0"/>
          <a:chOff x="0" y="0"/>
          <a:chExt cx="0" cy="0"/>
        </a:xfrm>
      </p:grpSpPr>
      <p:sp>
        <p:nvSpPr>
          <p:cNvPr id="51" name="Google Shape;51;p5"/>
          <p:cNvSpPr/>
          <p:nvPr/>
        </p:nvSpPr>
        <p:spPr>
          <a:xfrm>
            <a:off x="1143000" y="1301750"/>
            <a:ext cx="13788000" cy="609600"/>
          </a:xfrm>
          <a:prstGeom prst="rect">
            <a:avLst/>
          </a:prstGeom>
          <a:noFill/>
          <a:ln>
            <a:noFill/>
          </a:ln>
        </p:spPr>
        <p:txBody>
          <a:bodyPr anchorCtr="0" anchor="t" bIns="25400" lIns="25400" spcFirstLastPara="1" rIns="25400" wrap="square" tIns="25400">
            <a:noAutofit/>
          </a:bodyPr>
          <a:lstStyle/>
          <a:p>
            <a:pPr indent="0" lvl="0" marL="0" marR="0" rtl="0" algn="l">
              <a:lnSpc>
                <a:spcPct val="79646"/>
              </a:lnSpc>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The Missing Capability Is Calibrated Three-Action Risk</a:t>
            </a:r>
            <a:endParaRPr b="0" i="0" sz="3750" u="none" cap="none" strike="noStrike">
              <a:solidFill>
                <a:schemeClr val="dk1"/>
              </a:solidFill>
              <a:latin typeface="Calibri"/>
              <a:ea typeface="Calibri"/>
              <a:cs typeface="Calibri"/>
              <a:sym typeface="Calibri"/>
            </a:endParaRPr>
          </a:p>
        </p:txBody>
      </p:sp>
      <p:sp>
        <p:nvSpPr>
          <p:cNvPr id="52" name="Google Shape;52;p5"/>
          <p:cNvSpPr/>
          <p:nvPr/>
        </p:nvSpPr>
        <p:spPr>
          <a:xfrm>
            <a:off x="1143000" y="2292350"/>
            <a:ext cx="8507700" cy="2452200"/>
          </a:xfrm>
          <a:prstGeom prst="roundRect">
            <a:avLst>
              <a:gd fmla="val 9322" name="adj"/>
            </a:avLst>
          </a:prstGeom>
          <a:solidFill>
            <a:srgbClr val="FFFFFF"/>
          </a:solidFill>
          <a:ln>
            <a:noFill/>
          </a:ln>
          <a:effectLst>
            <a:outerShdw blurRad="171450" rotWithShape="0" algn="bl" dir="5400000" dist="19050">
              <a:srgbClr val="084594">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1504950" y="2474338"/>
            <a:ext cx="35211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292C6"/>
              </a:buClr>
              <a:buSzPts val="1500"/>
              <a:buFont typeface="Poppins"/>
              <a:buNone/>
            </a:pPr>
            <a:r>
              <a:rPr b="1" i="0" lang="en-US" sz="2000" u="none" cap="none" strike="noStrike">
                <a:solidFill>
                  <a:srgbClr val="4292C6"/>
                </a:solidFill>
                <a:latin typeface="Poppins"/>
                <a:ea typeface="Poppins"/>
                <a:cs typeface="Poppins"/>
                <a:sym typeface="Poppins"/>
              </a:rPr>
              <a:t>Problem statement</a:t>
            </a:r>
            <a:endParaRPr b="0" i="0" sz="2000" u="none" cap="none" strike="noStrike">
              <a:solidFill>
                <a:schemeClr val="dk1"/>
              </a:solidFill>
              <a:latin typeface="Calibri"/>
              <a:ea typeface="Calibri"/>
              <a:cs typeface="Calibri"/>
              <a:sym typeface="Calibri"/>
            </a:endParaRPr>
          </a:p>
        </p:txBody>
      </p:sp>
      <p:sp>
        <p:nvSpPr>
          <p:cNvPr id="54" name="Google Shape;54;p5"/>
          <p:cNvSpPr/>
          <p:nvPr/>
        </p:nvSpPr>
        <p:spPr>
          <a:xfrm>
            <a:off x="1504950" y="3003550"/>
            <a:ext cx="8017200" cy="1455300"/>
          </a:xfrm>
          <a:prstGeom prst="rect">
            <a:avLst/>
          </a:prstGeom>
          <a:noFill/>
          <a:ln>
            <a:noFill/>
          </a:ln>
        </p:spPr>
        <p:txBody>
          <a:bodyPr anchorCtr="0" anchor="t" bIns="25400" lIns="25400" spcFirstLastPara="1" rIns="25400" wrap="square" tIns="25400">
            <a:noAutofit/>
          </a:bodyPr>
          <a:lstStyle/>
          <a:p>
            <a:pPr indent="0" lvl="0" marL="0" marR="0" rtl="0" algn="l">
              <a:lnSpc>
                <a:spcPct val="126818"/>
              </a:lnSpc>
              <a:spcBef>
                <a:spcPts val="0"/>
              </a:spcBef>
              <a:spcAft>
                <a:spcPts val="0"/>
              </a:spcAft>
              <a:buClr>
                <a:srgbClr val="16324A"/>
              </a:buClr>
              <a:buSzPts val="1800"/>
              <a:buFont typeface="Inter"/>
              <a:buNone/>
            </a:pPr>
            <a:r>
              <a:rPr b="0" i="0" lang="en-US" sz="1800" u="none" cap="none" strike="noStrike">
                <a:solidFill>
                  <a:srgbClr val="16324A"/>
                </a:solidFill>
                <a:latin typeface="Inter"/>
                <a:ea typeface="Inter"/>
                <a:cs typeface="Inter"/>
                <a:sym typeface="Inter"/>
              </a:rPr>
              <a:t>Existing cascades can accept or escalate an output, but they do not reliably estimate the residual failure risk after multiple post-generation interventions. A nearly correct draft may be safest to repair; a fundamentally wrong response may require independent regeneration.</a:t>
            </a:r>
            <a:endParaRPr b="0" i="0" sz="1800" u="none" cap="none" strike="noStrike">
              <a:solidFill>
                <a:schemeClr val="dk1"/>
              </a:solidFill>
              <a:latin typeface="Calibri"/>
              <a:ea typeface="Calibri"/>
              <a:cs typeface="Calibri"/>
              <a:sym typeface="Calibri"/>
            </a:endParaRPr>
          </a:p>
        </p:txBody>
      </p:sp>
      <p:sp>
        <p:nvSpPr>
          <p:cNvPr id="55" name="Google Shape;55;p5"/>
          <p:cNvSpPr/>
          <p:nvPr/>
        </p:nvSpPr>
        <p:spPr>
          <a:xfrm>
            <a:off x="9918150" y="2293900"/>
            <a:ext cx="8017200" cy="2452200"/>
          </a:xfrm>
          <a:prstGeom prst="roundRect">
            <a:avLst>
              <a:gd fmla="val 10671" name="adj"/>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10259232" y="2502225"/>
            <a:ext cx="3318000" cy="37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500"/>
              <a:buFont typeface="Poppins"/>
              <a:buNone/>
            </a:pPr>
            <a:r>
              <a:rPr b="1" i="0" lang="en-US" sz="2000" u="none" cap="none" strike="noStrike">
                <a:solidFill>
                  <a:srgbClr val="9ECAE1"/>
                </a:solidFill>
                <a:latin typeface="Poppins"/>
                <a:ea typeface="Poppins"/>
                <a:cs typeface="Poppins"/>
                <a:sym typeface="Poppins"/>
              </a:rPr>
              <a:t>Main research question</a:t>
            </a:r>
            <a:endParaRPr b="0" i="0" sz="2000" u="none" cap="none" strike="noStrike">
              <a:solidFill>
                <a:schemeClr val="dk1"/>
              </a:solidFill>
              <a:latin typeface="Calibri"/>
              <a:ea typeface="Calibri"/>
              <a:cs typeface="Calibri"/>
              <a:sym typeface="Calibri"/>
            </a:endParaRPr>
          </a:p>
        </p:txBody>
      </p:sp>
      <p:sp>
        <p:nvSpPr>
          <p:cNvPr id="57" name="Google Shape;57;p5"/>
          <p:cNvSpPr/>
          <p:nvPr/>
        </p:nvSpPr>
        <p:spPr>
          <a:xfrm>
            <a:off x="10259232" y="3107980"/>
            <a:ext cx="7554900" cy="1311000"/>
          </a:xfrm>
          <a:prstGeom prst="rect">
            <a:avLst/>
          </a:prstGeom>
          <a:noFill/>
          <a:ln>
            <a:noFill/>
          </a:ln>
        </p:spPr>
        <p:txBody>
          <a:bodyPr anchorCtr="0" anchor="t" bIns="25400" lIns="25400" spcFirstLastPara="1" rIns="25400" wrap="square" tIns="25400">
            <a:noAutofit/>
          </a:bodyPr>
          <a:lstStyle/>
          <a:p>
            <a:pPr indent="0" lvl="0" marL="0" marR="0" rtl="0" algn="l">
              <a:lnSpc>
                <a:spcPct val="129167"/>
              </a:lnSpc>
              <a:spcBef>
                <a:spcPts val="0"/>
              </a:spcBef>
              <a:spcAft>
                <a:spcPts val="0"/>
              </a:spcAft>
              <a:buClr>
                <a:srgbClr val="FFFFFF"/>
              </a:buClr>
              <a:buSzPts val="1875"/>
              <a:buFont typeface="Inter"/>
              <a:buNone/>
            </a:pPr>
            <a:r>
              <a:rPr b="0" i="0" lang="en-US" sz="1875" u="none" cap="none" strike="noStrike">
                <a:solidFill>
                  <a:srgbClr val="FFFFFF"/>
                </a:solidFill>
                <a:latin typeface="Inter"/>
                <a:ea typeface="Inter"/>
                <a:cs typeface="Inter"/>
                <a:sym typeface="Inter"/>
              </a:rPr>
              <a:t>Can a calibrated, failure-aware ML routing policy reduce incorrect final responses by selecting among ACCEPT, REPAIR, and REGENERATE compared with binary and fixed-action baselines?</a:t>
            </a:r>
            <a:endParaRPr b="0" i="0" sz="1875" u="none" cap="none" strike="noStrike">
              <a:solidFill>
                <a:schemeClr val="dk1"/>
              </a:solidFill>
              <a:latin typeface="Calibri"/>
              <a:ea typeface="Calibri"/>
              <a:cs typeface="Calibri"/>
              <a:sym typeface="Calibri"/>
            </a:endParaRPr>
          </a:p>
        </p:txBody>
      </p:sp>
      <p:sp>
        <p:nvSpPr>
          <p:cNvPr id="58" name="Google Shape;58;p5"/>
          <p:cNvSpPr/>
          <p:nvPr/>
        </p:nvSpPr>
        <p:spPr>
          <a:xfrm>
            <a:off x="1143000" y="5459824"/>
            <a:ext cx="7596000" cy="1371900"/>
          </a:xfrm>
          <a:prstGeom prst="roundRect">
            <a:avLst>
              <a:gd fmla="val 25714" name="adj"/>
            </a:avLst>
          </a:prstGeom>
          <a:solidFill>
            <a:srgbClr val="DEEBF7"/>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59" name="Google Shape;59;p5"/>
          <p:cNvSpPr/>
          <p:nvPr/>
        </p:nvSpPr>
        <p:spPr>
          <a:xfrm>
            <a:off x="1375610" y="5615144"/>
            <a:ext cx="8871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Poppins"/>
              <a:buNone/>
            </a:pPr>
            <a:r>
              <a:rPr b="1" i="0" lang="en-US" sz="2400" u="none" cap="none" strike="noStrike">
                <a:solidFill>
                  <a:schemeClr val="dk1"/>
                </a:solidFill>
                <a:latin typeface="Poppins"/>
                <a:ea typeface="Poppins"/>
                <a:cs typeface="Poppins"/>
                <a:sym typeface="Poppins"/>
              </a:rPr>
              <a:t>RISK</a:t>
            </a:r>
            <a:endParaRPr b="0" i="0" sz="2400" u="none" cap="none" strike="noStrike">
              <a:solidFill>
                <a:schemeClr val="dk1"/>
              </a:solidFill>
              <a:latin typeface="Calibri"/>
              <a:ea typeface="Calibri"/>
              <a:cs typeface="Calibri"/>
              <a:sym typeface="Calibri"/>
            </a:endParaRPr>
          </a:p>
        </p:txBody>
      </p:sp>
      <p:sp>
        <p:nvSpPr>
          <p:cNvPr id="60" name="Google Shape;60;p5"/>
          <p:cNvSpPr/>
          <p:nvPr/>
        </p:nvSpPr>
        <p:spPr>
          <a:xfrm>
            <a:off x="3028700" y="5611874"/>
            <a:ext cx="5200800" cy="666900"/>
          </a:xfrm>
          <a:prstGeom prst="rect">
            <a:avLst/>
          </a:prstGeom>
          <a:noFill/>
          <a:ln>
            <a:noFill/>
          </a:ln>
        </p:spPr>
        <p:txBody>
          <a:bodyPr anchorCtr="0" anchor="t" bIns="25400" lIns="25400" spcFirstLastPara="1" rIns="25400" wrap="square" tIns="25400">
            <a:noAutofit/>
          </a:bodyPr>
          <a:lstStyle/>
          <a:p>
            <a:pPr indent="0" lvl="0" marL="0" marR="0" rtl="0" algn="l">
              <a:lnSpc>
                <a:spcPct val="123750"/>
              </a:lnSpc>
              <a:spcBef>
                <a:spcPts val="0"/>
              </a:spcBef>
              <a:spcAft>
                <a:spcPts val="0"/>
              </a:spcAft>
              <a:buClr>
                <a:srgbClr val="16324A"/>
              </a:buClr>
              <a:buSzPts val="1650"/>
              <a:buFont typeface="Inter"/>
              <a:buNone/>
            </a:pPr>
            <a:r>
              <a:rPr b="0" i="0" lang="en-US" sz="1850" u="none" cap="none" strike="noStrike">
                <a:solidFill>
                  <a:srgbClr val="16324A"/>
                </a:solidFill>
                <a:latin typeface="Inter"/>
                <a:ea typeface="Inter"/>
                <a:cs typeface="Inter"/>
                <a:sym typeface="Inter"/>
              </a:rPr>
              <a:t>Probability that the final response after an action is incorrect or fails the objective validator.</a:t>
            </a:r>
            <a:endParaRPr b="0" i="0" sz="1850" u="none" cap="none" strike="noStrike">
              <a:solidFill>
                <a:schemeClr val="dk1"/>
              </a:solidFill>
              <a:latin typeface="Calibri"/>
              <a:ea typeface="Calibri"/>
              <a:cs typeface="Calibri"/>
              <a:sym typeface="Calibri"/>
            </a:endParaRPr>
          </a:p>
        </p:txBody>
      </p:sp>
      <p:sp>
        <p:nvSpPr>
          <p:cNvPr id="61" name="Google Shape;61;p5"/>
          <p:cNvSpPr/>
          <p:nvPr/>
        </p:nvSpPr>
        <p:spPr>
          <a:xfrm>
            <a:off x="1143000" y="9486900"/>
            <a:ext cx="17602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500"/>
              <a:buFont typeface="Inter"/>
              <a:buNone/>
            </a:pPr>
            <a:r>
              <a:rPr b="0" i="0" lang="en-US" sz="1500" u="none" cap="none" strike="noStrike">
                <a:solidFill>
                  <a:srgbClr val="4A6785"/>
                </a:solidFill>
                <a:latin typeface="Inter"/>
                <a:ea typeface="Inter"/>
                <a:cs typeface="Inter"/>
                <a:sym typeface="Inter"/>
              </a:rPr>
              <a:t>Sources: Dou et al. (2026, preprint) • Olausson et al. (ICLR 2024)</a:t>
            </a:r>
            <a:endParaRPr b="0" i="0" sz="1500" u="none" cap="none" strike="noStrike">
              <a:solidFill>
                <a:schemeClr val="dk1"/>
              </a:solidFill>
              <a:latin typeface="Calibri"/>
              <a:ea typeface="Calibri"/>
              <a:cs typeface="Calibri"/>
              <a:sym typeface="Calibri"/>
            </a:endParaRPr>
          </a:p>
        </p:txBody>
      </p:sp>
      <p:sp>
        <p:nvSpPr>
          <p:cNvPr id="62" name="Google Shape;62;p5"/>
          <p:cNvSpPr/>
          <p:nvPr/>
        </p:nvSpPr>
        <p:spPr>
          <a:xfrm>
            <a:off x="9292400" y="5461298"/>
            <a:ext cx="7596000" cy="1371900"/>
          </a:xfrm>
          <a:prstGeom prst="roundRect">
            <a:avLst>
              <a:gd fmla="val 25714" name="adj"/>
            </a:avLst>
          </a:prstGeom>
          <a:solidFill>
            <a:srgbClr val="DEEBF7"/>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3" name="Google Shape;63;p5"/>
          <p:cNvSpPr/>
          <p:nvPr/>
        </p:nvSpPr>
        <p:spPr>
          <a:xfrm>
            <a:off x="9524995" y="5664416"/>
            <a:ext cx="1301100" cy="43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Poppins"/>
              <a:buNone/>
            </a:pPr>
            <a:r>
              <a:rPr b="1" lang="en-US" sz="2400">
                <a:solidFill>
                  <a:schemeClr val="dk1"/>
                </a:solidFill>
                <a:latin typeface="Poppins"/>
                <a:ea typeface="Poppins"/>
                <a:cs typeface="Poppins"/>
                <a:sym typeface="Poppins"/>
              </a:rPr>
              <a:t>REPAIR</a:t>
            </a:r>
            <a:endParaRPr b="0" i="0" sz="2400" u="none" cap="none" strike="noStrike">
              <a:solidFill>
                <a:schemeClr val="dk1"/>
              </a:solidFill>
              <a:latin typeface="Calibri"/>
              <a:ea typeface="Calibri"/>
              <a:cs typeface="Calibri"/>
              <a:sym typeface="Calibri"/>
            </a:endParaRPr>
          </a:p>
        </p:txBody>
      </p:sp>
      <p:sp>
        <p:nvSpPr>
          <p:cNvPr id="64" name="Google Shape;64;p5"/>
          <p:cNvSpPr/>
          <p:nvPr/>
        </p:nvSpPr>
        <p:spPr>
          <a:xfrm>
            <a:off x="11178100" y="5660132"/>
            <a:ext cx="5200800" cy="872100"/>
          </a:xfrm>
          <a:prstGeom prst="rect">
            <a:avLst/>
          </a:prstGeom>
          <a:noFill/>
          <a:ln>
            <a:noFill/>
          </a:ln>
        </p:spPr>
        <p:txBody>
          <a:bodyPr anchorCtr="0" anchor="t" bIns="25400" lIns="25400" spcFirstLastPara="1" rIns="25400" wrap="square" tIns="25400">
            <a:noAutofit/>
          </a:bodyPr>
          <a:lstStyle/>
          <a:p>
            <a:pPr indent="0" lvl="0" marL="0" rtl="0" algn="l">
              <a:lnSpc>
                <a:spcPct val="123750"/>
              </a:lnSpc>
              <a:spcBef>
                <a:spcPts val="0"/>
              </a:spcBef>
              <a:spcAft>
                <a:spcPts val="0"/>
              </a:spcAft>
              <a:buClr>
                <a:srgbClr val="16324A"/>
              </a:buClr>
              <a:buSzPts val="1650"/>
              <a:buFont typeface="Inter"/>
              <a:buNone/>
            </a:pPr>
            <a:r>
              <a:rPr lang="en-US" sz="1850">
                <a:solidFill>
                  <a:srgbClr val="16324A"/>
                </a:solidFill>
                <a:latin typeface="Inter"/>
                <a:ea typeface="Inter"/>
                <a:cs typeface="Inter"/>
                <a:sym typeface="Inter"/>
              </a:rPr>
              <a:t>One stronger-model correction using the task, SLM draft, and non-gold validator feedback.</a:t>
            </a:r>
            <a:endParaRPr sz="1850">
              <a:solidFill>
                <a:srgbClr val="16324A"/>
              </a:solidFill>
              <a:latin typeface="Inter"/>
              <a:ea typeface="Inter"/>
              <a:cs typeface="Inter"/>
              <a:sym typeface="Inter"/>
            </a:endParaRPr>
          </a:p>
        </p:txBody>
      </p:sp>
      <p:sp>
        <p:nvSpPr>
          <p:cNvPr id="65" name="Google Shape;65;p5"/>
          <p:cNvSpPr/>
          <p:nvPr/>
        </p:nvSpPr>
        <p:spPr>
          <a:xfrm>
            <a:off x="5346000" y="7267127"/>
            <a:ext cx="7596000" cy="1311000"/>
          </a:xfrm>
          <a:prstGeom prst="roundRect">
            <a:avLst>
              <a:gd fmla="val 25714" name="adj"/>
            </a:avLst>
          </a:prstGeom>
          <a:solidFill>
            <a:srgbClr val="DEEBF7"/>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6" name="Google Shape;66;p5"/>
          <p:cNvSpPr/>
          <p:nvPr/>
        </p:nvSpPr>
        <p:spPr>
          <a:xfrm>
            <a:off x="5578603" y="7422444"/>
            <a:ext cx="21471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Poppins"/>
              <a:buNone/>
            </a:pPr>
            <a:r>
              <a:rPr b="1" lang="en-US" sz="2400">
                <a:solidFill>
                  <a:schemeClr val="dk1"/>
                </a:solidFill>
                <a:latin typeface="Poppins"/>
                <a:ea typeface="Poppins"/>
                <a:cs typeface="Poppins"/>
                <a:sym typeface="Poppins"/>
              </a:rPr>
              <a:t>REGENERATE</a:t>
            </a:r>
            <a:endParaRPr b="0" i="0" sz="2400" u="none" cap="none" strike="noStrike">
              <a:solidFill>
                <a:schemeClr val="dk1"/>
              </a:solidFill>
              <a:latin typeface="Calibri"/>
              <a:ea typeface="Calibri"/>
              <a:cs typeface="Calibri"/>
              <a:sym typeface="Calibri"/>
            </a:endParaRPr>
          </a:p>
        </p:txBody>
      </p:sp>
      <p:sp>
        <p:nvSpPr>
          <p:cNvPr id="67" name="Google Shape;67;p5"/>
          <p:cNvSpPr/>
          <p:nvPr/>
        </p:nvSpPr>
        <p:spPr>
          <a:xfrm>
            <a:off x="7801425" y="7419169"/>
            <a:ext cx="4792800" cy="666900"/>
          </a:xfrm>
          <a:prstGeom prst="rect">
            <a:avLst/>
          </a:prstGeom>
          <a:noFill/>
          <a:ln>
            <a:noFill/>
          </a:ln>
        </p:spPr>
        <p:txBody>
          <a:bodyPr anchorCtr="0" anchor="t" bIns="25400" lIns="25400" spcFirstLastPara="1" rIns="25400" wrap="square" tIns="25400">
            <a:noAutofit/>
          </a:bodyPr>
          <a:lstStyle/>
          <a:p>
            <a:pPr indent="0" lvl="0" marL="0" rtl="0" algn="l">
              <a:lnSpc>
                <a:spcPct val="123750"/>
              </a:lnSpc>
              <a:spcBef>
                <a:spcPts val="0"/>
              </a:spcBef>
              <a:spcAft>
                <a:spcPts val="0"/>
              </a:spcAft>
              <a:buClr>
                <a:srgbClr val="16324A"/>
              </a:buClr>
              <a:buSzPts val="1650"/>
              <a:buFont typeface="Inter"/>
              <a:buNone/>
            </a:pPr>
            <a:r>
              <a:rPr lang="en-US" sz="1850">
                <a:solidFill>
                  <a:srgbClr val="16324A"/>
                </a:solidFill>
                <a:latin typeface="Inter"/>
                <a:ea typeface="Inter"/>
                <a:cs typeface="Inter"/>
                <a:sym typeface="Inter"/>
              </a:rPr>
              <a:t>A fresh stronger-model solution produced without the full SLM draft.</a:t>
            </a:r>
            <a:endParaRPr sz="1850">
              <a:solidFill>
                <a:srgbClr val="16324A"/>
              </a:solidFill>
              <a:latin typeface="Inter"/>
              <a:ea typeface="Inter"/>
              <a:cs typeface="Inter"/>
              <a:sym typeface="Inter"/>
            </a:endParaRPr>
          </a:p>
        </p:txBody>
      </p:sp>
      <p:pic>
        <p:nvPicPr>
          <p:cNvPr id="68" name="Google Shape;68;p5"/>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6"/>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Operational Definitions: Risk, Repair, and Regenerate</a:t>
            </a:r>
            <a:endParaRPr b="0" i="0" sz="3750" u="none" cap="none" strike="noStrike">
              <a:solidFill>
                <a:schemeClr val="dk1"/>
              </a:solidFill>
              <a:latin typeface="Calibri"/>
              <a:ea typeface="Calibri"/>
              <a:cs typeface="Calibri"/>
              <a:sym typeface="Calibri"/>
            </a:endParaRPr>
          </a:p>
        </p:txBody>
      </p:sp>
      <p:sp>
        <p:nvSpPr>
          <p:cNvPr id="75" name="Google Shape;75;p6"/>
          <p:cNvSpPr/>
          <p:nvPr/>
        </p:nvSpPr>
        <p:spPr>
          <a:xfrm>
            <a:off x="1142950" y="2557700"/>
            <a:ext cx="5054700" cy="6254700"/>
          </a:xfrm>
          <a:prstGeom prst="roundRect">
            <a:avLst>
              <a:gd fmla="val 5276"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 name="Google Shape;76;p6"/>
          <p:cNvSpPr/>
          <p:nvPr/>
        </p:nvSpPr>
        <p:spPr>
          <a:xfrm>
            <a:off x="3251150" y="2976800"/>
            <a:ext cx="838200" cy="838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 name="Google Shape;77;p6"/>
          <p:cNvSpPr/>
          <p:nvPr/>
        </p:nvSpPr>
        <p:spPr>
          <a:xfrm>
            <a:off x="3213050" y="2976800"/>
            <a:ext cx="914400" cy="8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84594"/>
              </a:buClr>
              <a:buSzPts val="2400"/>
              <a:buFont typeface="Poppins"/>
              <a:buNone/>
            </a:pPr>
            <a:r>
              <a:rPr b="1" i="0" lang="en-US" sz="2800" u="none" cap="none" strike="noStrike">
                <a:solidFill>
                  <a:srgbClr val="084594"/>
                </a:solidFill>
                <a:latin typeface="Poppins"/>
                <a:ea typeface="Poppins"/>
                <a:cs typeface="Poppins"/>
                <a:sym typeface="Poppins"/>
              </a:rPr>
              <a:t>01</a:t>
            </a:r>
            <a:endParaRPr b="0" i="0" sz="2800" u="none" cap="none" strike="noStrike">
              <a:solidFill>
                <a:schemeClr val="dk1"/>
              </a:solidFill>
              <a:latin typeface="Calibri"/>
              <a:ea typeface="Calibri"/>
              <a:cs typeface="Calibri"/>
              <a:sym typeface="Calibri"/>
            </a:endParaRPr>
          </a:p>
        </p:txBody>
      </p:sp>
      <p:sp>
        <p:nvSpPr>
          <p:cNvPr id="78" name="Google Shape;78;p6"/>
          <p:cNvSpPr/>
          <p:nvPr/>
        </p:nvSpPr>
        <p:spPr>
          <a:xfrm>
            <a:off x="3266435" y="4043600"/>
            <a:ext cx="778800" cy="469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2250"/>
              <a:buFont typeface="Poppins"/>
              <a:buNone/>
            </a:pPr>
            <a:r>
              <a:rPr b="1" i="0" lang="en-US" sz="2650" u="none" cap="none" strike="noStrike">
                <a:solidFill>
                  <a:srgbClr val="084594"/>
                </a:solidFill>
                <a:latin typeface="Poppins"/>
                <a:ea typeface="Poppins"/>
                <a:cs typeface="Poppins"/>
                <a:sym typeface="Poppins"/>
              </a:rPr>
              <a:t>Risk</a:t>
            </a:r>
            <a:endParaRPr b="0" i="0" sz="2650" u="none" cap="none" strike="noStrike">
              <a:solidFill>
                <a:schemeClr val="dk1"/>
              </a:solidFill>
              <a:latin typeface="Calibri"/>
              <a:ea typeface="Calibri"/>
              <a:cs typeface="Calibri"/>
              <a:sym typeface="Calibri"/>
            </a:endParaRPr>
          </a:p>
        </p:txBody>
      </p:sp>
      <p:sp>
        <p:nvSpPr>
          <p:cNvPr id="79" name="Google Shape;79;p6"/>
          <p:cNvSpPr/>
          <p:nvPr/>
        </p:nvSpPr>
        <p:spPr>
          <a:xfrm>
            <a:off x="1400696" y="4830460"/>
            <a:ext cx="4539000" cy="981000"/>
          </a:xfrm>
          <a:prstGeom prst="rect">
            <a:avLst/>
          </a:prstGeom>
          <a:noFill/>
          <a:ln>
            <a:noFill/>
          </a:ln>
        </p:spPr>
        <p:txBody>
          <a:bodyPr anchorCtr="0" anchor="t" bIns="25400" lIns="25400" spcFirstLastPara="1" rIns="25400" wrap="square" tIns="25400">
            <a:noAutofit/>
          </a:bodyPr>
          <a:lstStyle/>
          <a:p>
            <a:pPr indent="0" lvl="0" marL="0" marR="0" rtl="0" algn="ctr">
              <a:lnSpc>
                <a:spcPct val="123750"/>
              </a:lnSpc>
              <a:spcBef>
                <a:spcPts val="0"/>
              </a:spcBef>
              <a:spcAft>
                <a:spcPts val="0"/>
              </a:spcAft>
              <a:buClr>
                <a:srgbClr val="16324A"/>
              </a:buClr>
              <a:buSzPts val="1650"/>
              <a:buFont typeface="Inter"/>
              <a:buNone/>
            </a:pPr>
            <a:r>
              <a:rPr b="0" i="0" lang="en-US" sz="2050" u="none" cap="none" strike="noStrike">
                <a:solidFill>
                  <a:srgbClr val="16324A"/>
                </a:solidFill>
                <a:latin typeface="Inter"/>
                <a:ea typeface="Inter"/>
                <a:cs typeface="Inter"/>
                <a:sym typeface="Inter"/>
              </a:rPr>
              <a:t>Probability that the final output is incorrect or fails the task-specific validator after the selected action.</a:t>
            </a:r>
            <a:endParaRPr b="0" i="0" sz="2050" u="none" cap="none" strike="noStrike">
              <a:solidFill>
                <a:schemeClr val="dk1"/>
              </a:solidFill>
              <a:latin typeface="Calibri"/>
              <a:ea typeface="Calibri"/>
              <a:cs typeface="Calibri"/>
              <a:sym typeface="Calibri"/>
            </a:endParaRPr>
          </a:p>
        </p:txBody>
      </p:sp>
      <p:sp>
        <p:nvSpPr>
          <p:cNvPr id="80" name="Google Shape;80;p6"/>
          <p:cNvSpPr/>
          <p:nvPr/>
        </p:nvSpPr>
        <p:spPr>
          <a:xfrm>
            <a:off x="2526157" y="6839626"/>
            <a:ext cx="2259300" cy="285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171B5"/>
              </a:buClr>
              <a:buSzPts val="1275"/>
              <a:buFont typeface="Poppins"/>
              <a:buNone/>
            </a:pPr>
            <a:r>
              <a:rPr b="1" i="0" lang="en-US" sz="1675" u="none" cap="none" strike="noStrike">
                <a:solidFill>
                  <a:srgbClr val="2171B5"/>
                </a:solidFill>
                <a:latin typeface="Poppins"/>
                <a:ea typeface="Poppins"/>
                <a:cs typeface="Poppins"/>
                <a:sym typeface="Poppins"/>
              </a:rPr>
              <a:t>OBJECTIVE CRITERIA</a:t>
            </a:r>
            <a:endParaRPr b="0" i="0" sz="1675" u="none" cap="none" strike="noStrike">
              <a:solidFill>
                <a:schemeClr val="dk1"/>
              </a:solidFill>
              <a:latin typeface="Calibri"/>
              <a:ea typeface="Calibri"/>
              <a:cs typeface="Calibri"/>
              <a:sym typeface="Calibri"/>
            </a:endParaRPr>
          </a:p>
        </p:txBody>
      </p:sp>
      <p:sp>
        <p:nvSpPr>
          <p:cNvPr id="81" name="Google Shape;81;p6"/>
          <p:cNvSpPr/>
          <p:nvPr/>
        </p:nvSpPr>
        <p:spPr>
          <a:xfrm>
            <a:off x="1796125" y="7125376"/>
            <a:ext cx="3719400" cy="755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500"/>
              <a:buFont typeface="Inter"/>
              <a:buNone/>
            </a:pPr>
            <a:r>
              <a:rPr b="0" i="0" lang="en-US" sz="1900" u="none" cap="none" strike="noStrike">
                <a:solidFill>
                  <a:srgbClr val="4A6785"/>
                </a:solidFill>
                <a:latin typeface="Inter"/>
                <a:ea typeface="Inter"/>
                <a:cs typeface="Inter"/>
                <a:sym typeface="Inter"/>
              </a:rPr>
              <a:t>Code tests</a:t>
            </a:r>
            <a:endParaRPr sz="1900">
              <a:solidFill>
                <a:srgbClr val="4A6785"/>
              </a:solidFill>
              <a:latin typeface="Inter"/>
              <a:ea typeface="Inter"/>
              <a:cs typeface="Inter"/>
              <a:sym typeface="Inter"/>
            </a:endParaRPr>
          </a:p>
          <a:p>
            <a:pPr indent="0" lvl="0" marL="0" marR="0" rtl="0" algn="ctr">
              <a:spcBef>
                <a:spcPts val="0"/>
              </a:spcBef>
              <a:spcAft>
                <a:spcPts val="0"/>
              </a:spcAft>
              <a:buClr>
                <a:srgbClr val="4A6785"/>
              </a:buClr>
              <a:buSzPts val="1500"/>
              <a:buFont typeface="Inter"/>
              <a:buNone/>
            </a:pPr>
            <a:r>
              <a:rPr b="0" i="0" lang="en-US" sz="1900" u="none" cap="none" strike="noStrike">
                <a:solidFill>
                  <a:srgbClr val="4A6785"/>
                </a:solidFill>
                <a:latin typeface="Inter"/>
                <a:ea typeface="Inter"/>
                <a:cs typeface="Inter"/>
                <a:sym typeface="Inter"/>
              </a:rPr>
              <a:t>numerical tolerance</a:t>
            </a:r>
            <a:endParaRPr b="0" i="0" sz="1900" u="none" cap="none" strike="noStrike">
              <a:solidFill>
                <a:schemeClr val="dk1"/>
              </a:solidFill>
              <a:latin typeface="Calibri"/>
              <a:ea typeface="Calibri"/>
              <a:cs typeface="Calibri"/>
              <a:sym typeface="Calibri"/>
            </a:endParaRPr>
          </a:p>
        </p:txBody>
      </p:sp>
      <p:sp>
        <p:nvSpPr>
          <p:cNvPr id="82" name="Google Shape;82;p6"/>
          <p:cNvSpPr/>
          <p:nvPr/>
        </p:nvSpPr>
        <p:spPr>
          <a:xfrm>
            <a:off x="6616650" y="2557700"/>
            <a:ext cx="5054700" cy="6254700"/>
          </a:xfrm>
          <a:prstGeom prst="roundRect">
            <a:avLst>
              <a:gd fmla="val 5276"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3" name="Google Shape;83;p6"/>
          <p:cNvSpPr/>
          <p:nvPr/>
        </p:nvSpPr>
        <p:spPr>
          <a:xfrm>
            <a:off x="8724850" y="2976800"/>
            <a:ext cx="838200" cy="8382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4" name="Google Shape;84;p6"/>
          <p:cNvSpPr/>
          <p:nvPr/>
        </p:nvSpPr>
        <p:spPr>
          <a:xfrm>
            <a:off x="8686750" y="2976800"/>
            <a:ext cx="914400" cy="8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400"/>
              <a:buFont typeface="Poppins"/>
              <a:buNone/>
            </a:pPr>
            <a:r>
              <a:rPr b="1" i="0" lang="en-US" sz="2800" u="none" cap="none" strike="noStrike">
                <a:solidFill>
                  <a:srgbClr val="FFFFFF"/>
                </a:solidFill>
                <a:latin typeface="Poppins"/>
                <a:ea typeface="Poppins"/>
                <a:cs typeface="Poppins"/>
                <a:sym typeface="Poppins"/>
              </a:rPr>
              <a:t>02</a:t>
            </a:r>
            <a:endParaRPr b="0" i="0" sz="2800" u="none" cap="none" strike="noStrike">
              <a:solidFill>
                <a:schemeClr val="dk1"/>
              </a:solidFill>
              <a:latin typeface="Calibri"/>
              <a:ea typeface="Calibri"/>
              <a:cs typeface="Calibri"/>
              <a:sym typeface="Calibri"/>
            </a:endParaRPr>
          </a:p>
        </p:txBody>
      </p:sp>
      <p:sp>
        <p:nvSpPr>
          <p:cNvPr id="85" name="Google Shape;85;p6"/>
          <p:cNvSpPr/>
          <p:nvPr/>
        </p:nvSpPr>
        <p:spPr>
          <a:xfrm>
            <a:off x="8599015" y="4043600"/>
            <a:ext cx="1178400" cy="469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2250"/>
              <a:buFont typeface="Poppins"/>
              <a:buNone/>
            </a:pPr>
            <a:r>
              <a:rPr b="1" i="0" lang="en-US" sz="2650" u="none" cap="none" strike="noStrike">
                <a:solidFill>
                  <a:srgbClr val="084594"/>
                </a:solidFill>
                <a:latin typeface="Poppins"/>
                <a:ea typeface="Poppins"/>
                <a:cs typeface="Poppins"/>
                <a:sym typeface="Poppins"/>
              </a:rPr>
              <a:t>Repair</a:t>
            </a:r>
            <a:endParaRPr b="0" i="0" sz="2650" u="none" cap="none" strike="noStrike">
              <a:solidFill>
                <a:schemeClr val="dk1"/>
              </a:solidFill>
              <a:latin typeface="Calibri"/>
              <a:ea typeface="Calibri"/>
              <a:cs typeface="Calibri"/>
              <a:sym typeface="Calibri"/>
            </a:endParaRPr>
          </a:p>
        </p:txBody>
      </p:sp>
      <p:sp>
        <p:nvSpPr>
          <p:cNvPr id="86" name="Google Shape;86;p6"/>
          <p:cNvSpPr/>
          <p:nvPr/>
        </p:nvSpPr>
        <p:spPr>
          <a:xfrm>
            <a:off x="6874397" y="4830460"/>
            <a:ext cx="4539000" cy="981000"/>
          </a:xfrm>
          <a:prstGeom prst="rect">
            <a:avLst/>
          </a:prstGeom>
          <a:noFill/>
          <a:ln>
            <a:noFill/>
          </a:ln>
        </p:spPr>
        <p:txBody>
          <a:bodyPr anchorCtr="0" anchor="t" bIns="25400" lIns="25400" spcFirstLastPara="1" rIns="25400" wrap="square" tIns="25400">
            <a:noAutofit/>
          </a:bodyPr>
          <a:lstStyle/>
          <a:p>
            <a:pPr indent="0" lvl="0" marL="0" marR="0" rtl="0" algn="ctr">
              <a:lnSpc>
                <a:spcPct val="123750"/>
              </a:lnSpc>
              <a:spcBef>
                <a:spcPts val="0"/>
              </a:spcBef>
              <a:spcAft>
                <a:spcPts val="0"/>
              </a:spcAft>
              <a:buClr>
                <a:srgbClr val="16324A"/>
              </a:buClr>
              <a:buSzPts val="1650"/>
              <a:buFont typeface="Inter"/>
              <a:buNone/>
            </a:pPr>
            <a:r>
              <a:rPr b="0" i="0" lang="en-US" sz="2050" u="none" cap="none" strike="noStrike">
                <a:solidFill>
                  <a:srgbClr val="16324A"/>
                </a:solidFill>
                <a:latin typeface="Inter"/>
                <a:ea typeface="Inter"/>
                <a:cs typeface="Inter"/>
                <a:sym typeface="Inter"/>
              </a:rPr>
              <a:t>One stronger-model correction using task + SLM draft + non-gold validator feedback, while preserving valid content.</a:t>
            </a:r>
            <a:endParaRPr b="0" i="0" sz="2050" u="none" cap="none" strike="noStrike">
              <a:solidFill>
                <a:schemeClr val="dk1"/>
              </a:solidFill>
              <a:latin typeface="Calibri"/>
              <a:ea typeface="Calibri"/>
              <a:cs typeface="Calibri"/>
              <a:sym typeface="Calibri"/>
            </a:endParaRPr>
          </a:p>
        </p:txBody>
      </p:sp>
      <p:sp>
        <p:nvSpPr>
          <p:cNvPr id="87" name="Google Shape;87;p6"/>
          <p:cNvSpPr/>
          <p:nvPr/>
        </p:nvSpPr>
        <p:spPr>
          <a:xfrm>
            <a:off x="8457905" y="6820576"/>
            <a:ext cx="1461000" cy="285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171B5"/>
              </a:buClr>
              <a:buSzPts val="1275"/>
              <a:buFont typeface="Poppins"/>
              <a:buNone/>
            </a:pPr>
            <a:r>
              <a:rPr b="1" i="0" lang="en-US" sz="1675" u="none" cap="none" strike="noStrike">
                <a:solidFill>
                  <a:srgbClr val="2171B5"/>
                </a:solidFill>
                <a:latin typeface="Poppins"/>
                <a:ea typeface="Poppins"/>
                <a:cs typeface="Poppins"/>
                <a:sym typeface="Poppins"/>
              </a:rPr>
              <a:t>BOUNDARY</a:t>
            </a:r>
            <a:endParaRPr b="0" i="0" sz="1675" u="none" cap="none" strike="noStrike">
              <a:solidFill>
                <a:schemeClr val="dk1"/>
              </a:solidFill>
              <a:latin typeface="Calibri"/>
              <a:ea typeface="Calibri"/>
              <a:cs typeface="Calibri"/>
              <a:sym typeface="Calibri"/>
            </a:endParaRPr>
          </a:p>
        </p:txBody>
      </p:sp>
      <p:sp>
        <p:nvSpPr>
          <p:cNvPr id="88" name="Google Shape;88;p6"/>
          <p:cNvSpPr/>
          <p:nvPr/>
        </p:nvSpPr>
        <p:spPr>
          <a:xfrm>
            <a:off x="7903473" y="7106326"/>
            <a:ext cx="25695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500"/>
              <a:buFont typeface="Inter"/>
              <a:buNone/>
            </a:pPr>
            <a:r>
              <a:rPr b="0" i="0" lang="en-US" sz="1900" u="none" cap="none" strike="noStrike">
                <a:solidFill>
                  <a:srgbClr val="4A6785"/>
                </a:solidFill>
                <a:latin typeface="Inter"/>
                <a:ea typeface="Inter"/>
                <a:cs typeface="Inter"/>
                <a:sym typeface="Inter"/>
              </a:rPr>
              <a:t>One repair attempt</a:t>
            </a:r>
            <a:endParaRPr b="0" i="0" sz="1900" u="none" cap="none" strike="noStrike">
              <a:solidFill>
                <a:schemeClr val="dk1"/>
              </a:solidFill>
              <a:latin typeface="Calibri"/>
              <a:ea typeface="Calibri"/>
              <a:cs typeface="Calibri"/>
              <a:sym typeface="Calibri"/>
            </a:endParaRPr>
          </a:p>
        </p:txBody>
      </p:sp>
      <p:sp>
        <p:nvSpPr>
          <p:cNvPr id="89" name="Google Shape;89;p6"/>
          <p:cNvSpPr/>
          <p:nvPr/>
        </p:nvSpPr>
        <p:spPr>
          <a:xfrm>
            <a:off x="12090350" y="2557700"/>
            <a:ext cx="5054700" cy="6254700"/>
          </a:xfrm>
          <a:prstGeom prst="roundRect">
            <a:avLst>
              <a:gd fmla="val 5276"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0" name="Google Shape;90;p6"/>
          <p:cNvSpPr/>
          <p:nvPr/>
        </p:nvSpPr>
        <p:spPr>
          <a:xfrm>
            <a:off x="14198551" y="2976800"/>
            <a:ext cx="838200" cy="8382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1" name="Google Shape;91;p6"/>
          <p:cNvSpPr/>
          <p:nvPr/>
        </p:nvSpPr>
        <p:spPr>
          <a:xfrm>
            <a:off x="14160451" y="2976800"/>
            <a:ext cx="914400" cy="8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400"/>
              <a:buFont typeface="Poppins"/>
              <a:buNone/>
            </a:pPr>
            <a:r>
              <a:rPr b="1" i="0" lang="en-US" sz="2800" u="none" cap="none" strike="noStrike">
                <a:solidFill>
                  <a:srgbClr val="FFFFFF"/>
                </a:solidFill>
                <a:latin typeface="Poppins"/>
                <a:ea typeface="Poppins"/>
                <a:cs typeface="Poppins"/>
                <a:sym typeface="Poppins"/>
              </a:rPr>
              <a:t>03</a:t>
            </a:r>
            <a:endParaRPr b="0" i="0" sz="2800" u="none" cap="none" strike="noStrike">
              <a:solidFill>
                <a:schemeClr val="dk1"/>
              </a:solidFill>
              <a:latin typeface="Calibri"/>
              <a:ea typeface="Calibri"/>
              <a:cs typeface="Calibri"/>
              <a:sym typeface="Calibri"/>
            </a:endParaRPr>
          </a:p>
        </p:txBody>
      </p:sp>
      <p:sp>
        <p:nvSpPr>
          <p:cNvPr id="92" name="Google Shape;92;p6"/>
          <p:cNvSpPr/>
          <p:nvPr/>
        </p:nvSpPr>
        <p:spPr>
          <a:xfrm>
            <a:off x="13607716" y="4043600"/>
            <a:ext cx="2143800" cy="469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2250"/>
              <a:buFont typeface="Poppins"/>
              <a:buNone/>
            </a:pPr>
            <a:r>
              <a:rPr b="1" i="0" lang="en-US" sz="2650" u="none" cap="none" strike="noStrike">
                <a:solidFill>
                  <a:srgbClr val="084594"/>
                </a:solidFill>
                <a:latin typeface="Poppins"/>
                <a:ea typeface="Poppins"/>
                <a:cs typeface="Poppins"/>
                <a:sym typeface="Poppins"/>
              </a:rPr>
              <a:t>Regenerate</a:t>
            </a:r>
            <a:endParaRPr b="0" i="0" sz="2650" u="none" cap="none" strike="noStrike">
              <a:solidFill>
                <a:schemeClr val="dk1"/>
              </a:solidFill>
              <a:latin typeface="Calibri"/>
              <a:ea typeface="Calibri"/>
              <a:cs typeface="Calibri"/>
              <a:sym typeface="Calibri"/>
            </a:endParaRPr>
          </a:p>
        </p:txBody>
      </p:sp>
      <p:sp>
        <p:nvSpPr>
          <p:cNvPr id="93" name="Google Shape;93;p6"/>
          <p:cNvSpPr/>
          <p:nvPr/>
        </p:nvSpPr>
        <p:spPr>
          <a:xfrm>
            <a:off x="12348097" y="4830460"/>
            <a:ext cx="4539000" cy="981000"/>
          </a:xfrm>
          <a:prstGeom prst="rect">
            <a:avLst/>
          </a:prstGeom>
          <a:noFill/>
          <a:ln>
            <a:noFill/>
          </a:ln>
        </p:spPr>
        <p:txBody>
          <a:bodyPr anchorCtr="0" anchor="t" bIns="25400" lIns="25400" spcFirstLastPara="1" rIns="25400" wrap="square" tIns="25400">
            <a:noAutofit/>
          </a:bodyPr>
          <a:lstStyle/>
          <a:p>
            <a:pPr indent="0" lvl="0" marL="0" marR="0" rtl="0" algn="ctr">
              <a:lnSpc>
                <a:spcPct val="123750"/>
              </a:lnSpc>
              <a:spcBef>
                <a:spcPts val="0"/>
              </a:spcBef>
              <a:spcAft>
                <a:spcPts val="0"/>
              </a:spcAft>
              <a:buClr>
                <a:srgbClr val="16324A"/>
              </a:buClr>
              <a:buSzPts val="1650"/>
              <a:buFont typeface="Inter"/>
              <a:buNone/>
            </a:pPr>
            <a:r>
              <a:rPr b="0" i="0" lang="en-US" sz="2050" u="none" cap="none" strike="noStrike">
                <a:solidFill>
                  <a:srgbClr val="16324A"/>
                </a:solidFill>
                <a:latin typeface="Inter"/>
                <a:ea typeface="Inter"/>
                <a:cs typeface="Inter"/>
                <a:sym typeface="Inter"/>
              </a:rPr>
              <a:t>The stronger model solves the original task independently; the full SLM draft is withheld to reduce anchoring.</a:t>
            </a:r>
            <a:endParaRPr b="0" i="0" sz="2050" u="none" cap="none" strike="noStrike">
              <a:solidFill>
                <a:schemeClr val="dk1"/>
              </a:solidFill>
              <a:latin typeface="Calibri"/>
              <a:ea typeface="Calibri"/>
              <a:cs typeface="Calibri"/>
              <a:sym typeface="Calibri"/>
            </a:endParaRPr>
          </a:p>
        </p:txBody>
      </p:sp>
      <p:sp>
        <p:nvSpPr>
          <p:cNvPr id="94" name="Google Shape;94;p6"/>
          <p:cNvSpPr/>
          <p:nvPr/>
        </p:nvSpPr>
        <p:spPr>
          <a:xfrm>
            <a:off x="13818320" y="6839626"/>
            <a:ext cx="1598700" cy="285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171B5"/>
              </a:buClr>
              <a:buSzPts val="1275"/>
              <a:buFont typeface="Poppins"/>
              <a:buNone/>
            </a:pPr>
            <a:r>
              <a:rPr b="1" i="0" lang="en-US" sz="1675" u="none" cap="none" strike="noStrike">
                <a:solidFill>
                  <a:srgbClr val="2171B5"/>
                </a:solidFill>
                <a:latin typeface="Poppins"/>
                <a:ea typeface="Poppins"/>
                <a:cs typeface="Poppins"/>
                <a:sym typeface="Poppins"/>
              </a:rPr>
              <a:t>DISTINCTION</a:t>
            </a:r>
            <a:endParaRPr b="0" i="0" sz="1675" u="none" cap="none" strike="noStrike">
              <a:solidFill>
                <a:schemeClr val="dk1"/>
              </a:solidFill>
              <a:latin typeface="Calibri"/>
              <a:ea typeface="Calibri"/>
              <a:cs typeface="Calibri"/>
              <a:sym typeface="Calibri"/>
            </a:endParaRPr>
          </a:p>
        </p:txBody>
      </p:sp>
      <p:sp>
        <p:nvSpPr>
          <p:cNvPr id="95" name="Google Shape;95;p6"/>
          <p:cNvSpPr/>
          <p:nvPr/>
        </p:nvSpPr>
        <p:spPr>
          <a:xfrm>
            <a:off x="12577852" y="7125376"/>
            <a:ext cx="40797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500"/>
              <a:buFont typeface="Inter"/>
              <a:buNone/>
            </a:pPr>
            <a:r>
              <a:rPr b="0" i="0" lang="en-US" sz="1900" u="none" cap="none" strike="noStrike">
                <a:solidFill>
                  <a:srgbClr val="4A6785"/>
                </a:solidFill>
                <a:latin typeface="Inter"/>
                <a:ea typeface="Inter"/>
                <a:cs typeface="Inter"/>
                <a:sym typeface="Inter"/>
              </a:rPr>
              <a:t>Fresh solution, not draft editing</a:t>
            </a:r>
            <a:endParaRPr b="0" i="0" sz="1900" u="none" cap="none" strike="noStrike">
              <a:solidFill>
                <a:schemeClr val="dk1"/>
              </a:solidFill>
              <a:latin typeface="Calibri"/>
              <a:ea typeface="Calibri"/>
              <a:cs typeface="Calibri"/>
              <a:sym typeface="Calibri"/>
            </a:endParaRPr>
          </a:p>
        </p:txBody>
      </p:sp>
      <p:sp>
        <p:nvSpPr>
          <p:cNvPr id="96" name="Google Shape;96;p6"/>
          <p:cNvSpPr/>
          <p:nvPr/>
        </p:nvSpPr>
        <p:spPr>
          <a:xfrm>
            <a:off x="1143000" y="9486900"/>
            <a:ext cx="17602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500"/>
              <a:buFont typeface="Inter"/>
              <a:buNone/>
            </a:pPr>
            <a:r>
              <a:rPr b="0" i="0" lang="en-US" sz="1500" u="none" cap="none" strike="noStrike">
                <a:solidFill>
                  <a:srgbClr val="4A6785"/>
                </a:solidFill>
                <a:latin typeface="Inter"/>
                <a:ea typeface="Inter"/>
                <a:cs typeface="Inter"/>
                <a:sym typeface="Inter"/>
              </a:rPr>
              <a:t>Sources: Olausson et al. (ICLR 2024) • Arimbur (2026, preprint)</a:t>
            </a:r>
            <a:endParaRPr b="0" i="0" sz="1500" u="none" cap="none" strike="noStrike">
              <a:solidFill>
                <a:schemeClr val="dk1"/>
              </a:solidFill>
              <a:latin typeface="Calibri"/>
              <a:ea typeface="Calibri"/>
              <a:cs typeface="Calibri"/>
              <a:sym typeface="Calibri"/>
            </a:endParaRPr>
          </a:p>
        </p:txBody>
      </p:sp>
      <p:pic>
        <p:nvPicPr>
          <p:cNvPr id="97" name="Google Shape;97;p6"/>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102" name="Shape 102"/>
        <p:cNvGrpSpPr/>
        <p:nvPr/>
      </p:nvGrpSpPr>
      <p:grpSpPr>
        <a:xfrm>
          <a:off x="0" y="0"/>
          <a:ext cx="0" cy="0"/>
          <a:chOff x="0" y="0"/>
          <a:chExt cx="0" cy="0"/>
        </a:xfrm>
      </p:grpSpPr>
      <p:sp>
        <p:nvSpPr>
          <p:cNvPr id="103" name="Google Shape;103;p7"/>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Scope and Deliverables</a:t>
            </a:r>
            <a:endParaRPr b="0" i="0" sz="3750" u="none" cap="none" strike="noStrike">
              <a:solidFill>
                <a:schemeClr val="dk1"/>
              </a:solidFill>
              <a:latin typeface="Calibri"/>
              <a:ea typeface="Calibri"/>
              <a:cs typeface="Calibri"/>
              <a:sym typeface="Calibri"/>
            </a:endParaRPr>
          </a:p>
        </p:txBody>
      </p:sp>
      <p:sp>
        <p:nvSpPr>
          <p:cNvPr id="104" name="Google Shape;104;p7"/>
          <p:cNvSpPr/>
          <p:nvPr/>
        </p:nvSpPr>
        <p:spPr>
          <a:xfrm>
            <a:off x="1143000" y="2927350"/>
            <a:ext cx="5130900" cy="5523600"/>
          </a:xfrm>
          <a:prstGeom prst="roundRect">
            <a:avLst>
              <a:gd fmla="val 445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05" name="Google Shape;105;p7"/>
          <p:cNvSpPr/>
          <p:nvPr/>
        </p:nvSpPr>
        <p:spPr>
          <a:xfrm>
            <a:off x="1485900" y="3346450"/>
            <a:ext cx="419100" cy="4191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06" name="Google Shape;106;p7"/>
          <p:cNvSpPr/>
          <p:nvPr/>
        </p:nvSpPr>
        <p:spPr>
          <a:xfrm>
            <a:off x="1447800" y="3324299"/>
            <a:ext cx="4953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200"/>
              <a:buFont typeface="Poppins"/>
              <a:buNone/>
            </a:pPr>
            <a:r>
              <a:rPr b="1" i="0" lang="en-US" sz="1800" u="none" cap="none" strike="noStrike">
                <a:solidFill>
                  <a:srgbClr val="FFFFFF"/>
                </a:solidFill>
                <a:latin typeface="Poppins"/>
                <a:ea typeface="Poppins"/>
                <a:cs typeface="Poppins"/>
                <a:sym typeface="Poppins"/>
              </a:rPr>
              <a:t>01</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2038350" y="3346524"/>
            <a:ext cx="1754100" cy="412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950"/>
              <a:buFont typeface="Poppins"/>
              <a:buNone/>
            </a:pPr>
            <a:r>
              <a:rPr b="1" i="0" lang="en-US" sz="2550" u="none" cap="none" strike="noStrike">
                <a:solidFill>
                  <a:srgbClr val="084594"/>
                </a:solidFill>
                <a:latin typeface="Poppins"/>
                <a:ea typeface="Poppins"/>
                <a:cs typeface="Poppins"/>
                <a:sym typeface="Poppins"/>
              </a:rPr>
              <a:t>In Scope</a:t>
            </a:r>
            <a:endParaRPr b="0" i="0" sz="2550" u="none" cap="none" strike="noStrike">
              <a:solidFill>
                <a:schemeClr val="dk1"/>
              </a:solidFill>
              <a:latin typeface="Calibri"/>
              <a:ea typeface="Calibri"/>
              <a:cs typeface="Calibri"/>
              <a:sym typeface="Calibri"/>
            </a:endParaRPr>
          </a:p>
        </p:txBody>
      </p:sp>
      <p:sp>
        <p:nvSpPr>
          <p:cNvPr id="108" name="Google Shape;108;p7"/>
          <p:cNvSpPr/>
          <p:nvPr/>
        </p:nvSpPr>
        <p:spPr>
          <a:xfrm>
            <a:off x="1485900" y="4099122"/>
            <a:ext cx="4578300" cy="2047200"/>
          </a:xfrm>
          <a:prstGeom prst="rect">
            <a:avLst/>
          </a:prstGeom>
          <a:noFill/>
          <a:ln>
            <a:noFill/>
          </a:ln>
        </p:spPr>
        <p:txBody>
          <a:bodyPr anchorCtr="0" anchor="t" bIns="25400" lIns="25400" spcFirstLastPara="1" rIns="25400" wrap="square" tIns="25400">
            <a:noAutofit/>
          </a:bodyPr>
          <a:lstStyle/>
          <a:p>
            <a:pPr indent="0" lvl="0" marL="0" marR="0" rtl="0" algn="l">
              <a:lnSpc>
                <a:spcPct val="125192"/>
              </a:lnSpc>
              <a:spcBef>
                <a:spcPts val="0"/>
              </a:spcBef>
              <a:spcAft>
                <a:spcPts val="0"/>
              </a:spcAft>
              <a:buClr>
                <a:srgbClr val="16324A"/>
              </a:buClr>
              <a:buSzPts val="1575"/>
              <a:buFont typeface="Inter"/>
              <a:buNone/>
            </a:pPr>
            <a:r>
              <a:rPr b="0" i="0" lang="en-US" sz="2175" u="none" cap="none" strike="noStrike">
                <a:solidFill>
                  <a:srgbClr val="16324A"/>
                </a:solidFill>
                <a:latin typeface="Inter"/>
                <a:ea typeface="Inter"/>
                <a:cs typeface="Inter"/>
                <a:sym typeface="Inter"/>
              </a:rPr>
              <a:t>Two verifiable domains; Qwen3-4B and Gemma 3 4B IT; GPT-4.1; one-shot ACCEPT, REPAIR, and REGENERATE outcomes.</a:t>
            </a:r>
            <a:endParaRPr b="0" i="0" sz="2175" u="none" cap="none" strike="noStrike">
              <a:solidFill>
                <a:schemeClr val="dk1"/>
              </a:solidFill>
              <a:latin typeface="Calibri"/>
              <a:ea typeface="Calibri"/>
              <a:cs typeface="Calibri"/>
              <a:sym typeface="Calibri"/>
            </a:endParaRPr>
          </a:p>
        </p:txBody>
      </p:sp>
      <p:sp>
        <p:nvSpPr>
          <p:cNvPr id="109" name="Google Shape;109;p7"/>
          <p:cNvSpPr/>
          <p:nvPr/>
        </p:nvSpPr>
        <p:spPr>
          <a:xfrm>
            <a:off x="1508579" y="6424849"/>
            <a:ext cx="4889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800" u="none" cap="none" strike="noStrike">
                <a:solidFill>
                  <a:srgbClr val="2171B5"/>
                </a:solidFill>
                <a:latin typeface="Poppins"/>
                <a:ea typeface="Poppins"/>
                <a:cs typeface="Poppins"/>
                <a:sym typeface="Poppins"/>
              </a:rPr>
              <a:t>DELIVERABLES</a:t>
            </a:r>
            <a:endParaRPr b="0" i="0" sz="1800" u="none" cap="none" strike="noStrike">
              <a:solidFill>
                <a:schemeClr val="dk1"/>
              </a:solidFill>
              <a:latin typeface="Calibri"/>
              <a:ea typeface="Calibri"/>
              <a:cs typeface="Calibri"/>
              <a:sym typeface="Calibri"/>
            </a:endParaRPr>
          </a:p>
        </p:txBody>
      </p:sp>
      <p:sp>
        <p:nvSpPr>
          <p:cNvPr id="110" name="Google Shape;110;p7"/>
          <p:cNvSpPr/>
          <p:nvPr/>
        </p:nvSpPr>
        <p:spPr>
          <a:xfrm>
            <a:off x="1508575" y="6827033"/>
            <a:ext cx="4578300" cy="1337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425"/>
              <a:buFont typeface="Inter"/>
              <a:buNone/>
            </a:pPr>
            <a:r>
              <a:rPr b="0" i="0" lang="en-US" sz="2025" u="none" cap="none" strike="noStrike">
                <a:solidFill>
                  <a:srgbClr val="4A6785"/>
                </a:solidFill>
                <a:latin typeface="Inter"/>
                <a:ea typeface="Inter"/>
                <a:cs typeface="Inter"/>
                <a:sym typeface="Inter"/>
              </a:rPr>
              <a:t>Action-outcome dataset</a:t>
            </a:r>
            <a:endParaRPr sz="20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b="0" i="0" lang="en-US" sz="2025" u="none" cap="none" strike="noStrike">
                <a:solidFill>
                  <a:srgbClr val="4A6785"/>
                </a:solidFill>
                <a:latin typeface="Inter"/>
                <a:ea typeface="Inter"/>
                <a:cs typeface="Inter"/>
                <a:sym typeface="Inter"/>
              </a:rPr>
              <a:t>ACRE model </a:t>
            </a:r>
            <a:endParaRPr sz="20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lang="en-US" sz="2025">
                <a:solidFill>
                  <a:srgbClr val="4A6785"/>
                </a:solidFill>
                <a:latin typeface="Inter"/>
                <a:ea typeface="Inter"/>
                <a:cs typeface="Inter"/>
                <a:sym typeface="Inter"/>
              </a:rPr>
              <a:t>E</a:t>
            </a:r>
            <a:r>
              <a:rPr b="0" i="0" lang="en-US" sz="2025" u="none" cap="none" strike="noStrike">
                <a:solidFill>
                  <a:srgbClr val="4A6785"/>
                </a:solidFill>
                <a:latin typeface="Inter"/>
                <a:ea typeface="Inter"/>
                <a:cs typeface="Inter"/>
                <a:sym typeface="Inter"/>
              </a:rPr>
              <a:t>valuation report</a:t>
            </a:r>
            <a:endParaRPr b="0" i="0" sz="2025" u="none" cap="none" strike="noStrike">
              <a:solidFill>
                <a:schemeClr val="dk1"/>
              </a:solidFill>
              <a:latin typeface="Calibri"/>
              <a:ea typeface="Calibri"/>
              <a:cs typeface="Calibri"/>
              <a:sym typeface="Calibri"/>
            </a:endParaRPr>
          </a:p>
        </p:txBody>
      </p:sp>
      <p:sp>
        <p:nvSpPr>
          <p:cNvPr id="111" name="Google Shape;111;p7"/>
          <p:cNvSpPr/>
          <p:nvPr/>
        </p:nvSpPr>
        <p:spPr>
          <a:xfrm>
            <a:off x="6578600" y="2927350"/>
            <a:ext cx="5130900" cy="5523600"/>
          </a:xfrm>
          <a:prstGeom prst="roundRect">
            <a:avLst>
              <a:gd fmla="val 445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12" name="Google Shape;112;p7"/>
          <p:cNvSpPr/>
          <p:nvPr/>
        </p:nvSpPr>
        <p:spPr>
          <a:xfrm>
            <a:off x="6921500" y="3346450"/>
            <a:ext cx="419100" cy="419100"/>
          </a:xfrm>
          <a:prstGeom prst="ellipse">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13" name="Google Shape;113;p7"/>
          <p:cNvSpPr/>
          <p:nvPr/>
        </p:nvSpPr>
        <p:spPr>
          <a:xfrm>
            <a:off x="6883400" y="3324299"/>
            <a:ext cx="4953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200"/>
              <a:buFont typeface="Poppins"/>
              <a:buNone/>
            </a:pPr>
            <a:r>
              <a:rPr b="1" i="0" lang="en-US" sz="1800" u="none" cap="none" strike="noStrike">
                <a:solidFill>
                  <a:srgbClr val="FFFFFF"/>
                </a:solidFill>
                <a:latin typeface="Poppins"/>
                <a:ea typeface="Poppins"/>
                <a:cs typeface="Poppins"/>
                <a:sym typeface="Poppins"/>
              </a:rPr>
              <a:t>02</a:t>
            </a:r>
            <a:endParaRPr b="0" i="0" sz="1800" u="none" cap="none" strike="noStrike">
              <a:solidFill>
                <a:schemeClr val="dk1"/>
              </a:solidFill>
              <a:latin typeface="Calibri"/>
              <a:ea typeface="Calibri"/>
              <a:cs typeface="Calibri"/>
              <a:sym typeface="Calibri"/>
            </a:endParaRPr>
          </a:p>
        </p:txBody>
      </p:sp>
      <p:sp>
        <p:nvSpPr>
          <p:cNvPr id="114" name="Google Shape;114;p7"/>
          <p:cNvSpPr/>
          <p:nvPr/>
        </p:nvSpPr>
        <p:spPr>
          <a:xfrm>
            <a:off x="7473950" y="3346524"/>
            <a:ext cx="2375400" cy="412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950"/>
              <a:buFont typeface="Poppins"/>
              <a:buNone/>
            </a:pPr>
            <a:r>
              <a:rPr b="1" i="0" lang="en-US" sz="2550" u="none" cap="none" strike="noStrike">
                <a:solidFill>
                  <a:srgbClr val="084594"/>
                </a:solidFill>
                <a:latin typeface="Poppins"/>
                <a:ea typeface="Poppins"/>
                <a:cs typeface="Poppins"/>
                <a:sym typeface="Poppins"/>
              </a:rPr>
              <a:t>Out of Scope</a:t>
            </a:r>
            <a:endParaRPr b="0" i="0" sz="2550" u="none" cap="none" strike="noStrike">
              <a:solidFill>
                <a:schemeClr val="dk1"/>
              </a:solidFill>
              <a:latin typeface="Calibri"/>
              <a:ea typeface="Calibri"/>
              <a:cs typeface="Calibri"/>
              <a:sym typeface="Calibri"/>
            </a:endParaRPr>
          </a:p>
        </p:txBody>
      </p:sp>
      <p:sp>
        <p:nvSpPr>
          <p:cNvPr id="115" name="Google Shape;115;p7"/>
          <p:cNvSpPr/>
          <p:nvPr/>
        </p:nvSpPr>
        <p:spPr>
          <a:xfrm>
            <a:off x="6921500" y="4099122"/>
            <a:ext cx="4578300" cy="2047200"/>
          </a:xfrm>
          <a:prstGeom prst="rect">
            <a:avLst/>
          </a:prstGeom>
          <a:noFill/>
          <a:ln>
            <a:noFill/>
          </a:ln>
        </p:spPr>
        <p:txBody>
          <a:bodyPr anchorCtr="0" anchor="t" bIns="25400" lIns="25400" spcFirstLastPara="1" rIns="25400" wrap="square" tIns="25400">
            <a:noAutofit/>
          </a:bodyPr>
          <a:lstStyle/>
          <a:p>
            <a:pPr indent="0" lvl="0" marL="0" marR="0" rtl="0" algn="l">
              <a:lnSpc>
                <a:spcPct val="125192"/>
              </a:lnSpc>
              <a:spcBef>
                <a:spcPts val="0"/>
              </a:spcBef>
              <a:spcAft>
                <a:spcPts val="0"/>
              </a:spcAft>
              <a:buClr>
                <a:srgbClr val="16324A"/>
              </a:buClr>
              <a:buSzPts val="1575"/>
              <a:buFont typeface="Inter"/>
              <a:buNone/>
            </a:pPr>
            <a:r>
              <a:rPr b="0" i="0" lang="en-US" sz="2175" u="none" cap="none" strike="noStrike">
                <a:solidFill>
                  <a:srgbClr val="16324A"/>
                </a:solidFill>
                <a:latin typeface="Inter"/>
                <a:ea typeface="Inter"/>
                <a:cs typeface="Inter"/>
                <a:sym typeface="Inter"/>
              </a:rPr>
              <a:t>Cost/latency optimisation, RL, RAG, multi-agent debate, fine-tuning, iterative repair, and multiple stronger models.</a:t>
            </a:r>
            <a:endParaRPr b="0" i="0" sz="2175" u="none" cap="none" strike="noStrike">
              <a:solidFill>
                <a:schemeClr val="dk1"/>
              </a:solidFill>
              <a:latin typeface="Calibri"/>
              <a:ea typeface="Calibri"/>
              <a:cs typeface="Calibri"/>
              <a:sym typeface="Calibri"/>
            </a:endParaRPr>
          </a:p>
        </p:txBody>
      </p:sp>
      <p:sp>
        <p:nvSpPr>
          <p:cNvPr id="116" name="Google Shape;116;p7"/>
          <p:cNvSpPr/>
          <p:nvPr/>
        </p:nvSpPr>
        <p:spPr>
          <a:xfrm>
            <a:off x="6944179" y="6424849"/>
            <a:ext cx="4889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800" u="none" cap="none" strike="noStrike">
                <a:solidFill>
                  <a:srgbClr val="2171B5"/>
                </a:solidFill>
                <a:latin typeface="Poppins"/>
                <a:ea typeface="Poppins"/>
                <a:cs typeface="Poppins"/>
                <a:sym typeface="Poppins"/>
              </a:rPr>
              <a:t>BOUNDARY</a:t>
            </a:r>
            <a:endParaRPr b="0" i="0" sz="1800" u="none" cap="none" strike="noStrike">
              <a:solidFill>
                <a:schemeClr val="dk1"/>
              </a:solidFill>
              <a:latin typeface="Calibri"/>
              <a:ea typeface="Calibri"/>
              <a:cs typeface="Calibri"/>
              <a:sym typeface="Calibri"/>
            </a:endParaRPr>
          </a:p>
        </p:txBody>
      </p:sp>
      <p:sp>
        <p:nvSpPr>
          <p:cNvPr id="117" name="Google Shape;117;p7"/>
          <p:cNvSpPr/>
          <p:nvPr/>
        </p:nvSpPr>
        <p:spPr>
          <a:xfrm>
            <a:off x="6944179" y="6827059"/>
            <a:ext cx="4889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425"/>
              <a:buFont typeface="Inter"/>
              <a:buNone/>
            </a:pPr>
            <a:r>
              <a:rPr b="0" i="0" lang="en-US" sz="2025" u="none" cap="none" strike="noStrike">
                <a:solidFill>
                  <a:srgbClr val="4A6785"/>
                </a:solidFill>
                <a:latin typeface="Inter"/>
                <a:ea typeface="Inter"/>
                <a:cs typeface="Inter"/>
                <a:sym typeface="Inter"/>
              </a:rPr>
              <a:t>One correction attempt only</a:t>
            </a:r>
            <a:endParaRPr b="0" i="0" sz="2025" u="none" cap="none" strike="noStrike">
              <a:solidFill>
                <a:schemeClr val="dk1"/>
              </a:solidFill>
              <a:latin typeface="Calibri"/>
              <a:ea typeface="Calibri"/>
              <a:cs typeface="Calibri"/>
              <a:sym typeface="Calibri"/>
            </a:endParaRPr>
          </a:p>
        </p:txBody>
      </p:sp>
      <p:sp>
        <p:nvSpPr>
          <p:cNvPr id="118" name="Google Shape;118;p7"/>
          <p:cNvSpPr/>
          <p:nvPr/>
        </p:nvSpPr>
        <p:spPr>
          <a:xfrm>
            <a:off x="12014200" y="2927350"/>
            <a:ext cx="5130900" cy="5523600"/>
          </a:xfrm>
          <a:prstGeom prst="roundRect">
            <a:avLst>
              <a:gd fmla="val 445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19" name="Google Shape;119;p7"/>
          <p:cNvSpPr/>
          <p:nvPr/>
        </p:nvSpPr>
        <p:spPr>
          <a:xfrm>
            <a:off x="12357100" y="3346450"/>
            <a:ext cx="419100" cy="4191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120" name="Google Shape;120;p7"/>
          <p:cNvSpPr/>
          <p:nvPr/>
        </p:nvSpPr>
        <p:spPr>
          <a:xfrm>
            <a:off x="12319000" y="3324299"/>
            <a:ext cx="4953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200"/>
              <a:buFont typeface="Poppins"/>
              <a:buNone/>
            </a:pPr>
            <a:r>
              <a:rPr b="1" i="0" lang="en-US" sz="1800" u="none" cap="none" strike="noStrike">
                <a:solidFill>
                  <a:srgbClr val="FFFFFF"/>
                </a:solidFill>
                <a:latin typeface="Poppins"/>
                <a:ea typeface="Poppins"/>
                <a:cs typeface="Poppins"/>
                <a:sym typeface="Poppins"/>
              </a:rPr>
              <a:t>03</a:t>
            </a:r>
            <a:endParaRPr b="0" i="0" sz="1800" u="none" cap="none" strike="noStrike">
              <a:solidFill>
                <a:schemeClr val="dk1"/>
              </a:solidFill>
              <a:latin typeface="Calibri"/>
              <a:ea typeface="Calibri"/>
              <a:cs typeface="Calibri"/>
              <a:sym typeface="Calibri"/>
            </a:endParaRPr>
          </a:p>
        </p:txBody>
      </p:sp>
      <p:sp>
        <p:nvSpPr>
          <p:cNvPr id="121" name="Google Shape;121;p7"/>
          <p:cNvSpPr/>
          <p:nvPr/>
        </p:nvSpPr>
        <p:spPr>
          <a:xfrm>
            <a:off x="12909550" y="3346524"/>
            <a:ext cx="3039600" cy="412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950"/>
              <a:buFont typeface="Poppins"/>
              <a:buNone/>
            </a:pPr>
            <a:r>
              <a:rPr b="1" i="0" lang="en-US" sz="2550" u="none" cap="none" strike="noStrike">
                <a:solidFill>
                  <a:srgbClr val="084594"/>
                </a:solidFill>
                <a:latin typeface="Poppins"/>
                <a:ea typeface="Poppins"/>
                <a:cs typeface="Poppins"/>
                <a:sym typeface="Poppins"/>
              </a:rPr>
              <a:t>Success Criteria</a:t>
            </a:r>
            <a:endParaRPr b="0" i="0" sz="2550" u="none" cap="none" strike="noStrike">
              <a:solidFill>
                <a:schemeClr val="dk1"/>
              </a:solidFill>
              <a:latin typeface="Calibri"/>
              <a:ea typeface="Calibri"/>
              <a:cs typeface="Calibri"/>
              <a:sym typeface="Calibri"/>
            </a:endParaRPr>
          </a:p>
        </p:txBody>
      </p:sp>
      <p:sp>
        <p:nvSpPr>
          <p:cNvPr id="122" name="Google Shape;122;p7"/>
          <p:cNvSpPr/>
          <p:nvPr/>
        </p:nvSpPr>
        <p:spPr>
          <a:xfrm>
            <a:off x="12357100" y="4099122"/>
            <a:ext cx="4578300" cy="2047200"/>
          </a:xfrm>
          <a:prstGeom prst="rect">
            <a:avLst/>
          </a:prstGeom>
          <a:noFill/>
          <a:ln>
            <a:noFill/>
          </a:ln>
        </p:spPr>
        <p:txBody>
          <a:bodyPr anchorCtr="0" anchor="t" bIns="25400" lIns="25400" spcFirstLastPara="1" rIns="25400" wrap="square" tIns="25400">
            <a:noAutofit/>
          </a:bodyPr>
          <a:lstStyle/>
          <a:p>
            <a:pPr indent="0" lvl="0" marL="0" marR="0" rtl="0" algn="l">
              <a:lnSpc>
                <a:spcPct val="125192"/>
              </a:lnSpc>
              <a:spcBef>
                <a:spcPts val="0"/>
              </a:spcBef>
              <a:spcAft>
                <a:spcPts val="0"/>
              </a:spcAft>
              <a:buClr>
                <a:srgbClr val="16324A"/>
              </a:buClr>
              <a:buSzPts val="1575"/>
              <a:buFont typeface="Inter"/>
              <a:buNone/>
            </a:pPr>
            <a:r>
              <a:rPr b="0" i="0" lang="en-US" sz="2175" u="none" cap="none" strike="noStrike">
                <a:solidFill>
                  <a:srgbClr val="16324A"/>
                </a:solidFill>
                <a:latin typeface="Inter"/>
                <a:ea typeface="Inter"/>
                <a:cs typeface="Inter"/>
                <a:sym typeface="Inter"/>
              </a:rPr>
              <a:t>A reproducible answer to the RQ. A positive result requires statistically supported lower final risk/error than strong baselines.</a:t>
            </a:r>
            <a:endParaRPr b="0" i="0" sz="2175" u="none" cap="none" strike="noStrike">
              <a:solidFill>
                <a:schemeClr val="dk1"/>
              </a:solidFill>
              <a:latin typeface="Calibri"/>
              <a:ea typeface="Calibri"/>
              <a:cs typeface="Calibri"/>
              <a:sym typeface="Calibri"/>
            </a:endParaRPr>
          </a:p>
        </p:txBody>
      </p:sp>
      <p:sp>
        <p:nvSpPr>
          <p:cNvPr id="123" name="Google Shape;123;p7"/>
          <p:cNvSpPr/>
          <p:nvPr/>
        </p:nvSpPr>
        <p:spPr>
          <a:xfrm>
            <a:off x="12379779" y="6424849"/>
            <a:ext cx="4889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800" u="none" cap="none" strike="noStrike">
                <a:solidFill>
                  <a:srgbClr val="2171B5"/>
                </a:solidFill>
                <a:latin typeface="Poppins"/>
                <a:ea typeface="Poppins"/>
                <a:cs typeface="Poppins"/>
                <a:sym typeface="Poppins"/>
              </a:rPr>
              <a:t>EVIDENCE</a:t>
            </a:r>
            <a:endParaRPr b="0" i="0" sz="1800" u="none" cap="none" strike="noStrike">
              <a:solidFill>
                <a:schemeClr val="dk1"/>
              </a:solidFill>
              <a:latin typeface="Calibri"/>
              <a:ea typeface="Calibri"/>
              <a:cs typeface="Calibri"/>
              <a:sym typeface="Calibri"/>
            </a:endParaRPr>
          </a:p>
        </p:txBody>
      </p:sp>
      <p:sp>
        <p:nvSpPr>
          <p:cNvPr id="124" name="Google Shape;124;p7"/>
          <p:cNvSpPr/>
          <p:nvPr/>
        </p:nvSpPr>
        <p:spPr>
          <a:xfrm>
            <a:off x="12379775" y="6827034"/>
            <a:ext cx="4578300" cy="1337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425"/>
              <a:buFont typeface="Inter"/>
              <a:buNone/>
            </a:pPr>
            <a:r>
              <a:rPr b="0" i="0" lang="en-US" sz="2025" u="none" cap="none" strike="noStrike">
                <a:solidFill>
                  <a:srgbClr val="4A6785"/>
                </a:solidFill>
                <a:latin typeface="Inter"/>
                <a:ea typeface="Inter"/>
                <a:cs typeface="Inter"/>
                <a:sym typeface="Inter"/>
              </a:rPr>
              <a:t>Calibration quality</a:t>
            </a:r>
            <a:endParaRPr sz="20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lang="en-US" sz="2025">
                <a:solidFill>
                  <a:srgbClr val="4A6785"/>
                </a:solidFill>
                <a:latin typeface="Inter"/>
                <a:ea typeface="Inter"/>
                <a:cs typeface="Inter"/>
                <a:sym typeface="Inter"/>
              </a:rPr>
              <a:t>F</a:t>
            </a:r>
            <a:r>
              <a:rPr b="0" i="0" lang="en-US" sz="2025" u="none" cap="none" strike="noStrike">
                <a:solidFill>
                  <a:srgbClr val="4A6785"/>
                </a:solidFill>
                <a:latin typeface="Inter"/>
                <a:ea typeface="Inter"/>
                <a:cs typeface="Inter"/>
                <a:sym typeface="Inter"/>
              </a:rPr>
              <a:t>alse acceptance rate</a:t>
            </a:r>
            <a:endParaRPr sz="20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lang="en-US" sz="2025">
                <a:solidFill>
                  <a:srgbClr val="4A6785"/>
                </a:solidFill>
                <a:latin typeface="Inter"/>
                <a:ea typeface="Inter"/>
                <a:cs typeface="Inter"/>
                <a:sym typeface="Inter"/>
              </a:rPr>
              <a:t>R</a:t>
            </a:r>
            <a:r>
              <a:rPr b="0" i="0" lang="en-US" sz="2025" u="none" cap="none" strike="noStrike">
                <a:solidFill>
                  <a:srgbClr val="4A6785"/>
                </a:solidFill>
                <a:latin typeface="Inter"/>
                <a:ea typeface="Inter"/>
                <a:cs typeface="Inter"/>
                <a:sym typeface="Inter"/>
              </a:rPr>
              <a:t>isk regret</a:t>
            </a:r>
            <a:endParaRPr sz="20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lang="en-US" sz="2025">
                <a:solidFill>
                  <a:srgbClr val="4A6785"/>
                </a:solidFill>
                <a:latin typeface="Inter"/>
                <a:ea typeface="Inter"/>
                <a:cs typeface="Inter"/>
                <a:sym typeface="Inter"/>
              </a:rPr>
              <a:t>C</a:t>
            </a:r>
            <a:r>
              <a:rPr b="0" i="0" lang="en-US" sz="2025" u="none" cap="none" strike="noStrike">
                <a:solidFill>
                  <a:srgbClr val="4A6785"/>
                </a:solidFill>
                <a:latin typeface="Inter"/>
                <a:ea typeface="Inter"/>
                <a:cs typeface="Inter"/>
                <a:sym typeface="Inter"/>
              </a:rPr>
              <a:t>ross-SLM transfer</a:t>
            </a:r>
            <a:endParaRPr b="0" i="0" sz="2025" u="none" cap="none" strike="noStrike">
              <a:solidFill>
                <a:schemeClr val="dk1"/>
              </a:solidFill>
              <a:latin typeface="Calibri"/>
              <a:ea typeface="Calibri"/>
              <a:cs typeface="Calibri"/>
              <a:sym typeface="Calibri"/>
            </a:endParaRPr>
          </a:p>
        </p:txBody>
      </p:sp>
      <p:sp>
        <p:nvSpPr>
          <p:cNvPr id="125" name="Google Shape;125;p7"/>
          <p:cNvSpPr/>
          <p:nvPr/>
        </p:nvSpPr>
        <p:spPr>
          <a:xfrm>
            <a:off x="1143000" y="9486900"/>
            <a:ext cx="17602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500"/>
              <a:buFont typeface="Inter"/>
              <a:buNone/>
            </a:pPr>
            <a:r>
              <a:rPr b="0" i="0" lang="en-US" sz="1500" u="none" cap="none" strike="noStrike">
                <a:solidFill>
                  <a:srgbClr val="4A6785"/>
                </a:solidFill>
                <a:latin typeface="Inter"/>
                <a:ea typeface="Inter"/>
                <a:cs typeface="Inter"/>
                <a:sym typeface="Inter"/>
              </a:rPr>
              <a:t>Primary scope: 1,000–1,400 examples plus a 250–350 example cross-SLM set.</a:t>
            </a:r>
            <a:endParaRPr b="0" i="0" sz="1500" u="none" cap="none" strike="noStrike">
              <a:solidFill>
                <a:schemeClr val="dk1"/>
              </a:solidFill>
              <a:latin typeface="Calibri"/>
              <a:ea typeface="Calibri"/>
              <a:cs typeface="Calibri"/>
              <a:sym typeface="Calibri"/>
            </a:endParaRPr>
          </a:p>
        </p:txBody>
      </p:sp>
      <p:pic>
        <p:nvPicPr>
          <p:cNvPr id="126" name="Google Shape;126;p7"/>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8"/>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Research Gaps</a:t>
            </a:r>
            <a:endParaRPr b="0" i="0" sz="3750" u="none" cap="none" strike="noStrike">
              <a:solidFill>
                <a:schemeClr val="dk1"/>
              </a:solidFill>
              <a:latin typeface="Calibri"/>
              <a:ea typeface="Calibri"/>
              <a:cs typeface="Calibri"/>
              <a:sym typeface="Calibri"/>
            </a:endParaRPr>
          </a:p>
        </p:txBody>
      </p:sp>
      <p:sp>
        <p:nvSpPr>
          <p:cNvPr id="133" name="Google Shape;133;p8"/>
          <p:cNvSpPr/>
          <p:nvPr/>
        </p:nvSpPr>
        <p:spPr>
          <a:xfrm>
            <a:off x="1143000" y="2171700"/>
            <a:ext cx="16764000" cy="33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950"/>
              <a:buFont typeface="Inter"/>
              <a:buNone/>
            </a:pPr>
            <a:r>
              <a:rPr b="0" i="0" lang="en-US" sz="1950" u="none" cap="none" strike="noStrike">
                <a:solidFill>
                  <a:srgbClr val="2C4A63"/>
                </a:solidFill>
                <a:latin typeface="Inter"/>
                <a:ea typeface="Inter"/>
                <a:cs typeface="Inter"/>
                <a:sym typeface="Inter"/>
              </a:rPr>
              <a:t>The gap is specifically calibrated post-generation action risk, not SLM + LLM collaboration in general.</a:t>
            </a:r>
            <a:endParaRPr b="0" i="0" sz="1950" u="none" cap="none" strike="noStrike">
              <a:solidFill>
                <a:schemeClr val="dk1"/>
              </a:solidFill>
              <a:latin typeface="Calibri"/>
              <a:ea typeface="Calibri"/>
              <a:cs typeface="Calibri"/>
              <a:sym typeface="Calibri"/>
            </a:endParaRPr>
          </a:p>
        </p:txBody>
      </p:sp>
      <p:sp>
        <p:nvSpPr>
          <p:cNvPr id="134" name="Google Shape;134;p8"/>
          <p:cNvSpPr/>
          <p:nvPr/>
        </p:nvSpPr>
        <p:spPr>
          <a:xfrm>
            <a:off x="1143000" y="2927350"/>
            <a:ext cx="5130900" cy="63309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1504950" y="3289300"/>
            <a:ext cx="48477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3300"/>
              <a:buFont typeface="Poppins"/>
              <a:buNone/>
            </a:pPr>
            <a:r>
              <a:rPr b="1" i="0" lang="en-US" sz="3300" u="none" cap="none" strike="noStrike">
                <a:solidFill>
                  <a:srgbClr val="9ECAE1"/>
                </a:solidFill>
                <a:latin typeface="Poppins"/>
                <a:ea typeface="Poppins"/>
                <a:cs typeface="Poppins"/>
                <a:sym typeface="Poppins"/>
              </a:rPr>
              <a:t>01</a:t>
            </a:r>
            <a:endParaRPr b="0" i="0" sz="3300" u="none" cap="none" strike="noStrike">
              <a:solidFill>
                <a:schemeClr val="dk1"/>
              </a:solidFill>
              <a:latin typeface="Calibri"/>
              <a:ea typeface="Calibri"/>
              <a:cs typeface="Calibri"/>
              <a:sym typeface="Calibri"/>
            </a:endParaRPr>
          </a:p>
        </p:txBody>
      </p:sp>
      <p:sp>
        <p:nvSpPr>
          <p:cNvPr id="136" name="Google Shape;136;p8"/>
          <p:cNvSpPr/>
          <p:nvPr/>
        </p:nvSpPr>
        <p:spPr>
          <a:xfrm>
            <a:off x="1504950" y="4013200"/>
            <a:ext cx="4539000" cy="1102200"/>
          </a:xfrm>
          <a:prstGeom prst="rect">
            <a:avLst/>
          </a:prstGeom>
          <a:noFill/>
          <a:ln>
            <a:noFill/>
          </a:ln>
        </p:spPr>
        <p:txBody>
          <a:bodyPr anchorCtr="0" anchor="t" bIns="25400" lIns="25400" spcFirstLastPara="1" rIns="25400" wrap="square" tIns="25400">
            <a:noAutofit/>
          </a:bodyPr>
          <a:lstStyle/>
          <a:p>
            <a:pPr indent="0" lvl="0" marL="0" marR="0" rtl="0" algn="l">
              <a:lnSpc>
                <a:spcPct val="85091"/>
              </a:lnSpc>
              <a:spcBef>
                <a:spcPts val="0"/>
              </a:spcBef>
              <a:spcAft>
                <a:spcPts val="0"/>
              </a:spcAft>
              <a:buClr>
                <a:srgbClr val="084594"/>
              </a:buClr>
              <a:buSzPts val="1800"/>
              <a:buFont typeface="Poppins"/>
              <a:buNone/>
            </a:pPr>
            <a:r>
              <a:rPr b="1" i="0" lang="en-US" sz="2300" u="none" cap="none" strike="noStrike">
                <a:solidFill>
                  <a:srgbClr val="084594"/>
                </a:solidFill>
                <a:latin typeface="Poppins"/>
                <a:ea typeface="Poppins"/>
                <a:cs typeface="Poppins"/>
                <a:sym typeface="Poppins"/>
              </a:rPr>
              <a:t>Intervention selection is usually binary</a:t>
            </a:r>
            <a:endParaRPr b="0" i="0" sz="2300" u="none" cap="none" strike="noStrike">
              <a:solidFill>
                <a:schemeClr val="dk1"/>
              </a:solidFill>
              <a:latin typeface="Calibri"/>
              <a:ea typeface="Calibri"/>
              <a:cs typeface="Calibri"/>
              <a:sym typeface="Calibri"/>
            </a:endParaRPr>
          </a:p>
        </p:txBody>
      </p:sp>
      <p:sp>
        <p:nvSpPr>
          <p:cNvPr id="137" name="Google Shape;137;p8"/>
          <p:cNvSpPr/>
          <p:nvPr/>
        </p:nvSpPr>
        <p:spPr>
          <a:xfrm>
            <a:off x="1504950" y="5281578"/>
            <a:ext cx="4539000" cy="205890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16324A"/>
              </a:buClr>
              <a:buSzPts val="1500"/>
              <a:buFont typeface="Inter"/>
              <a:buNone/>
            </a:pPr>
            <a:r>
              <a:rPr b="0" i="0" lang="en-US" sz="2000" u="none" cap="none" strike="noStrike">
                <a:solidFill>
                  <a:srgbClr val="16324A"/>
                </a:solidFill>
                <a:latin typeface="Inter"/>
                <a:ea typeface="Inter"/>
                <a:cs typeface="Inter"/>
                <a:sym typeface="Inter"/>
              </a:rPr>
              <a:t>Most cascades accept or defer. Newer systems add resampling or rerouting, but do not jointly learn ACCEPT vs REPAIR vs REGENERATE residual risk.</a:t>
            </a:r>
            <a:endParaRPr b="0" i="0" sz="2000" u="none" cap="none" strike="noStrike">
              <a:solidFill>
                <a:schemeClr val="dk1"/>
              </a:solidFill>
              <a:latin typeface="Calibri"/>
              <a:ea typeface="Calibri"/>
              <a:cs typeface="Calibri"/>
              <a:sym typeface="Calibri"/>
            </a:endParaRPr>
          </a:p>
        </p:txBody>
      </p:sp>
      <p:sp>
        <p:nvSpPr>
          <p:cNvPr id="138" name="Google Shape;138;p8"/>
          <p:cNvSpPr/>
          <p:nvPr/>
        </p:nvSpPr>
        <p:spPr>
          <a:xfrm>
            <a:off x="1504950" y="7572750"/>
            <a:ext cx="4539000" cy="797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AutoMix</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Cluster–Route–Escalate</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Resample or Reroute</a:t>
            </a:r>
            <a:endParaRPr b="0" i="0" sz="1850" u="none" cap="none" strike="noStrike">
              <a:solidFill>
                <a:schemeClr val="dk1"/>
              </a:solidFill>
              <a:latin typeface="Calibri"/>
              <a:ea typeface="Calibri"/>
              <a:cs typeface="Calibri"/>
              <a:sym typeface="Calibri"/>
            </a:endParaRPr>
          </a:p>
        </p:txBody>
      </p:sp>
      <p:sp>
        <p:nvSpPr>
          <p:cNvPr id="139" name="Google Shape;139;p8"/>
          <p:cNvSpPr/>
          <p:nvPr/>
        </p:nvSpPr>
        <p:spPr>
          <a:xfrm>
            <a:off x="6578600" y="2927350"/>
            <a:ext cx="5130900" cy="63309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940550" y="3289300"/>
            <a:ext cx="48477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AED6"/>
              </a:buClr>
              <a:buSzPts val="3300"/>
              <a:buFont typeface="Poppins"/>
              <a:buNone/>
            </a:pPr>
            <a:r>
              <a:rPr b="1" i="0" lang="en-US" sz="3300" u="none" cap="none" strike="noStrike">
                <a:solidFill>
                  <a:srgbClr val="6BAED6"/>
                </a:solidFill>
                <a:latin typeface="Poppins"/>
                <a:ea typeface="Poppins"/>
                <a:cs typeface="Poppins"/>
                <a:sym typeface="Poppins"/>
              </a:rPr>
              <a:t>02</a:t>
            </a:r>
            <a:endParaRPr b="0" i="0" sz="3300" u="none" cap="none" strike="noStrike">
              <a:solidFill>
                <a:schemeClr val="dk1"/>
              </a:solidFill>
              <a:latin typeface="Calibri"/>
              <a:ea typeface="Calibri"/>
              <a:cs typeface="Calibri"/>
              <a:sym typeface="Calibri"/>
            </a:endParaRPr>
          </a:p>
        </p:txBody>
      </p:sp>
      <p:sp>
        <p:nvSpPr>
          <p:cNvPr id="141" name="Google Shape;141;p8"/>
          <p:cNvSpPr/>
          <p:nvPr/>
        </p:nvSpPr>
        <p:spPr>
          <a:xfrm>
            <a:off x="6940550" y="4013200"/>
            <a:ext cx="4539000" cy="1102200"/>
          </a:xfrm>
          <a:prstGeom prst="rect">
            <a:avLst/>
          </a:prstGeom>
          <a:noFill/>
          <a:ln>
            <a:noFill/>
          </a:ln>
        </p:spPr>
        <p:txBody>
          <a:bodyPr anchorCtr="0" anchor="t" bIns="25400" lIns="25400" spcFirstLastPara="1" rIns="25400" wrap="square" tIns="25400">
            <a:noAutofit/>
          </a:bodyPr>
          <a:lstStyle/>
          <a:p>
            <a:pPr indent="0" lvl="0" marL="0" marR="0" rtl="0" algn="l">
              <a:lnSpc>
                <a:spcPct val="85091"/>
              </a:lnSpc>
              <a:spcBef>
                <a:spcPts val="0"/>
              </a:spcBef>
              <a:spcAft>
                <a:spcPts val="0"/>
              </a:spcAft>
              <a:buClr>
                <a:srgbClr val="084594"/>
              </a:buClr>
              <a:buSzPts val="1800"/>
              <a:buFont typeface="Poppins"/>
              <a:buNone/>
            </a:pPr>
            <a:r>
              <a:rPr b="1" i="0" lang="en-US" sz="2300" u="none" cap="none" strike="noStrike">
                <a:solidFill>
                  <a:srgbClr val="084594"/>
                </a:solidFill>
                <a:latin typeface="Poppins"/>
                <a:ea typeface="Poppins"/>
                <a:cs typeface="Poppins"/>
                <a:sym typeface="Poppins"/>
              </a:rPr>
              <a:t>Risk estimates are rarely action-specific</a:t>
            </a:r>
            <a:endParaRPr b="0" i="0" sz="2300" u="none" cap="none" strike="noStrike">
              <a:solidFill>
                <a:schemeClr val="dk1"/>
              </a:solidFill>
              <a:latin typeface="Calibri"/>
              <a:ea typeface="Calibri"/>
              <a:cs typeface="Calibri"/>
              <a:sym typeface="Calibri"/>
            </a:endParaRPr>
          </a:p>
        </p:txBody>
      </p:sp>
      <p:sp>
        <p:nvSpPr>
          <p:cNvPr id="142" name="Google Shape;142;p8"/>
          <p:cNvSpPr/>
          <p:nvPr/>
        </p:nvSpPr>
        <p:spPr>
          <a:xfrm>
            <a:off x="6940550" y="5281578"/>
            <a:ext cx="4539000" cy="156060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16324A"/>
              </a:buClr>
              <a:buSzPts val="1500"/>
              <a:buFont typeface="Inter"/>
              <a:buNone/>
            </a:pPr>
            <a:r>
              <a:rPr b="0" i="0" lang="en-US" sz="2000" u="none" cap="none" strike="noStrike">
                <a:solidFill>
                  <a:srgbClr val="16324A"/>
                </a:solidFill>
                <a:latin typeface="Inter"/>
                <a:ea typeface="Inter"/>
                <a:cs typeface="Inter"/>
                <a:sym typeface="Inter"/>
              </a:rPr>
              <a:t>Confidence methods mostly score the current answer or routing decision, rather than the failure probability after each intervention.</a:t>
            </a:r>
            <a:endParaRPr b="0" i="0" sz="2000" u="none" cap="none" strike="noStrike">
              <a:solidFill>
                <a:schemeClr val="dk1"/>
              </a:solidFill>
              <a:latin typeface="Calibri"/>
              <a:ea typeface="Calibri"/>
              <a:cs typeface="Calibri"/>
              <a:sym typeface="Calibri"/>
            </a:endParaRPr>
          </a:p>
        </p:txBody>
      </p:sp>
      <p:sp>
        <p:nvSpPr>
          <p:cNvPr id="143" name="Google Shape;143;p8"/>
          <p:cNvSpPr/>
          <p:nvPr/>
        </p:nvSpPr>
        <p:spPr>
          <a:xfrm>
            <a:off x="6940550" y="7074669"/>
            <a:ext cx="4539000" cy="797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Confidence Tokens</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Factual Confidence</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Unified Routing</a:t>
            </a:r>
            <a:endParaRPr b="0" i="0" sz="1850" u="none" cap="none" strike="noStrike">
              <a:solidFill>
                <a:schemeClr val="dk1"/>
              </a:solidFill>
              <a:latin typeface="Calibri"/>
              <a:ea typeface="Calibri"/>
              <a:cs typeface="Calibri"/>
              <a:sym typeface="Calibri"/>
            </a:endParaRPr>
          </a:p>
        </p:txBody>
      </p:sp>
      <p:sp>
        <p:nvSpPr>
          <p:cNvPr id="144" name="Google Shape;144;p8"/>
          <p:cNvSpPr/>
          <p:nvPr/>
        </p:nvSpPr>
        <p:spPr>
          <a:xfrm>
            <a:off x="12014200" y="2927350"/>
            <a:ext cx="5130900" cy="63309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12376150" y="3289300"/>
            <a:ext cx="48477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3300"/>
              <a:buFont typeface="Poppins"/>
              <a:buNone/>
            </a:pPr>
            <a:r>
              <a:rPr b="1" i="0" lang="en-US" sz="3300" u="none" cap="none" strike="noStrike">
                <a:solidFill>
                  <a:srgbClr val="2171B5"/>
                </a:solidFill>
                <a:latin typeface="Poppins"/>
                <a:ea typeface="Poppins"/>
                <a:cs typeface="Poppins"/>
                <a:sym typeface="Poppins"/>
              </a:rPr>
              <a:t>03</a:t>
            </a:r>
            <a:endParaRPr b="0" i="0" sz="3300" u="none" cap="none" strike="noStrike">
              <a:solidFill>
                <a:schemeClr val="dk1"/>
              </a:solidFill>
              <a:latin typeface="Calibri"/>
              <a:ea typeface="Calibri"/>
              <a:cs typeface="Calibri"/>
              <a:sym typeface="Calibri"/>
            </a:endParaRPr>
          </a:p>
        </p:txBody>
      </p:sp>
      <p:sp>
        <p:nvSpPr>
          <p:cNvPr id="146" name="Google Shape;146;p8"/>
          <p:cNvSpPr/>
          <p:nvPr/>
        </p:nvSpPr>
        <p:spPr>
          <a:xfrm>
            <a:off x="12376150" y="4013200"/>
            <a:ext cx="4539000" cy="1102200"/>
          </a:xfrm>
          <a:prstGeom prst="rect">
            <a:avLst/>
          </a:prstGeom>
          <a:noFill/>
          <a:ln>
            <a:noFill/>
          </a:ln>
        </p:spPr>
        <p:txBody>
          <a:bodyPr anchorCtr="0" anchor="t" bIns="25400" lIns="25400" spcFirstLastPara="1" rIns="25400" wrap="square" tIns="25400">
            <a:noAutofit/>
          </a:bodyPr>
          <a:lstStyle/>
          <a:p>
            <a:pPr indent="0" lvl="0" marL="0" marR="0" rtl="0" algn="l">
              <a:lnSpc>
                <a:spcPct val="85091"/>
              </a:lnSpc>
              <a:spcBef>
                <a:spcPts val="0"/>
              </a:spcBef>
              <a:spcAft>
                <a:spcPts val="0"/>
              </a:spcAft>
              <a:buClr>
                <a:srgbClr val="084594"/>
              </a:buClr>
              <a:buSzPts val="1800"/>
              <a:buFont typeface="Poppins"/>
              <a:buNone/>
            </a:pPr>
            <a:r>
              <a:rPr b="1" i="0" lang="en-US" sz="2300" u="none" cap="none" strike="noStrike">
                <a:solidFill>
                  <a:srgbClr val="084594"/>
                </a:solidFill>
                <a:latin typeface="Poppins"/>
                <a:ea typeface="Poppins"/>
                <a:cs typeface="Poppins"/>
                <a:sym typeface="Poppins"/>
              </a:rPr>
              <a:t>Calibration seldom covers corrective choices</a:t>
            </a:r>
            <a:endParaRPr b="0" i="0" sz="2300" u="none" cap="none" strike="noStrike">
              <a:solidFill>
                <a:schemeClr val="dk1"/>
              </a:solidFill>
              <a:latin typeface="Calibri"/>
              <a:ea typeface="Calibri"/>
              <a:cs typeface="Calibri"/>
              <a:sym typeface="Calibri"/>
            </a:endParaRPr>
          </a:p>
        </p:txBody>
      </p:sp>
      <p:sp>
        <p:nvSpPr>
          <p:cNvPr id="147" name="Google Shape;147;p8"/>
          <p:cNvSpPr/>
          <p:nvPr/>
        </p:nvSpPr>
        <p:spPr>
          <a:xfrm>
            <a:off x="12376150" y="5281578"/>
            <a:ext cx="4539000" cy="2058900"/>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16324A"/>
              </a:buClr>
              <a:buSzPts val="1500"/>
              <a:buFont typeface="Inter"/>
              <a:buNone/>
            </a:pPr>
            <a:r>
              <a:rPr b="0" i="0" lang="en-US" sz="2000" u="none" cap="none" strike="noStrike">
                <a:solidFill>
                  <a:srgbClr val="16324A"/>
                </a:solidFill>
                <a:latin typeface="Inter"/>
                <a:ea typeface="Inter"/>
                <a:cs typeface="Inter"/>
                <a:sym typeface="Inter"/>
              </a:rPr>
              <a:t>Calibrated routing typically governs accept/defer. Repair studies show repairability varies, but a calibrated selector across corrective actions remains underexplored.</a:t>
            </a:r>
            <a:endParaRPr b="0" i="0" sz="2000" u="none" cap="none" strike="noStrike">
              <a:solidFill>
                <a:schemeClr val="dk1"/>
              </a:solidFill>
              <a:latin typeface="Calibri"/>
              <a:ea typeface="Calibri"/>
              <a:cs typeface="Calibri"/>
              <a:sym typeface="Calibri"/>
            </a:endParaRPr>
          </a:p>
        </p:txBody>
      </p:sp>
      <p:sp>
        <p:nvSpPr>
          <p:cNvPr id="148" name="Google Shape;148;p8"/>
          <p:cNvSpPr/>
          <p:nvPr/>
        </p:nvSpPr>
        <p:spPr>
          <a:xfrm>
            <a:off x="12376150" y="7572750"/>
            <a:ext cx="4201500" cy="110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Conformal Cascade</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Arimbu</a:t>
            </a:r>
            <a:r>
              <a:rPr b="1" lang="en-US" sz="1850">
                <a:solidFill>
                  <a:srgbClr val="4292C6"/>
                </a:solidFill>
                <a:latin typeface="Inter"/>
                <a:ea typeface="Inter"/>
                <a:cs typeface="Inter"/>
                <a:sym typeface="Inter"/>
              </a:rPr>
              <a:t>r</a:t>
            </a:r>
            <a:endParaRPr b="1" sz="1850">
              <a:solidFill>
                <a:srgbClr val="4292C6"/>
              </a:solidFill>
              <a:latin typeface="Inter"/>
              <a:ea typeface="Inter"/>
              <a:cs typeface="Inter"/>
              <a:sym typeface="Inter"/>
            </a:endParaRPr>
          </a:p>
          <a:p>
            <a:pPr indent="0" lvl="0" marL="0" marR="0" rtl="0" algn="l">
              <a:spcBef>
                <a:spcPts val="0"/>
              </a:spcBef>
              <a:spcAft>
                <a:spcPts val="0"/>
              </a:spcAft>
              <a:buClr>
                <a:srgbClr val="4292C6"/>
              </a:buClr>
              <a:buSzPts val="1350"/>
              <a:buFont typeface="Inter"/>
              <a:buNone/>
            </a:pPr>
            <a:r>
              <a:rPr b="1" i="0" lang="en-US" sz="1850" u="none" cap="none" strike="noStrike">
                <a:solidFill>
                  <a:srgbClr val="4292C6"/>
                </a:solidFill>
                <a:latin typeface="Inter"/>
                <a:ea typeface="Inter"/>
                <a:cs typeface="Inter"/>
                <a:sym typeface="Inter"/>
              </a:rPr>
              <a:t>Olausson et al.</a:t>
            </a:r>
            <a:endParaRPr b="0" i="0" sz="1850" u="none" cap="none" strike="noStrike">
              <a:solidFill>
                <a:schemeClr val="dk1"/>
              </a:solidFill>
              <a:latin typeface="Calibri"/>
              <a:ea typeface="Calibri"/>
              <a:cs typeface="Calibri"/>
              <a:sym typeface="Calibri"/>
            </a:endParaRPr>
          </a:p>
        </p:txBody>
      </p:sp>
      <p:sp>
        <p:nvSpPr>
          <p:cNvPr id="149" name="Google Shape;149;p8"/>
          <p:cNvSpPr/>
          <p:nvPr/>
        </p:nvSpPr>
        <p:spPr>
          <a:xfrm>
            <a:off x="1143000" y="9486900"/>
            <a:ext cx="16080900" cy="2667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4A6785"/>
              </a:buClr>
              <a:buSzPts val="1200"/>
              <a:buFont typeface="Inter"/>
              <a:buNone/>
            </a:pPr>
            <a:r>
              <a:rPr lang="en-US" sz="1200">
                <a:solidFill>
                  <a:srgbClr val="4A6785"/>
                </a:solidFill>
                <a:latin typeface="Inter"/>
                <a:ea typeface="Inter"/>
                <a:cs typeface="Inter"/>
                <a:sym typeface="Inter"/>
              </a:rPr>
              <a:t>Sources: AutoMix (NeurIPS 2024) • Dekoninck et al. (ICML 2025) • Chuang et al. (ICML 2025) • Moslem et al. (2026, preprint) • Dou et al. (2026, preprint) • Chen (2026, preprint) • Olausson et al. (ICLR 2024) • Arimbur (2026, preprint)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4A6785"/>
              </a:buClr>
              <a:buSzPts val="1500"/>
              <a:buFont typeface="Inter"/>
              <a:buNone/>
            </a:pPr>
            <a:r>
              <a:t/>
            </a:r>
            <a:endParaRPr sz="1500">
              <a:solidFill>
                <a:srgbClr val="4A6785"/>
              </a:solidFill>
              <a:latin typeface="Inter"/>
              <a:ea typeface="Inter"/>
              <a:cs typeface="Inter"/>
              <a:sym typeface="Inter"/>
            </a:endParaRPr>
          </a:p>
        </p:txBody>
      </p:sp>
      <p:pic>
        <p:nvPicPr>
          <p:cNvPr id="150" name="Google Shape;150;p8"/>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155" name="Shape 155"/>
        <p:cNvGrpSpPr/>
        <p:nvPr/>
      </p:nvGrpSpPr>
      <p:grpSpPr>
        <a:xfrm>
          <a:off x="0" y="0"/>
          <a:ext cx="0" cy="0"/>
          <a:chOff x="0" y="0"/>
          <a:chExt cx="0" cy="0"/>
        </a:xfrm>
      </p:grpSpPr>
      <p:sp>
        <p:nvSpPr>
          <p:cNvPr id="156" name="Google Shape;156;p9"/>
          <p:cNvSpPr/>
          <p:nvPr/>
        </p:nvSpPr>
        <p:spPr>
          <a:xfrm>
            <a:off x="952500" y="1079500"/>
            <a:ext cx="180213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300"/>
              <a:buFont typeface="Poppins"/>
              <a:buNone/>
            </a:pPr>
            <a:r>
              <a:rPr b="1" i="0" lang="en-US" sz="3300" u="none" cap="none" strike="noStrike">
                <a:solidFill>
                  <a:srgbClr val="084594"/>
                </a:solidFill>
                <a:latin typeface="Poppins"/>
                <a:ea typeface="Poppins"/>
                <a:cs typeface="Poppins"/>
                <a:sym typeface="Poppins"/>
              </a:rPr>
              <a:t>Literature Comparison</a:t>
            </a:r>
            <a:endParaRPr b="0" i="0" sz="3300" u="none" cap="none" strike="noStrike">
              <a:solidFill>
                <a:schemeClr val="dk1"/>
              </a:solidFill>
              <a:latin typeface="Calibri"/>
              <a:ea typeface="Calibri"/>
              <a:cs typeface="Calibri"/>
              <a:sym typeface="Calibri"/>
            </a:endParaRPr>
          </a:p>
        </p:txBody>
      </p:sp>
      <p:sp>
        <p:nvSpPr>
          <p:cNvPr id="157" name="Google Shape;157;p9"/>
          <p:cNvSpPr/>
          <p:nvPr/>
        </p:nvSpPr>
        <p:spPr>
          <a:xfrm>
            <a:off x="936375" y="1746388"/>
            <a:ext cx="16383000" cy="875744"/>
          </a:xfrm>
          <a:custGeom>
            <a:rect b="b" l="l" r="r" t="t"/>
            <a:pathLst>
              <a:path extrusionOk="0" h="539750" w="16383000">
                <a:moveTo>
                  <a:pt x="133350" y="0"/>
                </a:moveTo>
                <a:lnTo>
                  <a:pt x="16249650" y="0"/>
                </a:lnTo>
                <a:cubicBezTo>
                  <a:pt x="16285017" y="0"/>
                  <a:pt x="16318935" y="14049"/>
                  <a:pt x="16343943" y="39057"/>
                </a:cubicBezTo>
                <a:cubicBezTo>
                  <a:pt x="16368951" y="64065"/>
                  <a:pt x="16383000" y="97983"/>
                  <a:pt x="16383000" y="133350"/>
                </a:cubicBezTo>
                <a:lnTo>
                  <a:pt x="16383000" y="539750"/>
                </a:lnTo>
                <a:lnTo>
                  <a:pt x="0" y="539750"/>
                </a:lnTo>
                <a:lnTo>
                  <a:pt x="0" y="133350"/>
                </a:lnTo>
                <a:cubicBezTo>
                  <a:pt x="0" y="59703"/>
                  <a:pt x="59703" y="0"/>
                  <a:pt x="133350" y="0"/>
                </a:cubicBezTo>
                <a:close/>
              </a:path>
            </a:pathLst>
          </a:cu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58" name="Google Shape;158;p9"/>
          <p:cNvSpPr/>
          <p:nvPr/>
        </p:nvSpPr>
        <p:spPr>
          <a:xfrm>
            <a:off x="1088775" y="1962634"/>
            <a:ext cx="31626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Work</a:t>
            </a:r>
            <a:endParaRPr b="0" i="0" sz="1825" u="none" cap="none" strike="noStrike">
              <a:solidFill>
                <a:schemeClr val="dk1"/>
              </a:solidFill>
              <a:latin typeface="Calibri"/>
              <a:ea typeface="Calibri"/>
              <a:cs typeface="Calibri"/>
              <a:sym typeface="Calibri"/>
            </a:endParaRPr>
          </a:p>
        </p:txBody>
      </p:sp>
      <p:sp>
        <p:nvSpPr>
          <p:cNvPr id="159" name="Google Shape;159;p9"/>
          <p:cNvSpPr/>
          <p:nvPr/>
        </p:nvSpPr>
        <p:spPr>
          <a:xfrm>
            <a:off x="4455066" y="1962634"/>
            <a:ext cx="22401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Action space</a:t>
            </a:r>
            <a:endParaRPr b="0" i="0" sz="1825" u="none" cap="none" strike="noStrike">
              <a:solidFill>
                <a:schemeClr val="dk1"/>
              </a:solidFill>
              <a:latin typeface="Calibri"/>
              <a:ea typeface="Calibri"/>
              <a:cs typeface="Calibri"/>
              <a:sym typeface="Calibri"/>
            </a:endParaRPr>
          </a:p>
        </p:txBody>
      </p:sp>
      <p:sp>
        <p:nvSpPr>
          <p:cNvPr id="160" name="Google Shape;160;p9"/>
          <p:cNvSpPr/>
          <p:nvPr/>
        </p:nvSpPr>
        <p:spPr>
          <a:xfrm>
            <a:off x="7540047" y="1962634"/>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SLM output?</a:t>
            </a:r>
            <a:endParaRPr b="0" i="0" sz="1825" u="none" cap="none" strike="noStrike">
              <a:solidFill>
                <a:schemeClr val="dk1"/>
              </a:solidFill>
              <a:latin typeface="Calibri"/>
              <a:ea typeface="Calibri"/>
              <a:cs typeface="Calibri"/>
              <a:sym typeface="Calibri"/>
            </a:endParaRPr>
          </a:p>
        </p:txBody>
      </p:sp>
      <p:sp>
        <p:nvSpPr>
          <p:cNvPr id="161" name="Google Shape;161;p9"/>
          <p:cNvSpPr/>
          <p:nvPr/>
        </p:nvSpPr>
        <p:spPr>
          <a:xfrm>
            <a:off x="9485236" y="1962634"/>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Repairs draft?</a:t>
            </a:r>
            <a:endParaRPr b="0" i="0" sz="1825" u="none" cap="none" strike="noStrike">
              <a:solidFill>
                <a:schemeClr val="dk1"/>
              </a:solidFill>
              <a:latin typeface="Calibri"/>
              <a:ea typeface="Calibri"/>
              <a:cs typeface="Calibri"/>
              <a:sym typeface="Calibri"/>
            </a:endParaRPr>
          </a:p>
        </p:txBody>
      </p:sp>
      <p:sp>
        <p:nvSpPr>
          <p:cNvPr id="162" name="Google Shape;162;p9"/>
          <p:cNvSpPr/>
          <p:nvPr/>
        </p:nvSpPr>
        <p:spPr>
          <a:xfrm>
            <a:off x="11505030" y="1962634"/>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Calibrated?</a:t>
            </a:r>
            <a:endParaRPr b="0" i="0" sz="1825" u="none" cap="none" strike="noStrike">
              <a:solidFill>
                <a:schemeClr val="dk1"/>
              </a:solidFill>
              <a:latin typeface="Calibri"/>
              <a:ea typeface="Calibri"/>
              <a:cs typeface="Calibri"/>
              <a:sym typeface="Calibri"/>
            </a:endParaRPr>
          </a:p>
        </p:txBody>
      </p:sp>
      <p:sp>
        <p:nvSpPr>
          <p:cNvPr id="163" name="Google Shape;163;p9"/>
          <p:cNvSpPr/>
          <p:nvPr/>
        </p:nvSpPr>
        <p:spPr>
          <a:xfrm>
            <a:off x="13524825" y="1962634"/>
            <a:ext cx="43182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Remaining gap</a:t>
            </a:r>
            <a:endParaRPr b="0" i="0" sz="1825" u="none" cap="none" strike="noStrike">
              <a:solidFill>
                <a:schemeClr val="dk1"/>
              </a:solidFill>
              <a:latin typeface="Calibri"/>
              <a:ea typeface="Calibri"/>
              <a:cs typeface="Calibri"/>
              <a:sym typeface="Calibri"/>
            </a:endParaRPr>
          </a:p>
        </p:txBody>
      </p:sp>
      <p:sp>
        <p:nvSpPr>
          <p:cNvPr id="164" name="Google Shape;164;p9"/>
          <p:cNvSpPr/>
          <p:nvPr/>
        </p:nvSpPr>
        <p:spPr>
          <a:xfrm>
            <a:off x="936375" y="2621668"/>
            <a:ext cx="16383000" cy="720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65" name="Google Shape;165;p9"/>
          <p:cNvSpPr/>
          <p:nvPr/>
        </p:nvSpPr>
        <p:spPr>
          <a:xfrm>
            <a:off x="936375" y="3332190"/>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66" name="Google Shape;166;p9"/>
          <p:cNvSpPr/>
          <p:nvPr/>
        </p:nvSpPr>
        <p:spPr>
          <a:xfrm>
            <a:off x="1088775" y="2807022"/>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AutoMix (2024)</a:t>
            </a:r>
            <a:endParaRPr b="0" i="0" sz="1750" u="none" cap="none" strike="noStrike">
              <a:solidFill>
                <a:schemeClr val="dk1"/>
              </a:solidFill>
              <a:latin typeface="Calibri"/>
              <a:ea typeface="Calibri"/>
              <a:cs typeface="Calibri"/>
              <a:sym typeface="Calibri"/>
            </a:endParaRPr>
          </a:p>
        </p:txBody>
      </p:sp>
      <p:sp>
        <p:nvSpPr>
          <p:cNvPr id="167" name="Google Shape;167;p9"/>
          <p:cNvSpPr/>
          <p:nvPr/>
        </p:nvSpPr>
        <p:spPr>
          <a:xfrm>
            <a:off x="4455066" y="2807022"/>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Accept / escalate</a:t>
            </a:r>
            <a:endParaRPr b="0" i="0" sz="1750" u="none" cap="none" strike="noStrike">
              <a:solidFill>
                <a:schemeClr val="dk1"/>
              </a:solidFill>
              <a:latin typeface="Calibri"/>
              <a:ea typeface="Calibri"/>
              <a:cs typeface="Calibri"/>
              <a:sym typeface="Calibri"/>
            </a:endParaRPr>
          </a:p>
        </p:txBody>
      </p:sp>
      <p:sp>
        <p:nvSpPr>
          <p:cNvPr id="168" name="Google Shape;168;p9"/>
          <p:cNvSpPr/>
          <p:nvPr/>
        </p:nvSpPr>
        <p:spPr>
          <a:xfrm>
            <a:off x="7540047" y="2807022"/>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169" name="Google Shape;169;p9"/>
          <p:cNvSpPr/>
          <p:nvPr/>
        </p:nvSpPr>
        <p:spPr>
          <a:xfrm>
            <a:off x="9485236" y="2807022"/>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170" name="Google Shape;170;p9"/>
          <p:cNvSpPr/>
          <p:nvPr/>
        </p:nvSpPr>
        <p:spPr>
          <a:xfrm>
            <a:off x="11505030" y="2807022"/>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171" name="Google Shape;171;p9"/>
          <p:cNvSpPr/>
          <p:nvPr/>
        </p:nvSpPr>
        <p:spPr>
          <a:xfrm>
            <a:off x="13524825" y="2807022"/>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Binary post-output cascade</a:t>
            </a:r>
            <a:endParaRPr b="0" i="0" sz="1750" u="none" cap="none" strike="noStrike">
              <a:solidFill>
                <a:schemeClr val="dk1"/>
              </a:solidFill>
              <a:latin typeface="Calibri"/>
              <a:ea typeface="Calibri"/>
              <a:cs typeface="Calibri"/>
              <a:sym typeface="Calibri"/>
            </a:endParaRPr>
          </a:p>
        </p:txBody>
      </p:sp>
      <p:sp>
        <p:nvSpPr>
          <p:cNvPr id="172" name="Google Shape;172;p9"/>
          <p:cNvSpPr/>
          <p:nvPr/>
        </p:nvSpPr>
        <p:spPr>
          <a:xfrm>
            <a:off x="936375" y="3342487"/>
            <a:ext cx="16383000" cy="720900"/>
          </a:xfrm>
          <a:prstGeom prst="rect">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73" name="Google Shape;173;p9"/>
          <p:cNvSpPr/>
          <p:nvPr/>
        </p:nvSpPr>
        <p:spPr>
          <a:xfrm>
            <a:off x="936375" y="4053009"/>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74" name="Google Shape;174;p9"/>
          <p:cNvSpPr/>
          <p:nvPr/>
        </p:nvSpPr>
        <p:spPr>
          <a:xfrm>
            <a:off x="1088775" y="3527841"/>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Unified Routing (2025)</a:t>
            </a:r>
            <a:endParaRPr b="0" i="0" sz="1750" u="none" cap="none" strike="noStrike">
              <a:solidFill>
                <a:schemeClr val="dk1"/>
              </a:solidFill>
              <a:latin typeface="Calibri"/>
              <a:ea typeface="Calibri"/>
              <a:cs typeface="Calibri"/>
              <a:sym typeface="Calibri"/>
            </a:endParaRPr>
          </a:p>
        </p:txBody>
      </p:sp>
      <p:sp>
        <p:nvSpPr>
          <p:cNvPr id="175" name="Google Shape;175;p9"/>
          <p:cNvSpPr/>
          <p:nvPr/>
        </p:nvSpPr>
        <p:spPr>
          <a:xfrm>
            <a:off x="4455066" y="3527841"/>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Route / cascade</a:t>
            </a:r>
            <a:endParaRPr b="0" i="0" sz="1750" u="none" cap="none" strike="noStrike">
              <a:solidFill>
                <a:schemeClr val="dk1"/>
              </a:solidFill>
              <a:latin typeface="Calibri"/>
              <a:ea typeface="Calibri"/>
              <a:cs typeface="Calibri"/>
              <a:sym typeface="Calibri"/>
            </a:endParaRPr>
          </a:p>
        </p:txBody>
      </p:sp>
      <p:sp>
        <p:nvSpPr>
          <p:cNvPr id="176" name="Google Shape;176;p9"/>
          <p:cNvSpPr/>
          <p:nvPr/>
        </p:nvSpPr>
        <p:spPr>
          <a:xfrm>
            <a:off x="7540047" y="3527841"/>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Partly</a:t>
            </a:r>
            <a:endParaRPr b="0" i="0" sz="1750" u="none" cap="none" strike="noStrike">
              <a:solidFill>
                <a:schemeClr val="dk1"/>
              </a:solidFill>
              <a:latin typeface="Calibri"/>
              <a:ea typeface="Calibri"/>
              <a:cs typeface="Calibri"/>
              <a:sym typeface="Calibri"/>
            </a:endParaRPr>
          </a:p>
        </p:txBody>
      </p:sp>
      <p:sp>
        <p:nvSpPr>
          <p:cNvPr id="177" name="Google Shape;177;p9"/>
          <p:cNvSpPr/>
          <p:nvPr/>
        </p:nvSpPr>
        <p:spPr>
          <a:xfrm>
            <a:off x="9485236" y="3527841"/>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178" name="Google Shape;178;p9"/>
          <p:cNvSpPr/>
          <p:nvPr/>
        </p:nvSpPr>
        <p:spPr>
          <a:xfrm>
            <a:off x="11505030" y="3527841"/>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Quality est.</a:t>
            </a:r>
            <a:endParaRPr b="0" i="0" sz="1750" u="none" cap="none" strike="noStrike">
              <a:solidFill>
                <a:schemeClr val="dk1"/>
              </a:solidFill>
              <a:latin typeface="Calibri"/>
              <a:ea typeface="Calibri"/>
              <a:cs typeface="Calibri"/>
              <a:sym typeface="Calibri"/>
            </a:endParaRPr>
          </a:p>
        </p:txBody>
      </p:sp>
      <p:sp>
        <p:nvSpPr>
          <p:cNvPr id="179" name="Google Shape;179;p9"/>
          <p:cNvSpPr/>
          <p:nvPr/>
        </p:nvSpPr>
        <p:spPr>
          <a:xfrm>
            <a:off x="13524825" y="3527841"/>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Model-selection focus</a:t>
            </a:r>
            <a:endParaRPr b="0" i="0" sz="1750" u="none" cap="none" strike="noStrike">
              <a:solidFill>
                <a:schemeClr val="dk1"/>
              </a:solidFill>
              <a:latin typeface="Calibri"/>
              <a:ea typeface="Calibri"/>
              <a:cs typeface="Calibri"/>
              <a:sym typeface="Calibri"/>
            </a:endParaRPr>
          </a:p>
        </p:txBody>
      </p:sp>
      <p:sp>
        <p:nvSpPr>
          <p:cNvPr id="180" name="Google Shape;180;p9"/>
          <p:cNvSpPr/>
          <p:nvPr/>
        </p:nvSpPr>
        <p:spPr>
          <a:xfrm>
            <a:off x="936375" y="4063306"/>
            <a:ext cx="16383000" cy="720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1" name="Google Shape;181;p9"/>
          <p:cNvSpPr/>
          <p:nvPr/>
        </p:nvSpPr>
        <p:spPr>
          <a:xfrm>
            <a:off x="936375" y="4773828"/>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2" name="Google Shape;182;p9"/>
          <p:cNvSpPr/>
          <p:nvPr/>
        </p:nvSpPr>
        <p:spPr>
          <a:xfrm>
            <a:off x="1088775" y="4248660"/>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Confidence Tokens (2025)</a:t>
            </a:r>
            <a:endParaRPr b="0" i="0" sz="1750" u="none" cap="none" strike="noStrike">
              <a:solidFill>
                <a:schemeClr val="dk1"/>
              </a:solidFill>
              <a:latin typeface="Calibri"/>
              <a:ea typeface="Calibri"/>
              <a:cs typeface="Calibri"/>
              <a:sym typeface="Calibri"/>
            </a:endParaRPr>
          </a:p>
        </p:txBody>
      </p:sp>
      <p:sp>
        <p:nvSpPr>
          <p:cNvPr id="183" name="Google Shape;183;p9"/>
          <p:cNvSpPr/>
          <p:nvPr/>
        </p:nvSpPr>
        <p:spPr>
          <a:xfrm>
            <a:off x="4455066" y="4248660"/>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Accept / route</a:t>
            </a:r>
            <a:endParaRPr b="0" i="0" sz="1750" u="none" cap="none" strike="noStrike">
              <a:solidFill>
                <a:schemeClr val="dk1"/>
              </a:solidFill>
              <a:latin typeface="Calibri"/>
              <a:ea typeface="Calibri"/>
              <a:cs typeface="Calibri"/>
              <a:sym typeface="Calibri"/>
            </a:endParaRPr>
          </a:p>
        </p:txBody>
      </p:sp>
      <p:sp>
        <p:nvSpPr>
          <p:cNvPr id="184" name="Google Shape;184;p9"/>
          <p:cNvSpPr/>
          <p:nvPr/>
        </p:nvSpPr>
        <p:spPr>
          <a:xfrm>
            <a:off x="7540047" y="4248660"/>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185" name="Google Shape;185;p9"/>
          <p:cNvSpPr/>
          <p:nvPr/>
        </p:nvSpPr>
        <p:spPr>
          <a:xfrm>
            <a:off x="9485236" y="4248660"/>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186" name="Google Shape;186;p9"/>
          <p:cNvSpPr/>
          <p:nvPr/>
        </p:nvSpPr>
        <p:spPr>
          <a:xfrm>
            <a:off x="11505030" y="4248660"/>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Improved conf.</a:t>
            </a:r>
            <a:endParaRPr b="0" i="0" sz="1750" u="none" cap="none" strike="noStrike">
              <a:solidFill>
                <a:schemeClr val="dk1"/>
              </a:solidFill>
              <a:latin typeface="Calibri"/>
              <a:ea typeface="Calibri"/>
              <a:cs typeface="Calibri"/>
              <a:sym typeface="Calibri"/>
            </a:endParaRPr>
          </a:p>
        </p:txBody>
      </p:sp>
      <p:sp>
        <p:nvSpPr>
          <p:cNvPr id="187" name="Google Shape;187;p9"/>
          <p:cNvSpPr/>
          <p:nvPr/>
        </p:nvSpPr>
        <p:spPr>
          <a:xfrm>
            <a:off x="13524825" y="4248660"/>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 corrective-action outcome model</a:t>
            </a:r>
            <a:endParaRPr b="0" i="0" sz="1750" u="none" cap="none" strike="noStrike">
              <a:solidFill>
                <a:schemeClr val="dk1"/>
              </a:solidFill>
              <a:latin typeface="Calibri"/>
              <a:ea typeface="Calibri"/>
              <a:cs typeface="Calibri"/>
              <a:sym typeface="Calibri"/>
            </a:endParaRPr>
          </a:p>
        </p:txBody>
      </p:sp>
      <p:sp>
        <p:nvSpPr>
          <p:cNvPr id="188" name="Google Shape;188;p9"/>
          <p:cNvSpPr/>
          <p:nvPr/>
        </p:nvSpPr>
        <p:spPr>
          <a:xfrm>
            <a:off x="936375" y="4784125"/>
            <a:ext cx="16383000" cy="720900"/>
          </a:xfrm>
          <a:prstGeom prst="rect">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9" name="Google Shape;189;p9"/>
          <p:cNvSpPr/>
          <p:nvPr/>
        </p:nvSpPr>
        <p:spPr>
          <a:xfrm>
            <a:off x="936375" y="5494647"/>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90" name="Google Shape;190;p9"/>
          <p:cNvSpPr/>
          <p:nvPr/>
        </p:nvSpPr>
        <p:spPr>
          <a:xfrm>
            <a:off x="1088775" y="4969479"/>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Cluster–Route–Escalate (2026)</a:t>
            </a:r>
            <a:endParaRPr b="0" i="0" sz="1750" u="none" cap="none" strike="noStrike">
              <a:solidFill>
                <a:schemeClr val="dk1"/>
              </a:solidFill>
              <a:latin typeface="Calibri"/>
              <a:ea typeface="Calibri"/>
              <a:cs typeface="Calibri"/>
              <a:sym typeface="Calibri"/>
            </a:endParaRPr>
          </a:p>
        </p:txBody>
      </p:sp>
      <p:sp>
        <p:nvSpPr>
          <p:cNvPr id="191" name="Google Shape;191;p9"/>
          <p:cNvSpPr/>
          <p:nvPr/>
        </p:nvSpPr>
        <p:spPr>
          <a:xfrm>
            <a:off x="4455066" y="4969479"/>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Accept / escalate</a:t>
            </a:r>
            <a:endParaRPr b="0" i="0" sz="1750" u="none" cap="none" strike="noStrike">
              <a:solidFill>
                <a:schemeClr val="dk1"/>
              </a:solidFill>
              <a:latin typeface="Calibri"/>
              <a:ea typeface="Calibri"/>
              <a:cs typeface="Calibri"/>
              <a:sym typeface="Calibri"/>
            </a:endParaRPr>
          </a:p>
        </p:txBody>
      </p:sp>
      <p:sp>
        <p:nvSpPr>
          <p:cNvPr id="192" name="Google Shape;192;p9"/>
          <p:cNvSpPr/>
          <p:nvPr/>
        </p:nvSpPr>
        <p:spPr>
          <a:xfrm>
            <a:off x="7540047" y="4969479"/>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193" name="Google Shape;193;p9"/>
          <p:cNvSpPr/>
          <p:nvPr/>
        </p:nvSpPr>
        <p:spPr>
          <a:xfrm>
            <a:off x="9485236" y="4969479"/>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194" name="Google Shape;194;p9"/>
          <p:cNvSpPr/>
          <p:nvPr/>
        </p:nvSpPr>
        <p:spPr>
          <a:xfrm>
            <a:off x="11505030" y="4969479"/>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QE classifier</a:t>
            </a:r>
            <a:endParaRPr b="0" i="0" sz="1750" u="none" cap="none" strike="noStrike">
              <a:solidFill>
                <a:schemeClr val="dk1"/>
              </a:solidFill>
              <a:latin typeface="Calibri"/>
              <a:ea typeface="Calibri"/>
              <a:cs typeface="Calibri"/>
              <a:sym typeface="Calibri"/>
            </a:endParaRPr>
          </a:p>
        </p:txBody>
      </p:sp>
      <p:sp>
        <p:nvSpPr>
          <p:cNvPr id="195" name="Google Shape;195;p9"/>
          <p:cNvSpPr/>
          <p:nvPr/>
        </p:nvSpPr>
        <p:spPr>
          <a:xfrm>
            <a:off x="13524825" y="4969479"/>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 repair-vs-regenerate choice</a:t>
            </a:r>
            <a:endParaRPr b="0" i="0" sz="1750" u="none" cap="none" strike="noStrike">
              <a:solidFill>
                <a:schemeClr val="dk1"/>
              </a:solidFill>
              <a:latin typeface="Calibri"/>
              <a:ea typeface="Calibri"/>
              <a:cs typeface="Calibri"/>
              <a:sym typeface="Calibri"/>
            </a:endParaRPr>
          </a:p>
        </p:txBody>
      </p:sp>
      <p:sp>
        <p:nvSpPr>
          <p:cNvPr id="196" name="Google Shape;196;p9"/>
          <p:cNvSpPr/>
          <p:nvPr/>
        </p:nvSpPr>
        <p:spPr>
          <a:xfrm>
            <a:off x="936375" y="5504945"/>
            <a:ext cx="16383000" cy="720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97" name="Google Shape;197;p9"/>
          <p:cNvSpPr/>
          <p:nvPr/>
        </p:nvSpPr>
        <p:spPr>
          <a:xfrm>
            <a:off x="936375" y="6215466"/>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98" name="Google Shape;198;p9"/>
          <p:cNvSpPr/>
          <p:nvPr/>
        </p:nvSpPr>
        <p:spPr>
          <a:xfrm>
            <a:off x="1088775" y="5690298"/>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Conformal Cascade (2026)</a:t>
            </a:r>
            <a:endParaRPr b="0" i="0" sz="1750" u="none" cap="none" strike="noStrike">
              <a:solidFill>
                <a:schemeClr val="dk1"/>
              </a:solidFill>
              <a:latin typeface="Calibri"/>
              <a:ea typeface="Calibri"/>
              <a:cs typeface="Calibri"/>
              <a:sym typeface="Calibri"/>
            </a:endParaRPr>
          </a:p>
        </p:txBody>
      </p:sp>
      <p:sp>
        <p:nvSpPr>
          <p:cNvPr id="199" name="Google Shape;199;p9"/>
          <p:cNvSpPr/>
          <p:nvPr/>
        </p:nvSpPr>
        <p:spPr>
          <a:xfrm>
            <a:off x="4455066" y="5690298"/>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Accept / defer</a:t>
            </a:r>
            <a:endParaRPr b="0" i="0" sz="1750" u="none" cap="none" strike="noStrike">
              <a:solidFill>
                <a:schemeClr val="dk1"/>
              </a:solidFill>
              <a:latin typeface="Calibri"/>
              <a:ea typeface="Calibri"/>
              <a:cs typeface="Calibri"/>
              <a:sym typeface="Calibri"/>
            </a:endParaRPr>
          </a:p>
        </p:txBody>
      </p:sp>
      <p:sp>
        <p:nvSpPr>
          <p:cNvPr id="200" name="Google Shape;200;p9"/>
          <p:cNvSpPr/>
          <p:nvPr/>
        </p:nvSpPr>
        <p:spPr>
          <a:xfrm>
            <a:off x="7540047" y="5690298"/>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201" name="Google Shape;201;p9"/>
          <p:cNvSpPr/>
          <p:nvPr/>
        </p:nvSpPr>
        <p:spPr>
          <a:xfrm>
            <a:off x="9485236" y="5690298"/>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202" name="Google Shape;202;p9"/>
          <p:cNvSpPr/>
          <p:nvPr/>
        </p:nvSpPr>
        <p:spPr>
          <a:xfrm>
            <a:off x="11505030" y="5690298"/>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203" name="Google Shape;203;p9"/>
          <p:cNvSpPr/>
          <p:nvPr/>
        </p:nvSpPr>
        <p:spPr>
          <a:xfrm>
            <a:off x="13524825" y="5690298"/>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Calibrated but binary</a:t>
            </a:r>
            <a:endParaRPr b="0" i="0" sz="1750" u="none" cap="none" strike="noStrike">
              <a:solidFill>
                <a:schemeClr val="dk1"/>
              </a:solidFill>
              <a:latin typeface="Calibri"/>
              <a:ea typeface="Calibri"/>
              <a:cs typeface="Calibri"/>
              <a:sym typeface="Calibri"/>
            </a:endParaRPr>
          </a:p>
        </p:txBody>
      </p:sp>
      <p:sp>
        <p:nvSpPr>
          <p:cNvPr id="204" name="Google Shape;204;p9"/>
          <p:cNvSpPr/>
          <p:nvPr/>
        </p:nvSpPr>
        <p:spPr>
          <a:xfrm>
            <a:off x="936375" y="6225764"/>
            <a:ext cx="16383000" cy="720900"/>
          </a:xfrm>
          <a:prstGeom prst="rect">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05" name="Google Shape;205;p9"/>
          <p:cNvSpPr/>
          <p:nvPr/>
        </p:nvSpPr>
        <p:spPr>
          <a:xfrm>
            <a:off x="936375" y="6936285"/>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06" name="Google Shape;206;p9"/>
          <p:cNvSpPr/>
          <p:nvPr/>
        </p:nvSpPr>
        <p:spPr>
          <a:xfrm>
            <a:off x="1088775" y="6411117"/>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Resample or Reroute? (2026)</a:t>
            </a:r>
            <a:endParaRPr b="0" i="0" sz="1750" u="none" cap="none" strike="noStrike">
              <a:solidFill>
                <a:schemeClr val="dk1"/>
              </a:solidFill>
              <a:latin typeface="Calibri"/>
              <a:ea typeface="Calibri"/>
              <a:cs typeface="Calibri"/>
              <a:sym typeface="Calibri"/>
            </a:endParaRPr>
          </a:p>
        </p:txBody>
      </p:sp>
      <p:sp>
        <p:nvSpPr>
          <p:cNvPr id="207" name="Google Shape;207;p9"/>
          <p:cNvSpPr/>
          <p:nvPr/>
        </p:nvSpPr>
        <p:spPr>
          <a:xfrm>
            <a:off x="4455066" y="6411117"/>
            <a:ext cx="22401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Resample / reroute</a:t>
            </a:r>
            <a:endParaRPr b="0" i="0" sz="1750" u="none" cap="none" strike="noStrike">
              <a:solidFill>
                <a:schemeClr val="dk1"/>
              </a:solidFill>
              <a:latin typeface="Calibri"/>
              <a:ea typeface="Calibri"/>
              <a:cs typeface="Calibri"/>
              <a:sym typeface="Calibri"/>
            </a:endParaRPr>
          </a:p>
        </p:txBody>
      </p:sp>
      <p:sp>
        <p:nvSpPr>
          <p:cNvPr id="208" name="Google Shape;208;p9"/>
          <p:cNvSpPr/>
          <p:nvPr/>
        </p:nvSpPr>
        <p:spPr>
          <a:xfrm>
            <a:off x="7540047" y="6411117"/>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209" name="Google Shape;209;p9"/>
          <p:cNvSpPr/>
          <p:nvPr/>
        </p:nvSpPr>
        <p:spPr>
          <a:xfrm>
            <a:off x="9485236" y="6411117"/>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a:t>
            </a:r>
            <a:endParaRPr b="0" i="0" sz="1750" u="none" cap="none" strike="noStrike">
              <a:solidFill>
                <a:schemeClr val="dk1"/>
              </a:solidFill>
              <a:latin typeface="Calibri"/>
              <a:ea typeface="Calibri"/>
              <a:cs typeface="Calibri"/>
              <a:sym typeface="Calibri"/>
            </a:endParaRPr>
          </a:p>
        </p:txBody>
      </p:sp>
      <p:sp>
        <p:nvSpPr>
          <p:cNvPr id="210" name="Google Shape;210;p9"/>
          <p:cNvSpPr/>
          <p:nvPr/>
        </p:nvSpPr>
        <p:spPr>
          <a:xfrm>
            <a:off x="11505030" y="6411117"/>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Verifier-gated</a:t>
            </a:r>
            <a:endParaRPr b="0" i="0" sz="1750" u="none" cap="none" strike="noStrike">
              <a:solidFill>
                <a:schemeClr val="dk1"/>
              </a:solidFill>
              <a:latin typeface="Calibri"/>
              <a:ea typeface="Calibri"/>
              <a:cs typeface="Calibri"/>
              <a:sym typeface="Calibri"/>
            </a:endParaRPr>
          </a:p>
        </p:txBody>
      </p:sp>
      <p:sp>
        <p:nvSpPr>
          <p:cNvPr id="211" name="Google Shape;211;p9"/>
          <p:cNvSpPr/>
          <p:nvPr/>
        </p:nvSpPr>
        <p:spPr>
          <a:xfrm>
            <a:off x="13524825" y="6411117"/>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Budget actions, not repair</a:t>
            </a:r>
            <a:endParaRPr b="0" i="0" sz="1750" u="none" cap="none" strike="noStrike">
              <a:solidFill>
                <a:schemeClr val="dk1"/>
              </a:solidFill>
              <a:latin typeface="Calibri"/>
              <a:ea typeface="Calibri"/>
              <a:cs typeface="Calibri"/>
              <a:sym typeface="Calibri"/>
            </a:endParaRPr>
          </a:p>
        </p:txBody>
      </p:sp>
      <p:sp>
        <p:nvSpPr>
          <p:cNvPr id="212" name="Google Shape;212;p9"/>
          <p:cNvSpPr/>
          <p:nvPr/>
        </p:nvSpPr>
        <p:spPr>
          <a:xfrm>
            <a:off x="936375" y="6946583"/>
            <a:ext cx="16383000" cy="720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13" name="Google Shape;213;p9"/>
          <p:cNvSpPr/>
          <p:nvPr/>
        </p:nvSpPr>
        <p:spPr>
          <a:xfrm>
            <a:off x="936375" y="7657104"/>
            <a:ext cx="16383000" cy="15300"/>
          </a:xfrm>
          <a:prstGeom prst="rect">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14" name="Google Shape;214;p9"/>
          <p:cNvSpPr/>
          <p:nvPr/>
        </p:nvSpPr>
        <p:spPr>
          <a:xfrm>
            <a:off x="1088775" y="7131936"/>
            <a:ext cx="31626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Arimbur / Olausson</a:t>
            </a:r>
            <a:endParaRPr b="0" i="0" sz="1750" u="none" cap="none" strike="noStrike">
              <a:solidFill>
                <a:schemeClr val="dk1"/>
              </a:solidFill>
              <a:latin typeface="Calibri"/>
              <a:ea typeface="Calibri"/>
              <a:cs typeface="Calibri"/>
              <a:sym typeface="Calibri"/>
            </a:endParaRPr>
          </a:p>
        </p:txBody>
      </p:sp>
      <p:sp>
        <p:nvSpPr>
          <p:cNvPr id="215" name="Google Shape;215;p9"/>
          <p:cNvSpPr/>
          <p:nvPr/>
        </p:nvSpPr>
        <p:spPr>
          <a:xfrm>
            <a:off x="4455073" y="7131936"/>
            <a:ext cx="28188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Repair / resample studies</a:t>
            </a:r>
            <a:endParaRPr b="0" i="0" sz="1750" u="none" cap="none" strike="noStrike">
              <a:solidFill>
                <a:schemeClr val="dk1"/>
              </a:solidFill>
              <a:latin typeface="Calibri"/>
              <a:ea typeface="Calibri"/>
              <a:cs typeface="Calibri"/>
              <a:sym typeface="Calibri"/>
            </a:endParaRPr>
          </a:p>
        </p:txBody>
      </p:sp>
      <p:sp>
        <p:nvSpPr>
          <p:cNvPr id="216" name="Google Shape;216;p9"/>
          <p:cNvSpPr/>
          <p:nvPr/>
        </p:nvSpPr>
        <p:spPr>
          <a:xfrm>
            <a:off x="7540047" y="7131936"/>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217" name="Google Shape;217;p9"/>
          <p:cNvSpPr/>
          <p:nvPr/>
        </p:nvSpPr>
        <p:spPr>
          <a:xfrm>
            <a:off x="9485236" y="7131936"/>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Yes</a:t>
            </a:r>
            <a:endParaRPr b="0" i="0" sz="1750" u="none" cap="none" strike="noStrike">
              <a:solidFill>
                <a:schemeClr val="dk1"/>
              </a:solidFill>
              <a:latin typeface="Calibri"/>
              <a:ea typeface="Calibri"/>
              <a:cs typeface="Calibri"/>
              <a:sym typeface="Calibri"/>
            </a:endParaRPr>
          </a:p>
        </p:txBody>
      </p:sp>
      <p:sp>
        <p:nvSpPr>
          <p:cNvPr id="218" name="Google Shape;218;p9"/>
          <p:cNvSpPr/>
          <p:nvPr/>
        </p:nvSpPr>
        <p:spPr>
          <a:xfrm>
            <a:off x="11505030" y="7131936"/>
            <a:ext cx="17913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No selector</a:t>
            </a:r>
            <a:endParaRPr b="0" i="0" sz="1750" u="none" cap="none" strike="noStrike">
              <a:solidFill>
                <a:schemeClr val="dk1"/>
              </a:solidFill>
              <a:latin typeface="Calibri"/>
              <a:ea typeface="Calibri"/>
              <a:cs typeface="Calibri"/>
              <a:sym typeface="Calibri"/>
            </a:endParaRPr>
          </a:p>
        </p:txBody>
      </p:sp>
      <p:sp>
        <p:nvSpPr>
          <p:cNvPr id="219" name="Google Shape;219;p9"/>
          <p:cNvSpPr/>
          <p:nvPr/>
        </p:nvSpPr>
        <p:spPr>
          <a:xfrm>
            <a:off x="13524825" y="7131936"/>
            <a:ext cx="4318200" cy="40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350"/>
              <a:buFont typeface="Inter"/>
              <a:buNone/>
            </a:pPr>
            <a:r>
              <a:rPr b="0" i="0" lang="en-US" sz="1750" u="none" cap="none" strike="noStrike">
                <a:solidFill>
                  <a:srgbClr val="16324A"/>
                </a:solidFill>
                <a:latin typeface="Inter"/>
                <a:ea typeface="Inter"/>
                <a:cs typeface="Inter"/>
                <a:sym typeface="Inter"/>
              </a:rPr>
              <a:t>Shows repairability varies</a:t>
            </a:r>
            <a:endParaRPr b="0" i="0" sz="1750" u="none" cap="none" strike="noStrike">
              <a:solidFill>
                <a:schemeClr val="dk1"/>
              </a:solidFill>
              <a:latin typeface="Calibri"/>
              <a:ea typeface="Calibri"/>
              <a:cs typeface="Calibri"/>
              <a:sym typeface="Calibri"/>
            </a:endParaRPr>
          </a:p>
        </p:txBody>
      </p:sp>
      <p:sp>
        <p:nvSpPr>
          <p:cNvPr id="220" name="Google Shape;220;p9"/>
          <p:cNvSpPr/>
          <p:nvPr/>
        </p:nvSpPr>
        <p:spPr>
          <a:xfrm>
            <a:off x="936375" y="7699600"/>
            <a:ext cx="16383000" cy="1013381"/>
          </a:xfrm>
          <a:custGeom>
            <a:rect b="b" l="l" r="r" t="t"/>
            <a:pathLst>
              <a:path extrusionOk="0" h="539750" w="16383000">
                <a:moveTo>
                  <a:pt x="0" y="0"/>
                </a:moveTo>
                <a:lnTo>
                  <a:pt x="16383000" y="0"/>
                </a:lnTo>
                <a:lnTo>
                  <a:pt x="16383000" y="406400"/>
                </a:lnTo>
                <a:cubicBezTo>
                  <a:pt x="16383000" y="480047"/>
                  <a:pt x="16323297" y="539750"/>
                  <a:pt x="16249650" y="539750"/>
                </a:cubicBezTo>
                <a:lnTo>
                  <a:pt x="133350" y="539750"/>
                </a:lnTo>
                <a:cubicBezTo>
                  <a:pt x="59703" y="539750"/>
                  <a:pt x="0" y="480047"/>
                  <a:pt x="0" y="406400"/>
                </a:cubicBezTo>
                <a:lnTo>
                  <a:pt x="0" y="0"/>
                </a:lnTo>
                <a:close/>
              </a:path>
            </a:pathLst>
          </a:cu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21" name="Google Shape;221;p9"/>
          <p:cNvSpPr/>
          <p:nvPr/>
        </p:nvSpPr>
        <p:spPr>
          <a:xfrm>
            <a:off x="1088775" y="7915827"/>
            <a:ext cx="31626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oppins"/>
              <a:buNone/>
            </a:pPr>
            <a:r>
              <a:rPr b="1" i="0" lang="en-US" sz="1825" u="none" cap="none" strike="noStrike">
                <a:solidFill>
                  <a:srgbClr val="FFFFFF"/>
                </a:solidFill>
                <a:latin typeface="Poppins"/>
                <a:ea typeface="Poppins"/>
                <a:cs typeface="Poppins"/>
                <a:sym typeface="Poppins"/>
              </a:rPr>
              <a:t>TRACER</a:t>
            </a:r>
            <a:endParaRPr b="0" i="0" sz="1825" u="none" cap="none" strike="noStrike">
              <a:solidFill>
                <a:schemeClr val="dk1"/>
              </a:solidFill>
              <a:latin typeface="Calibri"/>
              <a:ea typeface="Calibri"/>
              <a:cs typeface="Calibri"/>
              <a:sym typeface="Calibri"/>
            </a:endParaRPr>
          </a:p>
        </p:txBody>
      </p:sp>
      <p:sp>
        <p:nvSpPr>
          <p:cNvPr id="222" name="Google Shape;222;p9"/>
          <p:cNvSpPr/>
          <p:nvPr/>
        </p:nvSpPr>
        <p:spPr>
          <a:xfrm>
            <a:off x="4455073" y="7915837"/>
            <a:ext cx="28188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1" i="0" lang="en-US" sz="1750" u="none" cap="none" strike="noStrike">
                <a:solidFill>
                  <a:srgbClr val="DEEBF7"/>
                </a:solidFill>
                <a:latin typeface="Inter"/>
                <a:ea typeface="Inter"/>
                <a:cs typeface="Inter"/>
                <a:sym typeface="Inter"/>
              </a:rPr>
              <a:t>Accept / repair / regen</a:t>
            </a:r>
            <a:r>
              <a:rPr b="1" lang="en-US" sz="1750">
                <a:solidFill>
                  <a:srgbClr val="DEEBF7"/>
                </a:solidFill>
                <a:latin typeface="Inter"/>
                <a:ea typeface="Inter"/>
                <a:cs typeface="Inter"/>
                <a:sym typeface="Inter"/>
              </a:rPr>
              <a:t>erate</a:t>
            </a:r>
            <a:endParaRPr b="1" i="0" sz="1750" u="none" cap="none" strike="noStrike">
              <a:solidFill>
                <a:schemeClr val="dk1"/>
              </a:solidFill>
              <a:latin typeface="Calibri"/>
              <a:ea typeface="Calibri"/>
              <a:cs typeface="Calibri"/>
              <a:sym typeface="Calibri"/>
            </a:endParaRPr>
          </a:p>
        </p:txBody>
      </p:sp>
      <p:sp>
        <p:nvSpPr>
          <p:cNvPr id="223" name="Google Shape;223;p9"/>
          <p:cNvSpPr/>
          <p:nvPr/>
        </p:nvSpPr>
        <p:spPr>
          <a:xfrm>
            <a:off x="7540047" y="7915827"/>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1" i="0" lang="en-US" sz="1750" u="none" cap="none" strike="noStrike">
                <a:solidFill>
                  <a:srgbClr val="DEEBF7"/>
                </a:solidFill>
                <a:latin typeface="Inter"/>
                <a:ea typeface="Inter"/>
                <a:cs typeface="Inter"/>
                <a:sym typeface="Inter"/>
              </a:rPr>
              <a:t>Yes</a:t>
            </a:r>
            <a:endParaRPr b="1" i="0" sz="1750" u="none" cap="none" strike="noStrike">
              <a:solidFill>
                <a:schemeClr val="dk1"/>
              </a:solidFill>
              <a:latin typeface="Calibri"/>
              <a:ea typeface="Calibri"/>
              <a:cs typeface="Calibri"/>
              <a:sym typeface="Calibri"/>
            </a:endParaRPr>
          </a:p>
        </p:txBody>
      </p:sp>
      <p:sp>
        <p:nvSpPr>
          <p:cNvPr id="224" name="Google Shape;224;p9"/>
          <p:cNvSpPr/>
          <p:nvPr/>
        </p:nvSpPr>
        <p:spPr>
          <a:xfrm>
            <a:off x="9485236" y="7915827"/>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1" i="0" lang="en-US" sz="1750" u="none" cap="none" strike="noStrike">
                <a:solidFill>
                  <a:srgbClr val="DEEBF7"/>
                </a:solidFill>
                <a:latin typeface="Inter"/>
                <a:ea typeface="Inter"/>
                <a:cs typeface="Inter"/>
                <a:sym typeface="Inter"/>
              </a:rPr>
              <a:t>Yes</a:t>
            </a:r>
            <a:endParaRPr b="1" i="0" sz="1750" u="none" cap="none" strike="noStrike">
              <a:solidFill>
                <a:schemeClr val="dk1"/>
              </a:solidFill>
              <a:latin typeface="Calibri"/>
              <a:ea typeface="Calibri"/>
              <a:cs typeface="Calibri"/>
              <a:sym typeface="Calibri"/>
            </a:endParaRPr>
          </a:p>
        </p:txBody>
      </p:sp>
      <p:sp>
        <p:nvSpPr>
          <p:cNvPr id="225" name="Google Shape;225;p9"/>
          <p:cNvSpPr/>
          <p:nvPr/>
        </p:nvSpPr>
        <p:spPr>
          <a:xfrm>
            <a:off x="11505030" y="7915827"/>
            <a:ext cx="17913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1" i="0" lang="en-US" sz="1750" u="none" cap="none" strike="noStrike">
                <a:solidFill>
                  <a:srgbClr val="DEEBF7"/>
                </a:solidFill>
                <a:latin typeface="Inter"/>
                <a:ea typeface="Inter"/>
                <a:cs typeface="Inter"/>
                <a:sym typeface="Inter"/>
              </a:rPr>
              <a:t>Yes, per action</a:t>
            </a:r>
            <a:endParaRPr b="1" i="0" sz="1750" u="none" cap="none" strike="noStrike">
              <a:solidFill>
                <a:schemeClr val="dk1"/>
              </a:solidFill>
              <a:latin typeface="Calibri"/>
              <a:ea typeface="Calibri"/>
              <a:cs typeface="Calibri"/>
              <a:sym typeface="Calibri"/>
            </a:endParaRPr>
          </a:p>
        </p:txBody>
      </p:sp>
      <p:sp>
        <p:nvSpPr>
          <p:cNvPr id="226" name="Google Shape;226;p9"/>
          <p:cNvSpPr/>
          <p:nvPr/>
        </p:nvSpPr>
        <p:spPr>
          <a:xfrm>
            <a:off x="13524825" y="7915827"/>
            <a:ext cx="4318200" cy="504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1" i="0" lang="en-US" sz="1750" u="none" cap="none" strike="noStrike">
                <a:solidFill>
                  <a:srgbClr val="DEEBF7"/>
                </a:solidFill>
                <a:latin typeface="Inter"/>
                <a:ea typeface="Inter"/>
                <a:cs typeface="Inter"/>
                <a:sym typeface="Inter"/>
              </a:rPr>
              <a:t>Action-specific residual risk</a:t>
            </a:r>
            <a:endParaRPr b="1" i="0" sz="1750" u="none" cap="none" strike="noStrike">
              <a:solidFill>
                <a:schemeClr val="dk1"/>
              </a:solidFill>
              <a:latin typeface="Calibri"/>
              <a:ea typeface="Calibri"/>
              <a:cs typeface="Calibri"/>
              <a:sym typeface="Calibri"/>
            </a:endParaRPr>
          </a:p>
        </p:txBody>
      </p:sp>
      <p:sp>
        <p:nvSpPr>
          <p:cNvPr id="227" name="Google Shape;227;p9"/>
          <p:cNvSpPr/>
          <p:nvPr/>
        </p:nvSpPr>
        <p:spPr>
          <a:xfrm>
            <a:off x="952500" y="9442450"/>
            <a:ext cx="16874400" cy="40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200"/>
              <a:buFont typeface="Inter"/>
              <a:buNone/>
            </a:pPr>
            <a:r>
              <a:rPr b="0" i="0" lang="en-US" sz="1200" u="none" cap="none" strike="noStrike">
                <a:solidFill>
                  <a:srgbClr val="4A6785"/>
                </a:solidFill>
                <a:latin typeface="Inter"/>
                <a:ea typeface="Inter"/>
                <a:cs typeface="Inter"/>
                <a:sym typeface="Inter"/>
              </a:rPr>
              <a:t>Sources: AutoMix (NeurIPS 2024) • Dekoninck et al. (ICML 2025) • Chuang et al. (ICML 2025) • Moslem et al. (2026, preprint) • Dou et al. (2026, preprint) • Chen (2026, preprint) • Olausson et al. (ICLR 2024) • Arimbur (2026, preprint)</a:t>
            </a:r>
            <a:endParaRPr b="0" i="0" sz="1200" u="none" cap="none" strike="noStrike">
              <a:solidFill>
                <a:schemeClr val="dk1"/>
              </a:solidFill>
              <a:latin typeface="Calibri"/>
              <a:ea typeface="Calibri"/>
              <a:cs typeface="Calibri"/>
              <a:sym typeface="Calibri"/>
            </a:endParaRPr>
          </a:p>
        </p:txBody>
      </p:sp>
      <p:pic>
        <p:nvPicPr>
          <p:cNvPr id="228" name="Google Shape;228;p9"/>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4594"/>
        </a:solidFill>
      </p:bgPr>
    </p:bg>
    <p:spTree>
      <p:nvGrpSpPr>
        <p:cNvPr id="233" name="Shape 233"/>
        <p:cNvGrpSpPr/>
        <p:nvPr/>
      </p:nvGrpSpPr>
      <p:grpSpPr>
        <a:xfrm>
          <a:off x="0" y="0"/>
          <a:ext cx="0" cy="0"/>
          <a:chOff x="0" y="0"/>
          <a:chExt cx="0" cy="0"/>
        </a:xfrm>
      </p:grpSpPr>
      <p:pic>
        <p:nvPicPr>
          <p:cNvPr descr="preencoded.png" id="234" name="Google Shape;234;p10"/>
          <p:cNvPicPr preferRelativeResize="0"/>
          <p:nvPr/>
        </p:nvPicPr>
        <p:blipFill rotWithShape="1">
          <a:blip r:embed="rId3">
            <a:alphaModFix amt="25000"/>
          </a:blip>
          <a:srcRect b="0" l="0" r="0" t="0"/>
          <a:stretch/>
        </p:blipFill>
        <p:spPr>
          <a:xfrm>
            <a:off x="14287500" y="6477000"/>
            <a:ext cx="5715000" cy="5715000"/>
          </a:xfrm>
          <a:prstGeom prst="rect">
            <a:avLst/>
          </a:prstGeom>
          <a:noFill/>
          <a:ln>
            <a:noFill/>
          </a:ln>
        </p:spPr>
      </p:pic>
      <p:sp>
        <p:nvSpPr>
          <p:cNvPr id="235" name="Google Shape;235;p10"/>
          <p:cNvSpPr/>
          <p:nvPr/>
        </p:nvSpPr>
        <p:spPr>
          <a:xfrm>
            <a:off x="1143000" y="1301750"/>
            <a:ext cx="98871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750"/>
              <a:buFont typeface="Poppins"/>
              <a:buNone/>
            </a:pPr>
            <a:r>
              <a:rPr b="1" i="0" lang="en-US" sz="3750" u="none" cap="none" strike="noStrike">
                <a:solidFill>
                  <a:srgbClr val="FFFFFF"/>
                </a:solidFill>
                <a:latin typeface="Poppins"/>
                <a:ea typeface="Poppins"/>
                <a:cs typeface="Poppins"/>
                <a:sym typeface="Poppins"/>
              </a:rPr>
              <a:t>Aim, Hypothesis, and Project Goals</a:t>
            </a:r>
            <a:endParaRPr b="0" i="0" sz="3750" u="none" cap="none" strike="noStrike">
              <a:solidFill>
                <a:schemeClr val="dk1"/>
              </a:solidFill>
              <a:latin typeface="Calibri"/>
              <a:ea typeface="Calibri"/>
              <a:cs typeface="Calibri"/>
              <a:sym typeface="Calibri"/>
            </a:endParaRPr>
          </a:p>
        </p:txBody>
      </p:sp>
      <p:sp>
        <p:nvSpPr>
          <p:cNvPr id="236" name="Google Shape;236;p10"/>
          <p:cNvSpPr/>
          <p:nvPr/>
        </p:nvSpPr>
        <p:spPr>
          <a:xfrm>
            <a:off x="1143000" y="2438400"/>
            <a:ext cx="7772400" cy="2850600"/>
          </a:xfrm>
          <a:prstGeom prst="roundRect">
            <a:avLst>
              <a:gd fmla="val 11420" name="adj"/>
            </a:avLst>
          </a:prstGeom>
          <a:solidFill>
            <a:srgbClr val="FFFFFF">
              <a:alpha val="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1466850" y="2762250"/>
            <a:ext cx="7837200" cy="31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425"/>
              <a:buFont typeface="Poppins"/>
              <a:buNone/>
            </a:pPr>
            <a:r>
              <a:rPr b="1" i="0" lang="en-US" sz="1925" u="none" cap="none" strike="noStrike">
                <a:solidFill>
                  <a:srgbClr val="9ECAE1"/>
                </a:solidFill>
                <a:latin typeface="Poppins"/>
                <a:ea typeface="Poppins"/>
                <a:cs typeface="Poppins"/>
                <a:sym typeface="Poppins"/>
              </a:rPr>
              <a:t>Research aim</a:t>
            </a:r>
            <a:endParaRPr b="0" i="0" sz="1925" u="none" cap="none" strike="noStrike">
              <a:solidFill>
                <a:schemeClr val="dk1"/>
              </a:solidFill>
              <a:latin typeface="Calibri"/>
              <a:ea typeface="Calibri"/>
              <a:cs typeface="Calibri"/>
              <a:sym typeface="Calibri"/>
            </a:endParaRPr>
          </a:p>
        </p:txBody>
      </p:sp>
      <p:sp>
        <p:nvSpPr>
          <p:cNvPr id="238" name="Google Shape;238;p10"/>
          <p:cNvSpPr/>
          <p:nvPr/>
        </p:nvSpPr>
        <p:spPr>
          <a:xfrm>
            <a:off x="1466850" y="3259284"/>
            <a:ext cx="7338300" cy="20298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025" u="none" cap="none" strike="noStrike">
                <a:solidFill>
                  <a:srgbClr val="FFFFFF"/>
                </a:solidFill>
                <a:latin typeface="Inter"/>
                <a:ea typeface="Inter"/>
                <a:cs typeface="Inter"/>
                <a:sym typeface="Inter"/>
              </a:rPr>
              <a:t>Develop and evaluate a calibrated ML model that estimates the residual failure risk of ACCEPT, REPAIR, and REGENERATE, then selects the action with the lowest predicted risk.</a:t>
            </a:r>
            <a:endParaRPr b="0" i="0" sz="2025" u="none" cap="none" strike="noStrike">
              <a:solidFill>
                <a:schemeClr val="dk1"/>
              </a:solidFill>
              <a:latin typeface="Calibri"/>
              <a:ea typeface="Calibri"/>
              <a:cs typeface="Calibri"/>
              <a:sym typeface="Calibri"/>
            </a:endParaRPr>
          </a:p>
        </p:txBody>
      </p:sp>
      <p:sp>
        <p:nvSpPr>
          <p:cNvPr id="239" name="Google Shape;239;p10"/>
          <p:cNvSpPr/>
          <p:nvPr/>
        </p:nvSpPr>
        <p:spPr>
          <a:xfrm>
            <a:off x="9372600" y="2438400"/>
            <a:ext cx="7772400" cy="2850600"/>
          </a:xfrm>
          <a:prstGeom prst="roundRect">
            <a:avLst>
              <a:gd fmla="val 11420" name="adj"/>
            </a:avLst>
          </a:prstGeom>
          <a:solidFill>
            <a:srgbClr val="FFFFFF">
              <a:alpha val="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9696450" y="2762250"/>
            <a:ext cx="7837200" cy="31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425"/>
              <a:buFont typeface="Poppins"/>
              <a:buNone/>
            </a:pPr>
            <a:r>
              <a:rPr b="1" i="0" lang="en-US" sz="1925" u="none" cap="none" strike="noStrike">
                <a:solidFill>
                  <a:srgbClr val="9ECAE1"/>
                </a:solidFill>
                <a:latin typeface="Poppins"/>
                <a:ea typeface="Poppins"/>
                <a:cs typeface="Poppins"/>
                <a:sym typeface="Poppins"/>
              </a:rPr>
              <a:t>Hypothesis</a:t>
            </a:r>
            <a:endParaRPr b="0" i="0" sz="1925" u="none" cap="none" strike="noStrike">
              <a:solidFill>
                <a:schemeClr val="dk1"/>
              </a:solidFill>
              <a:latin typeface="Calibri"/>
              <a:ea typeface="Calibri"/>
              <a:cs typeface="Calibri"/>
              <a:sym typeface="Calibri"/>
            </a:endParaRPr>
          </a:p>
        </p:txBody>
      </p:sp>
      <p:sp>
        <p:nvSpPr>
          <p:cNvPr id="241" name="Google Shape;241;p10"/>
          <p:cNvSpPr/>
          <p:nvPr/>
        </p:nvSpPr>
        <p:spPr>
          <a:xfrm>
            <a:off x="9696450" y="3259284"/>
            <a:ext cx="7338300" cy="20298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025" u="none" cap="none" strike="noStrike">
                <a:solidFill>
                  <a:srgbClr val="FFFFFF"/>
                </a:solidFill>
                <a:latin typeface="Inter"/>
                <a:ea typeface="Inter"/>
                <a:cs typeface="Inter"/>
                <a:sym typeface="Inter"/>
              </a:rPr>
              <a:t>A calibrated action-conditional risk model will reduce final incorrect responses and false acceptance compared with binary accept/escalate and fixed-action baselines.</a:t>
            </a:r>
            <a:endParaRPr b="0" i="0" sz="2025" u="none" cap="none" strike="noStrike">
              <a:solidFill>
                <a:schemeClr val="dk1"/>
              </a:solidFill>
              <a:latin typeface="Calibri"/>
              <a:ea typeface="Calibri"/>
              <a:cs typeface="Calibri"/>
              <a:sym typeface="Calibri"/>
            </a:endParaRPr>
          </a:p>
        </p:txBody>
      </p:sp>
      <p:sp>
        <p:nvSpPr>
          <p:cNvPr id="242" name="Google Shape;242;p10"/>
          <p:cNvSpPr/>
          <p:nvPr/>
        </p:nvSpPr>
        <p:spPr>
          <a:xfrm>
            <a:off x="1143000" y="5864700"/>
            <a:ext cx="4860000" cy="31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425"/>
              <a:buFont typeface="Poppins"/>
              <a:buNone/>
            </a:pPr>
            <a:r>
              <a:rPr b="1" i="0" lang="en-US" sz="2225" u="none" cap="none" strike="noStrike">
                <a:solidFill>
                  <a:srgbClr val="9ECAE1"/>
                </a:solidFill>
                <a:latin typeface="Poppins"/>
                <a:ea typeface="Poppins"/>
                <a:cs typeface="Poppins"/>
                <a:sym typeface="Poppins"/>
              </a:rPr>
              <a:t>Project goals</a:t>
            </a:r>
            <a:endParaRPr b="0" i="0" sz="2225" u="none" cap="none" strike="noStrike">
              <a:solidFill>
                <a:schemeClr val="dk1"/>
              </a:solidFill>
              <a:latin typeface="Calibri"/>
              <a:ea typeface="Calibri"/>
              <a:cs typeface="Calibri"/>
              <a:sym typeface="Calibri"/>
            </a:endParaRPr>
          </a:p>
        </p:txBody>
      </p:sp>
      <p:sp>
        <p:nvSpPr>
          <p:cNvPr id="243" name="Google Shape;243;p10"/>
          <p:cNvSpPr/>
          <p:nvPr/>
        </p:nvSpPr>
        <p:spPr>
          <a:xfrm>
            <a:off x="1143000" y="6456625"/>
            <a:ext cx="5120700" cy="1402500"/>
          </a:xfrm>
          <a:prstGeom prst="roundRect">
            <a:avLst>
              <a:gd fmla="val 12849" name="adj"/>
            </a:avLst>
          </a:prstGeom>
          <a:solidFill>
            <a:srgbClr val="FFFFFF"/>
          </a:solidFill>
          <a:ln>
            <a:noFill/>
          </a:ln>
        </p:spPr>
        <p:txBody>
          <a:bodyPr anchorCtr="0" anchor="ctr" bIns="108100" lIns="108100" spcFirstLastPara="1" rIns="108100" wrap="square" tIns="108100">
            <a:noAutofit/>
          </a:bodyPr>
          <a:lstStyle/>
          <a:p>
            <a:pPr indent="0" lvl="0" marL="0" rtl="0" algn="l">
              <a:spcBef>
                <a:spcPts val="0"/>
              </a:spcBef>
              <a:spcAft>
                <a:spcPts val="0"/>
              </a:spcAft>
              <a:buNone/>
            </a:pPr>
            <a:r>
              <a:t/>
            </a:r>
            <a:endParaRPr/>
          </a:p>
        </p:txBody>
      </p:sp>
      <p:sp>
        <p:nvSpPr>
          <p:cNvPr id="244" name="Google Shape;244;p10"/>
          <p:cNvSpPr/>
          <p:nvPr/>
        </p:nvSpPr>
        <p:spPr>
          <a:xfrm>
            <a:off x="1431032" y="6689357"/>
            <a:ext cx="419400" cy="293100"/>
          </a:xfrm>
          <a:prstGeom prst="rect">
            <a:avLst/>
          </a:prstGeom>
          <a:noFill/>
          <a:ln>
            <a:noFill/>
          </a:ln>
        </p:spPr>
        <p:txBody>
          <a:bodyPr anchorCtr="0" anchor="t" bIns="30025" lIns="30025" spcFirstLastPara="1" rIns="30025" wrap="square" tIns="30025">
            <a:noAutofit/>
          </a:bodyPr>
          <a:lstStyle/>
          <a:p>
            <a:pPr indent="0" lvl="0" marL="0" marR="0" rtl="0" algn="l">
              <a:spcBef>
                <a:spcPts val="0"/>
              </a:spcBef>
              <a:spcAft>
                <a:spcPts val="0"/>
              </a:spcAft>
              <a:buClr>
                <a:srgbClr val="2171B5"/>
              </a:buClr>
              <a:buSzPts val="1419"/>
              <a:buFont typeface="Poppins"/>
              <a:buNone/>
            </a:pPr>
            <a:r>
              <a:rPr b="1" i="0" lang="en-US" sz="1419" u="none" cap="none" strike="noStrike">
                <a:solidFill>
                  <a:srgbClr val="2171B5"/>
                </a:solidFill>
                <a:latin typeface="Poppins"/>
                <a:ea typeface="Poppins"/>
                <a:cs typeface="Poppins"/>
                <a:sym typeface="Poppins"/>
              </a:rPr>
              <a:t>G1</a:t>
            </a:r>
            <a:endParaRPr b="0" i="0" sz="1419" u="none" cap="none" strike="noStrike">
              <a:solidFill>
                <a:schemeClr val="dk1"/>
              </a:solidFill>
              <a:latin typeface="Calibri"/>
              <a:ea typeface="Calibri"/>
              <a:cs typeface="Calibri"/>
              <a:sym typeface="Calibri"/>
            </a:endParaRPr>
          </a:p>
        </p:txBody>
      </p:sp>
      <p:sp>
        <p:nvSpPr>
          <p:cNvPr id="245" name="Google Shape;245;p10"/>
          <p:cNvSpPr/>
          <p:nvPr/>
        </p:nvSpPr>
        <p:spPr>
          <a:xfrm>
            <a:off x="1431032" y="7034701"/>
            <a:ext cx="4681200" cy="644100"/>
          </a:xfrm>
          <a:prstGeom prst="rect">
            <a:avLst/>
          </a:prstGeom>
          <a:noFill/>
          <a:ln>
            <a:noFill/>
          </a:ln>
        </p:spPr>
        <p:txBody>
          <a:bodyPr anchorCtr="0" anchor="t" bIns="30025" lIns="30025" spcFirstLastPara="1" rIns="30025" wrap="square" tIns="30025">
            <a:noAutofit/>
          </a:bodyPr>
          <a:lstStyle/>
          <a:p>
            <a:pPr indent="0" lvl="0" marL="0" marR="0" rtl="0" algn="l">
              <a:lnSpc>
                <a:spcPct val="114000"/>
              </a:lnSpc>
              <a:spcBef>
                <a:spcPts val="0"/>
              </a:spcBef>
              <a:spcAft>
                <a:spcPts val="0"/>
              </a:spcAft>
              <a:buClr>
                <a:srgbClr val="16324A"/>
              </a:buClr>
              <a:buSzPts val="1685"/>
              <a:buFont typeface="Inter"/>
              <a:buNone/>
            </a:pPr>
            <a:r>
              <a:rPr b="0" i="0" lang="en-US" sz="1685" u="none" cap="none" strike="noStrike">
                <a:solidFill>
                  <a:srgbClr val="16324A"/>
                </a:solidFill>
                <a:latin typeface="Inter"/>
                <a:ea typeface="Inter"/>
                <a:cs typeface="Inter"/>
                <a:sym typeface="Inter"/>
              </a:rPr>
              <a:t>Build a reproducible SLM → risk estimator → action pipeline</a:t>
            </a:r>
            <a:endParaRPr b="0" i="0" sz="1685" u="none" cap="none" strike="noStrike">
              <a:solidFill>
                <a:schemeClr val="dk1"/>
              </a:solidFill>
              <a:latin typeface="Calibri"/>
              <a:ea typeface="Calibri"/>
              <a:cs typeface="Calibri"/>
              <a:sym typeface="Calibri"/>
            </a:endParaRPr>
          </a:p>
        </p:txBody>
      </p:sp>
      <p:sp>
        <p:nvSpPr>
          <p:cNvPr id="246" name="Google Shape;246;p10"/>
          <p:cNvSpPr/>
          <p:nvPr/>
        </p:nvSpPr>
        <p:spPr>
          <a:xfrm>
            <a:off x="6583611" y="6456625"/>
            <a:ext cx="5120700" cy="1402500"/>
          </a:xfrm>
          <a:prstGeom prst="roundRect">
            <a:avLst>
              <a:gd fmla="val 12849" name="adj"/>
            </a:avLst>
          </a:prstGeom>
          <a:solidFill>
            <a:srgbClr val="FFFFFF"/>
          </a:solidFill>
          <a:ln>
            <a:noFill/>
          </a:ln>
        </p:spPr>
        <p:txBody>
          <a:bodyPr anchorCtr="0" anchor="ctr" bIns="108100" lIns="108100" spcFirstLastPara="1" rIns="108100" wrap="square" tIns="108100">
            <a:noAutofit/>
          </a:bodyPr>
          <a:lstStyle/>
          <a:p>
            <a:pPr indent="0" lvl="0" marL="0" rtl="0" algn="l">
              <a:spcBef>
                <a:spcPts val="0"/>
              </a:spcBef>
              <a:spcAft>
                <a:spcPts val="0"/>
              </a:spcAft>
              <a:buNone/>
            </a:pPr>
            <a:r>
              <a:t/>
            </a:r>
            <a:endParaRPr/>
          </a:p>
        </p:txBody>
      </p:sp>
      <p:sp>
        <p:nvSpPr>
          <p:cNvPr id="247" name="Google Shape;247;p10"/>
          <p:cNvSpPr/>
          <p:nvPr/>
        </p:nvSpPr>
        <p:spPr>
          <a:xfrm>
            <a:off x="6871644" y="6689357"/>
            <a:ext cx="468900" cy="293100"/>
          </a:xfrm>
          <a:prstGeom prst="rect">
            <a:avLst/>
          </a:prstGeom>
          <a:noFill/>
          <a:ln>
            <a:noFill/>
          </a:ln>
        </p:spPr>
        <p:txBody>
          <a:bodyPr anchorCtr="0" anchor="t" bIns="30025" lIns="30025" spcFirstLastPara="1" rIns="30025" wrap="square" tIns="30025">
            <a:noAutofit/>
          </a:bodyPr>
          <a:lstStyle/>
          <a:p>
            <a:pPr indent="0" lvl="0" marL="0" marR="0" rtl="0" algn="l">
              <a:spcBef>
                <a:spcPts val="0"/>
              </a:spcBef>
              <a:spcAft>
                <a:spcPts val="0"/>
              </a:spcAft>
              <a:buClr>
                <a:srgbClr val="2171B5"/>
              </a:buClr>
              <a:buSzPts val="1419"/>
              <a:buFont typeface="Poppins"/>
              <a:buNone/>
            </a:pPr>
            <a:r>
              <a:rPr b="1" i="0" lang="en-US" sz="1419" u="none" cap="none" strike="noStrike">
                <a:solidFill>
                  <a:srgbClr val="2171B5"/>
                </a:solidFill>
                <a:latin typeface="Poppins"/>
                <a:ea typeface="Poppins"/>
                <a:cs typeface="Poppins"/>
                <a:sym typeface="Poppins"/>
              </a:rPr>
              <a:t>G2</a:t>
            </a:r>
            <a:endParaRPr b="0" i="0" sz="1419" u="none" cap="none" strike="noStrike">
              <a:solidFill>
                <a:schemeClr val="dk1"/>
              </a:solidFill>
              <a:latin typeface="Calibri"/>
              <a:ea typeface="Calibri"/>
              <a:cs typeface="Calibri"/>
              <a:sym typeface="Calibri"/>
            </a:endParaRPr>
          </a:p>
        </p:txBody>
      </p:sp>
      <p:sp>
        <p:nvSpPr>
          <p:cNvPr id="248" name="Google Shape;248;p10"/>
          <p:cNvSpPr/>
          <p:nvPr/>
        </p:nvSpPr>
        <p:spPr>
          <a:xfrm>
            <a:off x="6871644" y="7034701"/>
            <a:ext cx="4681200" cy="644100"/>
          </a:xfrm>
          <a:prstGeom prst="rect">
            <a:avLst/>
          </a:prstGeom>
          <a:noFill/>
          <a:ln>
            <a:noFill/>
          </a:ln>
        </p:spPr>
        <p:txBody>
          <a:bodyPr anchorCtr="0" anchor="t" bIns="30025" lIns="30025" spcFirstLastPara="1" rIns="30025" wrap="square" tIns="30025">
            <a:noAutofit/>
          </a:bodyPr>
          <a:lstStyle/>
          <a:p>
            <a:pPr indent="0" lvl="0" marL="0" marR="0" rtl="0" algn="l">
              <a:lnSpc>
                <a:spcPct val="114000"/>
              </a:lnSpc>
              <a:spcBef>
                <a:spcPts val="0"/>
              </a:spcBef>
              <a:spcAft>
                <a:spcPts val="0"/>
              </a:spcAft>
              <a:buClr>
                <a:srgbClr val="16324A"/>
              </a:buClr>
              <a:buSzPts val="1685"/>
              <a:buFont typeface="Inter"/>
              <a:buNone/>
            </a:pPr>
            <a:r>
              <a:rPr b="0" i="0" lang="en-US" sz="1685" u="none" cap="none" strike="noStrike">
                <a:solidFill>
                  <a:srgbClr val="16324A"/>
                </a:solidFill>
                <a:latin typeface="Inter"/>
                <a:ea typeface="Inter"/>
                <a:cs typeface="Inter"/>
                <a:sym typeface="Inter"/>
              </a:rPr>
              <a:t>Create offline action-outcome data for all three actions</a:t>
            </a:r>
            <a:endParaRPr b="0" i="0" sz="1685" u="none" cap="none" strike="noStrike">
              <a:solidFill>
                <a:schemeClr val="dk1"/>
              </a:solidFill>
              <a:latin typeface="Calibri"/>
              <a:ea typeface="Calibri"/>
              <a:cs typeface="Calibri"/>
              <a:sym typeface="Calibri"/>
            </a:endParaRPr>
          </a:p>
        </p:txBody>
      </p:sp>
      <p:sp>
        <p:nvSpPr>
          <p:cNvPr id="249" name="Google Shape;249;p10"/>
          <p:cNvSpPr/>
          <p:nvPr/>
        </p:nvSpPr>
        <p:spPr>
          <a:xfrm>
            <a:off x="12024223" y="6456625"/>
            <a:ext cx="5120700" cy="1402500"/>
          </a:xfrm>
          <a:prstGeom prst="roundRect">
            <a:avLst>
              <a:gd fmla="val 12849" name="adj"/>
            </a:avLst>
          </a:prstGeom>
          <a:solidFill>
            <a:srgbClr val="FFFFFF"/>
          </a:solidFill>
          <a:ln>
            <a:noFill/>
          </a:ln>
        </p:spPr>
        <p:txBody>
          <a:bodyPr anchorCtr="0" anchor="ctr" bIns="108100" lIns="108100" spcFirstLastPara="1" rIns="108100" wrap="square" tIns="108100">
            <a:noAutofit/>
          </a:bodyPr>
          <a:lstStyle/>
          <a:p>
            <a:pPr indent="0" lvl="0" marL="0" rtl="0" algn="l">
              <a:spcBef>
                <a:spcPts val="0"/>
              </a:spcBef>
              <a:spcAft>
                <a:spcPts val="0"/>
              </a:spcAft>
              <a:buNone/>
            </a:pPr>
            <a:r>
              <a:t/>
            </a:r>
            <a:endParaRPr/>
          </a:p>
        </p:txBody>
      </p:sp>
      <p:sp>
        <p:nvSpPr>
          <p:cNvPr id="250" name="Google Shape;250;p10"/>
          <p:cNvSpPr/>
          <p:nvPr/>
        </p:nvSpPr>
        <p:spPr>
          <a:xfrm>
            <a:off x="12312255" y="6689357"/>
            <a:ext cx="478200" cy="293100"/>
          </a:xfrm>
          <a:prstGeom prst="rect">
            <a:avLst/>
          </a:prstGeom>
          <a:noFill/>
          <a:ln>
            <a:noFill/>
          </a:ln>
        </p:spPr>
        <p:txBody>
          <a:bodyPr anchorCtr="0" anchor="t" bIns="30025" lIns="30025" spcFirstLastPara="1" rIns="30025" wrap="square" tIns="30025">
            <a:noAutofit/>
          </a:bodyPr>
          <a:lstStyle/>
          <a:p>
            <a:pPr indent="0" lvl="0" marL="0" marR="0" rtl="0" algn="l">
              <a:spcBef>
                <a:spcPts val="0"/>
              </a:spcBef>
              <a:spcAft>
                <a:spcPts val="0"/>
              </a:spcAft>
              <a:buClr>
                <a:srgbClr val="2171B5"/>
              </a:buClr>
              <a:buSzPts val="1419"/>
              <a:buFont typeface="Poppins"/>
              <a:buNone/>
            </a:pPr>
            <a:r>
              <a:rPr b="1" i="0" lang="en-US" sz="1419" u="none" cap="none" strike="noStrike">
                <a:solidFill>
                  <a:srgbClr val="2171B5"/>
                </a:solidFill>
                <a:latin typeface="Poppins"/>
                <a:ea typeface="Poppins"/>
                <a:cs typeface="Poppins"/>
                <a:sym typeface="Poppins"/>
              </a:rPr>
              <a:t>G3</a:t>
            </a:r>
            <a:endParaRPr b="0" i="0" sz="1419" u="none" cap="none" strike="noStrike">
              <a:solidFill>
                <a:schemeClr val="dk1"/>
              </a:solidFill>
              <a:latin typeface="Calibri"/>
              <a:ea typeface="Calibri"/>
              <a:cs typeface="Calibri"/>
              <a:sym typeface="Calibri"/>
            </a:endParaRPr>
          </a:p>
        </p:txBody>
      </p:sp>
      <p:sp>
        <p:nvSpPr>
          <p:cNvPr id="251" name="Google Shape;251;p10"/>
          <p:cNvSpPr/>
          <p:nvPr/>
        </p:nvSpPr>
        <p:spPr>
          <a:xfrm>
            <a:off x="12312255" y="7034701"/>
            <a:ext cx="4681200" cy="644100"/>
          </a:xfrm>
          <a:prstGeom prst="rect">
            <a:avLst/>
          </a:prstGeom>
          <a:noFill/>
          <a:ln>
            <a:noFill/>
          </a:ln>
        </p:spPr>
        <p:txBody>
          <a:bodyPr anchorCtr="0" anchor="t" bIns="30025" lIns="30025" spcFirstLastPara="1" rIns="30025" wrap="square" tIns="30025">
            <a:noAutofit/>
          </a:bodyPr>
          <a:lstStyle/>
          <a:p>
            <a:pPr indent="0" lvl="0" marL="0" marR="0" rtl="0" algn="l">
              <a:lnSpc>
                <a:spcPct val="114000"/>
              </a:lnSpc>
              <a:spcBef>
                <a:spcPts val="0"/>
              </a:spcBef>
              <a:spcAft>
                <a:spcPts val="0"/>
              </a:spcAft>
              <a:buClr>
                <a:srgbClr val="16324A"/>
              </a:buClr>
              <a:buSzPts val="1685"/>
              <a:buFont typeface="Inter"/>
              <a:buNone/>
            </a:pPr>
            <a:r>
              <a:rPr b="0" i="0" lang="en-US" sz="1685" u="none" cap="none" strike="noStrike">
                <a:solidFill>
                  <a:srgbClr val="16324A"/>
                </a:solidFill>
                <a:latin typeface="Inter"/>
                <a:ea typeface="Inter"/>
                <a:cs typeface="Inter"/>
                <a:sym typeface="Inter"/>
              </a:rPr>
              <a:t>Train and calibrate ACRE; compare strong baselines</a:t>
            </a:r>
            <a:endParaRPr b="0" i="0" sz="1685" u="none" cap="none" strike="noStrike">
              <a:solidFill>
                <a:schemeClr val="dk1"/>
              </a:solidFill>
              <a:latin typeface="Calibri"/>
              <a:ea typeface="Calibri"/>
              <a:cs typeface="Calibri"/>
              <a:sym typeface="Calibri"/>
            </a:endParaRPr>
          </a:p>
        </p:txBody>
      </p:sp>
      <p:sp>
        <p:nvSpPr>
          <p:cNvPr id="252" name="Google Shape;252;p10"/>
          <p:cNvSpPr/>
          <p:nvPr/>
        </p:nvSpPr>
        <p:spPr>
          <a:xfrm>
            <a:off x="1143000" y="8221325"/>
            <a:ext cx="5120700" cy="1402500"/>
          </a:xfrm>
          <a:prstGeom prst="roundRect">
            <a:avLst>
              <a:gd fmla="val 12849" name="adj"/>
            </a:avLst>
          </a:prstGeom>
          <a:solidFill>
            <a:srgbClr val="FFFFFF"/>
          </a:solidFill>
          <a:ln>
            <a:noFill/>
          </a:ln>
        </p:spPr>
        <p:txBody>
          <a:bodyPr anchorCtr="0" anchor="ctr" bIns="108100" lIns="108100" spcFirstLastPara="1" rIns="108100" wrap="square" tIns="108100">
            <a:noAutofit/>
          </a:bodyPr>
          <a:lstStyle/>
          <a:p>
            <a:pPr indent="0" lvl="0" marL="0" rtl="0" algn="l">
              <a:spcBef>
                <a:spcPts val="0"/>
              </a:spcBef>
              <a:spcAft>
                <a:spcPts val="0"/>
              </a:spcAft>
              <a:buNone/>
            </a:pPr>
            <a:r>
              <a:t/>
            </a:r>
            <a:endParaRPr/>
          </a:p>
        </p:txBody>
      </p:sp>
      <p:sp>
        <p:nvSpPr>
          <p:cNvPr id="253" name="Google Shape;253;p10"/>
          <p:cNvSpPr/>
          <p:nvPr/>
        </p:nvSpPr>
        <p:spPr>
          <a:xfrm>
            <a:off x="1431032" y="8454057"/>
            <a:ext cx="496500" cy="293100"/>
          </a:xfrm>
          <a:prstGeom prst="rect">
            <a:avLst/>
          </a:prstGeom>
          <a:noFill/>
          <a:ln>
            <a:noFill/>
          </a:ln>
        </p:spPr>
        <p:txBody>
          <a:bodyPr anchorCtr="0" anchor="t" bIns="30025" lIns="30025" spcFirstLastPara="1" rIns="30025" wrap="square" tIns="30025">
            <a:noAutofit/>
          </a:bodyPr>
          <a:lstStyle/>
          <a:p>
            <a:pPr indent="0" lvl="0" marL="0" marR="0" rtl="0" algn="l">
              <a:spcBef>
                <a:spcPts val="0"/>
              </a:spcBef>
              <a:spcAft>
                <a:spcPts val="0"/>
              </a:spcAft>
              <a:buClr>
                <a:srgbClr val="2171B5"/>
              </a:buClr>
              <a:buSzPts val="1419"/>
              <a:buFont typeface="Poppins"/>
              <a:buNone/>
            </a:pPr>
            <a:r>
              <a:rPr b="1" i="0" lang="en-US" sz="1419" u="none" cap="none" strike="noStrike">
                <a:solidFill>
                  <a:srgbClr val="2171B5"/>
                </a:solidFill>
                <a:latin typeface="Poppins"/>
                <a:ea typeface="Poppins"/>
                <a:cs typeface="Poppins"/>
                <a:sym typeface="Poppins"/>
              </a:rPr>
              <a:t>G4</a:t>
            </a:r>
            <a:endParaRPr b="0" i="0" sz="1419" u="none" cap="none" strike="noStrike">
              <a:solidFill>
                <a:schemeClr val="dk1"/>
              </a:solidFill>
              <a:latin typeface="Calibri"/>
              <a:ea typeface="Calibri"/>
              <a:cs typeface="Calibri"/>
              <a:sym typeface="Calibri"/>
            </a:endParaRPr>
          </a:p>
        </p:txBody>
      </p:sp>
      <p:sp>
        <p:nvSpPr>
          <p:cNvPr id="254" name="Google Shape;254;p10"/>
          <p:cNvSpPr/>
          <p:nvPr/>
        </p:nvSpPr>
        <p:spPr>
          <a:xfrm>
            <a:off x="1431032" y="8799400"/>
            <a:ext cx="4681200" cy="644100"/>
          </a:xfrm>
          <a:prstGeom prst="rect">
            <a:avLst/>
          </a:prstGeom>
          <a:noFill/>
          <a:ln>
            <a:noFill/>
          </a:ln>
        </p:spPr>
        <p:txBody>
          <a:bodyPr anchorCtr="0" anchor="t" bIns="30025" lIns="30025" spcFirstLastPara="1" rIns="30025" wrap="square" tIns="30025">
            <a:noAutofit/>
          </a:bodyPr>
          <a:lstStyle/>
          <a:p>
            <a:pPr indent="0" lvl="0" marL="0" marR="0" rtl="0" algn="l">
              <a:lnSpc>
                <a:spcPct val="114000"/>
              </a:lnSpc>
              <a:spcBef>
                <a:spcPts val="0"/>
              </a:spcBef>
              <a:spcAft>
                <a:spcPts val="0"/>
              </a:spcAft>
              <a:buClr>
                <a:srgbClr val="16324A"/>
              </a:buClr>
              <a:buSzPts val="1685"/>
              <a:buFont typeface="Inter"/>
              <a:buNone/>
            </a:pPr>
            <a:r>
              <a:rPr b="0" i="0" lang="en-US" sz="1685" u="none" cap="none" strike="noStrike">
                <a:solidFill>
                  <a:srgbClr val="16324A"/>
                </a:solidFill>
                <a:latin typeface="Inter"/>
                <a:ea typeface="Inter"/>
                <a:cs typeface="Inter"/>
                <a:sym typeface="Inter"/>
              </a:rPr>
              <a:t>Evaluate on two objectively verifiable task domains</a:t>
            </a:r>
            <a:endParaRPr b="0" i="0" sz="1685" u="none" cap="none" strike="noStrike">
              <a:solidFill>
                <a:schemeClr val="dk1"/>
              </a:solidFill>
              <a:latin typeface="Calibri"/>
              <a:ea typeface="Calibri"/>
              <a:cs typeface="Calibri"/>
              <a:sym typeface="Calibri"/>
            </a:endParaRPr>
          </a:p>
        </p:txBody>
      </p:sp>
      <p:sp>
        <p:nvSpPr>
          <p:cNvPr id="255" name="Google Shape;255;p10"/>
          <p:cNvSpPr/>
          <p:nvPr/>
        </p:nvSpPr>
        <p:spPr>
          <a:xfrm>
            <a:off x="6583611" y="8221325"/>
            <a:ext cx="5120700" cy="1402500"/>
          </a:xfrm>
          <a:prstGeom prst="roundRect">
            <a:avLst>
              <a:gd fmla="val 12849" name="adj"/>
            </a:avLst>
          </a:prstGeom>
          <a:solidFill>
            <a:srgbClr val="FFFFFF"/>
          </a:solidFill>
          <a:ln>
            <a:noFill/>
          </a:ln>
        </p:spPr>
        <p:txBody>
          <a:bodyPr anchorCtr="0" anchor="ctr" bIns="108100" lIns="108100" spcFirstLastPara="1" rIns="108100" wrap="square" tIns="108100">
            <a:noAutofit/>
          </a:bodyPr>
          <a:lstStyle/>
          <a:p>
            <a:pPr indent="0" lvl="0" marL="0" rtl="0" algn="l">
              <a:spcBef>
                <a:spcPts val="0"/>
              </a:spcBef>
              <a:spcAft>
                <a:spcPts val="0"/>
              </a:spcAft>
              <a:buNone/>
            </a:pPr>
            <a:r>
              <a:t/>
            </a:r>
            <a:endParaRPr/>
          </a:p>
        </p:txBody>
      </p:sp>
      <p:sp>
        <p:nvSpPr>
          <p:cNvPr id="256" name="Google Shape;256;p10"/>
          <p:cNvSpPr/>
          <p:nvPr/>
        </p:nvSpPr>
        <p:spPr>
          <a:xfrm>
            <a:off x="6871644" y="8454057"/>
            <a:ext cx="489000" cy="293100"/>
          </a:xfrm>
          <a:prstGeom prst="rect">
            <a:avLst/>
          </a:prstGeom>
          <a:noFill/>
          <a:ln>
            <a:noFill/>
          </a:ln>
        </p:spPr>
        <p:txBody>
          <a:bodyPr anchorCtr="0" anchor="t" bIns="30025" lIns="30025" spcFirstLastPara="1" rIns="30025" wrap="square" tIns="30025">
            <a:noAutofit/>
          </a:bodyPr>
          <a:lstStyle/>
          <a:p>
            <a:pPr indent="0" lvl="0" marL="0" marR="0" rtl="0" algn="l">
              <a:spcBef>
                <a:spcPts val="0"/>
              </a:spcBef>
              <a:spcAft>
                <a:spcPts val="0"/>
              </a:spcAft>
              <a:buClr>
                <a:srgbClr val="2171B5"/>
              </a:buClr>
              <a:buSzPts val="1419"/>
              <a:buFont typeface="Poppins"/>
              <a:buNone/>
            </a:pPr>
            <a:r>
              <a:rPr b="1" i="0" lang="en-US" sz="1419" u="none" cap="none" strike="noStrike">
                <a:solidFill>
                  <a:srgbClr val="2171B5"/>
                </a:solidFill>
                <a:latin typeface="Poppins"/>
                <a:ea typeface="Poppins"/>
                <a:cs typeface="Poppins"/>
                <a:sym typeface="Poppins"/>
              </a:rPr>
              <a:t>G5</a:t>
            </a:r>
            <a:endParaRPr b="0" i="0" sz="1419" u="none" cap="none" strike="noStrike">
              <a:solidFill>
                <a:schemeClr val="dk1"/>
              </a:solidFill>
              <a:latin typeface="Calibri"/>
              <a:ea typeface="Calibri"/>
              <a:cs typeface="Calibri"/>
              <a:sym typeface="Calibri"/>
            </a:endParaRPr>
          </a:p>
        </p:txBody>
      </p:sp>
      <p:sp>
        <p:nvSpPr>
          <p:cNvPr id="257" name="Google Shape;257;p10"/>
          <p:cNvSpPr/>
          <p:nvPr/>
        </p:nvSpPr>
        <p:spPr>
          <a:xfrm>
            <a:off x="6871644" y="8799400"/>
            <a:ext cx="4681200" cy="644100"/>
          </a:xfrm>
          <a:prstGeom prst="rect">
            <a:avLst/>
          </a:prstGeom>
          <a:noFill/>
          <a:ln>
            <a:noFill/>
          </a:ln>
        </p:spPr>
        <p:txBody>
          <a:bodyPr anchorCtr="0" anchor="t" bIns="30025" lIns="30025" spcFirstLastPara="1" rIns="30025" wrap="square" tIns="30025">
            <a:noAutofit/>
          </a:bodyPr>
          <a:lstStyle/>
          <a:p>
            <a:pPr indent="0" lvl="0" marL="0" marR="0" rtl="0" algn="l">
              <a:lnSpc>
                <a:spcPct val="114000"/>
              </a:lnSpc>
              <a:spcBef>
                <a:spcPts val="0"/>
              </a:spcBef>
              <a:spcAft>
                <a:spcPts val="0"/>
              </a:spcAft>
              <a:buClr>
                <a:srgbClr val="16324A"/>
              </a:buClr>
              <a:buSzPts val="1685"/>
              <a:buFont typeface="Inter"/>
              <a:buNone/>
            </a:pPr>
            <a:r>
              <a:rPr b="0" i="0" lang="en-US" sz="1685" u="none" cap="none" strike="noStrike">
                <a:solidFill>
                  <a:srgbClr val="16324A"/>
                </a:solidFill>
                <a:latin typeface="Inter"/>
                <a:ea typeface="Inter"/>
                <a:cs typeface="Inter"/>
                <a:sym typeface="Inter"/>
              </a:rPr>
              <a:t>Answer the research question with reproducible evidence</a:t>
            </a:r>
            <a:endParaRPr b="0" i="0" sz="1685" u="none" cap="none" strike="noStrike">
              <a:solidFill>
                <a:schemeClr val="dk1"/>
              </a:solidFill>
              <a:latin typeface="Calibri"/>
              <a:ea typeface="Calibri"/>
              <a:cs typeface="Calibri"/>
              <a:sym typeface="Calibri"/>
            </a:endParaRPr>
          </a:p>
        </p:txBody>
      </p:sp>
      <p:pic>
        <p:nvPicPr>
          <p:cNvPr id="258" name="Google Shape;258;p10"/>
          <p:cNvPicPr preferRelativeResize="0"/>
          <p:nvPr/>
        </p:nvPicPr>
        <p:blipFill>
          <a:blip r:embed="rId4">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11"/>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Proposed Solution</a:t>
            </a:r>
            <a:endParaRPr b="0" i="0" sz="3750" u="none" cap="none" strike="noStrike">
              <a:solidFill>
                <a:schemeClr val="dk1"/>
              </a:solidFill>
              <a:latin typeface="Calibri"/>
              <a:ea typeface="Calibri"/>
              <a:cs typeface="Calibri"/>
              <a:sym typeface="Calibri"/>
            </a:endParaRPr>
          </a:p>
        </p:txBody>
      </p:sp>
      <p:sp>
        <p:nvSpPr>
          <p:cNvPr id="265" name="Google Shape;265;p11"/>
          <p:cNvSpPr/>
          <p:nvPr/>
        </p:nvSpPr>
        <p:spPr>
          <a:xfrm>
            <a:off x="1143000" y="2171700"/>
            <a:ext cx="16764000" cy="33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950"/>
              <a:buFont typeface="Inter"/>
              <a:buNone/>
            </a:pPr>
            <a:r>
              <a:rPr b="0" i="0" lang="en-US" sz="1950" u="none" cap="none" strike="noStrike">
                <a:solidFill>
                  <a:srgbClr val="2C4A63"/>
                </a:solidFill>
                <a:latin typeface="Inter"/>
                <a:ea typeface="Inter"/>
                <a:cs typeface="Inter"/>
                <a:sym typeface="Inter"/>
              </a:rPr>
              <a:t>TRACER uses a learned risk estimator; deterministic validators provide evidence and labels, but do not hard-code the action.</a:t>
            </a:r>
            <a:endParaRPr b="0" i="0" sz="1950" u="none" cap="none" strike="noStrike">
              <a:solidFill>
                <a:schemeClr val="dk1"/>
              </a:solidFill>
              <a:latin typeface="Calibri"/>
              <a:ea typeface="Calibri"/>
              <a:cs typeface="Calibri"/>
              <a:sym typeface="Calibri"/>
            </a:endParaRPr>
          </a:p>
        </p:txBody>
      </p:sp>
      <p:sp>
        <p:nvSpPr>
          <p:cNvPr id="266" name="Google Shape;266;p11"/>
          <p:cNvSpPr/>
          <p:nvPr/>
        </p:nvSpPr>
        <p:spPr>
          <a:xfrm>
            <a:off x="507283" y="4563056"/>
            <a:ext cx="1586400" cy="1586400"/>
          </a:xfrm>
          <a:prstGeom prst="roundRect">
            <a:avLst>
              <a:gd fmla="val 17910" name="adj"/>
            </a:avLst>
          </a:prstGeom>
          <a:solidFill>
            <a:srgbClr val="F7FBFF"/>
          </a:solidFill>
          <a:ln cap="flat" cmpd="sng" w="23675">
            <a:solidFill>
              <a:srgbClr val="C6DBEF"/>
            </a:solidFill>
            <a:prstDash val="solid"/>
            <a:round/>
            <a:headEnd len="sm" w="sm" type="none"/>
            <a:tailEnd len="sm" w="sm" type="none"/>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67" name="Google Shape;267;p11"/>
          <p:cNvSpPr/>
          <p:nvPr/>
        </p:nvSpPr>
        <p:spPr>
          <a:xfrm>
            <a:off x="483603" y="4586736"/>
            <a:ext cx="1633800" cy="1586400"/>
          </a:xfrm>
          <a:prstGeom prst="rect">
            <a:avLst/>
          </a:prstGeom>
          <a:noFill/>
          <a:ln>
            <a:noFill/>
          </a:ln>
        </p:spPr>
        <p:txBody>
          <a:bodyPr anchorCtr="0" anchor="ctr" bIns="31575" lIns="31575" spcFirstLastPara="1" rIns="31575" wrap="square" tIns="31575">
            <a:noAutofit/>
          </a:bodyPr>
          <a:lstStyle/>
          <a:p>
            <a:pPr indent="0" lvl="0" marL="0" marR="0" rtl="0" algn="ctr">
              <a:spcBef>
                <a:spcPts val="0"/>
              </a:spcBef>
              <a:spcAft>
                <a:spcPts val="0"/>
              </a:spcAft>
              <a:buClr>
                <a:srgbClr val="084594"/>
              </a:buClr>
              <a:buSzPts val="1678"/>
              <a:buFont typeface="Poppins"/>
              <a:buNone/>
            </a:pPr>
            <a:r>
              <a:rPr b="1" i="0" lang="en-US" sz="1678" u="none" cap="none" strike="noStrike">
                <a:solidFill>
                  <a:srgbClr val="084594"/>
                </a:solidFill>
                <a:latin typeface="Poppins"/>
                <a:ea typeface="Poppins"/>
                <a:cs typeface="Poppins"/>
                <a:sym typeface="Poppins"/>
              </a:rPr>
              <a:t>User task</a:t>
            </a:r>
            <a:endParaRPr b="0" i="0" sz="1678" u="none" cap="none" strike="noStrike">
              <a:solidFill>
                <a:schemeClr val="dk1"/>
              </a:solidFill>
              <a:latin typeface="Calibri"/>
              <a:ea typeface="Calibri"/>
              <a:cs typeface="Calibri"/>
              <a:sym typeface="Calibri"/>
            </a:endParaRPr>
          </a:p>
        </p:txBody>
      </p:sp>
      <p:sp>
        <p:nvSpPr>
          <p:cNvPr id="268" name="Google Shape;268;p11"/>
          <p:cNvSpPr/>
          <p:nvPr/>
        </p:nvSpPr>
        <p:spPr>
          <a:xfrm>
            <a:off x="2110468" y="5052426"/>
            <a:ext cx="497700" cy="65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9ECAE1"/>
              </a:buClr>
              <a:buSzPts val="3170"/>
              <a:buFont typeface="Poppins"/>
              <a:buNone/>
            </a:pPr>
            <a:r>
              <a:rPr b="0" i="0" lang="en-US" sz="3170" u="none" cap="none" strike="noStrike">
                <a:solidFill>
                  <a:schemeClr val="dk1"/>
                </a:solidFill>
                <a:latin typeface="Poppins"/>
                <a:ea typeface="Poppins"/>
                <a:cs typeface="Poppins"/>
                <a:sym typeface="Poppins"/>
              </a:rPr>
              <a:t>→</a:t>
            </a:r>
            <a:endParaRPr b="0" i="0" sz="3170" u="none" cap="none" strike="noStrike">
              <a:solidFill>
                <a:schemeClr val="dk1"/>
              </a:solidFill>
              <a:latin typeface="Calibri"/>
              <a:ea typeface="Calibri"/>
              <a:cs typeface="Calibri"/>
              <a:sym typeface="Calibri"/>
            </a:endParaRPr>
          </a:p>
        </p:txBody>
      </p:sp>
      <p:sp>
        <p:nvSpPr>
          <p:cNvPr id="269" name="Google Shape;269;p11"/>
          <p:cNvSpPr/>
          <p:nvPr/>
        </p:nvSpPr>
        <p:spPr>
          <a:xfrm>
            <a:off x="2627863" y="4563064"/>
            <a:ext cx="1724400" cy="1586400"/>
          </a:xfrm>
          <a:prstGeom prst="roundRect">
            <a:avLst>
              <a:gd fmla="val 17910" name="adj"/>
            </a:avLst>
          </a:prstGeom>
          <a:solidFill>
            <a:srgbClr val="DEEBF7"/>
          </a:solidFill>
          <a:ln cap="flat" cmpd="sng" w="23675">
            <a:solidFill>
              <a:srgbClr val="C6DBEF"/>
            </a:solidFill>
            <a:prstDash val="solid"/>
            <a:round/>
            <a:headEnd len="sm" w="sm" type="none"/>
            <a:tailEnd len="sm" w="sm" type="none"/>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70" name="Google Shape;270;p11"/>
          <p:cNvSpPr/>
          <p:nvPr/>
        </p:nvSpPr>
        <p:spPr>
          <a:xfrm>
            <a:off x="2602122" y="4586744"/>
            <a:ext cx="1776000" cy="1586400"/>
          </a:xfrm>
          <a:prstGeom prst="rect">
            <a:avLst/>
          </a:prstGeom>
          <a:noFill/>
          <a:ln>
            <a:noFill/>
          </a:ln>
        </p:spPr>
        <p:txBody>
          <a:bodyPr anchorCtr="0" anchor="ctr" bIns="31575" lIns="31575" spcFirstLastPara="1" rIns="31575" wrap="square" tIns="31575">
            <a:noAutofit/>
          </a:bodyPr>
          <a:lstStyle/>
          <a:p>
            <a:pPr indent="0" lvl="0" marL="0" marR="0" rtl="0" algn="ctr">
              <a:spcBef>
                <a:spcPts val="0"/>
              </a:spcBef>
              <a:spcAft>
                <a:spcPts val="0"/>
              </a:spcAft>
              <a:buClr>
                <a:srgbClr val="084594"/>
              </a:buClr>
              <a:buSzPts val="1678"/>
              <a:buFont typeface="Poppins"/>
              <a:buNone/>
            </a:pPr>
            <a:r>
              <a:rPr b="1" i="0" lang="en-US" sz="1678" u="none" cap="none" strike="noStrike">
                <a:solidFill>
                  <a:srgbClr val="084594"/>
                </a:solidFill>
                <a:latin typeface="Poppins"/>
                <a:ea typeface="Poppins"/>
                <a:cs typeface="Poppins"/>
                <a:sym typeface="Poppins"/>
              </a:rPr>
              <a:t>SLM response</a:t>
            </a:r>
            <a:endParaRPr b="0" i="0" sz="1678" u="none" cap="none" strike="noStrike">
              <a:solidFill>
                <a:schemeClr val="dk1"/>
              </a:solidFill>
              <a:latin typeface="Calibri"/>
              <a:ea typeface="Calibri"/>
              <a:cs typeface="Calibri"/>
              <a:sym typeface="Calibri"/>
            </a:endParaRPr>
          </a:p>
        </p:txBody>
      </p:sp>
      <p:sp>
        <p:nvSpPr>
          <p:cNvPr id="271" name="Google Shape;271;p11"/>
          <p:cNvSpPr/>
          <p:nvPr/>
        </p:nvSpPr>
        <p:spPr>
          <a:xfrm>
            <a:off x="4347905" y="5052426"/>
            <a:ext cx="497700" cy="65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9ECAE1"/>
              </a:buClr>
              <a:buSzPts val="3170"/>
              <a:buFont typeface="Poppins"/>
              <a:buNone/>
            </a:pPr>
            <a:r>
              <a:rPr b="0" i="0" lang="en-US" sz="3170" u="none" cap="none" strike="noStrike">
                <a:solidFill>
                  <a:schemeClr val="dk1"/>
                </a:solidFill>
                <a:latin typeface="Poppins"/>
                <a:ea typeface="Poppins"/>
                <a:cs typeface="Poppins"/>
                <a:sym typeface="Poppins"/>
              </a:rPr>
              <a:t>→</a:t>
            </a:r>
            <a:endParaRPr b="0" i="0" sz="3170" u="none" cap="none" strike="noStrike">
              <a:solidFill>
                <a:schemeClr val="dk1"/>
              </a:solidFill>
              <a:latin typeface="Calibri"/>
              <a:ea typeface="Calibri"/>
              <a:cs typeface="Calibri"/>
              <a:sym typeface="Calibri"/>
            </a:endParaRPr>
          </a:p>
        </p:txBody>
      </p:sp>
      <p:sp>
        <p:nvSpPr>
          <p:cNvPr id="272" name="Google Shape;272;p11"/>
          <p:cNvSpPr/>
          <p:nvPr/>
        </p:nvSpPr>
        <p:spPr>
          <a:xfrm>
            <a:off x="4772730" y="4444657"/>
            <a:ext cx="3015300" cy="1823400"/>
          </a:xfrm>
          <a:prstGeom prst="roundRect">
            <a:avLst>
              <a:gd fmla="val 15584" name="adj"/>
            </a:avLst>
          </a:prstGeom>
          <a:solidFill>
            <a:srgbClr val="C6DBEF"/>
          </a:solidFill>
          <a:ln cap="flat" cmpd="sng" w="23675">
            <a:solidFill>
              <a:srgbClr val="9ECAE1"/>
            </a:solidFill>
            <a:prstDash val="solid"/>
            <a:round/>
            <a:headEnd len="sm" w="sm" type="none"/>
            <a:tailEnd len="sm" w="sm" type="none"/>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sz="1519"/>
          </a:p>
        </p:txBody>
      </p:sp>
      <p:sp>
        <p:nvSpPr>
          <p:cNvPr id="273" name="Google Shape;273;p11"/>
          <p:cNvSpPr/>
          <p:nvPr/>
        </p:nvSpPr>
        <p:spPr>
          <a:xfrm>
            <a:off x="5761959" y="4734737"/>
            <a:ext cx="1067400" cy="295800"/>
          </a:xfrm>
          <a:prstGeom prst="rect">
            <a:avLst/>
          </a:prstGeom>
          <a:noFill/>
          <a:ln>
            <a:noFill/>
          </a:ln>
        </p:spPr>
        <p:txBody>
          <a:bodyPr anchorCtr="0" anchor="t" bIns="31575" lIns="31575" spcFirstLastPara="1" rIns="31575" wrap="square" tIns="31575">
            <a:noAutofit/>
          </a:bodyPr>
          <a:lstStyle/>
          <a:p>
            <a:pPr indent="0" lvl="0" marL="0" marR="0" rtl="0" algn="l">
              <a:lnSpc>
                <a:spcPct val="126000"/>
              </a:lnSpc>
              <a:spcBef>
                <a:spcPts val="0"/>
              </a:spcBef>
              <a:spcAft>
                <a:spcPts val="0"/>
              </a:spcAft>
              <a:buClr>
                <a:srgbClr val="084594"/>
              </a:buClr>
              <a:buSzPts val="1305"/>
              <a:buFont typeface="Inter"/>
              <a:buNone/>
            </a:pPr>
            <a:r>
              <a:rPr b="1" i="0" lang="en-US" sz="1631" u="none" cap="none" strike="noStrike">
                <a:solidFill>
                  <a:srgbClr val="084594"/>
                </a:solidFill>
                <a:latin typeface="Inter"/>
                <a:ea typeface="Inter"/>
                <a:cs typeface="Inter"/>
                <a:sym typeface="Inter"/>
              </a:rPr>
              <a:t>Features</a:t>
            </a:r>
            <a:endParaRPr b="0" i="0" sz="1631" u="none" cap="none" strike="noStrike">
              <a:solidFill>
                <a:schemeClr val="dk1"/>
              </a:solidFill>
              <a:latin typeface="Calibri"/>
              <a:ea typeface="Calibri"/>
              <a:cs typeface="Calibri"/>
              <a:sym typeface="Calibri"/>
            </a:endParaRPr>
          </a:p>
        </p:txBody>
      </p:sp>
      <p:sp>
        <p:nvSpPr>
          <p:cNvPr id="274" name="Google Shape;274;p11"/>
          <p:cNvSpPr/>
          <p:nvPr/>
        </p:nvSpPr>
        <p:spPr>
          <a:xfrm>
            <a:off x="4956340" y="5255680"/>
            <a:ext cx="2678400" cy="244800"/>
          </a:xfrm>
          <a:prstGeom prst="rect">
            <a:avLst/>
          </a:prstGeom>
          <a:noFill/>
          <a:ln>
            <a:noFill/>
          </a:ln>
        </p:spPr>
        <p:txBody>
          <a:bodyPr anchorCtr="0" anchor="t" bIns="0" lIns="0" spcFirstLastPara="1" rIns="0" wrap="square" tIns="0">
            <a:noAutofit/>
          </a:bodyPr>
          <a:lstStyle/>
          <a:p>
            <a:pPr indent="0" lvl="0" marL="0" marR="0" rtl="0" algn="ctr">
              <a:lnSpc>
                <a:spcPct val="126000"/>
              </a:lnSpc>
              <a:spcBef>
                <a:spcPts val="0"/>
              </a:spcBef>
              <a:spcAft>
                <a:spcPts val="0"/>
              </a:spcAft>
              <a:buClr>
                <a:srgbClr val="084594"/>
              </a:buClr>
              <a:buSzPts val="1305"/>
              <a:buFont typeface="Inter"/>
              <a:buNone/>
            </a:pPr>
            <a:r>
              <a:rPr b="0" i="0" lang="en-US" sz="1631" u="none" cap="none" strike="noStrike">
                <a:solidFill>
                  <a:srgbClr val="084594"/>
                </a:solidFill>
                <a:latin typeface="Inter"/>
                <a:ea typeface="Inter"/>
                <a:cs typeface="Inter"/>
                <a:sym typeface="Inter"/>
              </a:rPr>
              <a:t>query+response embed</a:t>
            </a:r>
            <a:endParaRPr b="0" i="0" sz="1631" u="none" cap="none" strike="noStrike">
              <a:solidFill>
                <a:schemeClr val="dk1"/>
              </a:solidFill>
              <a:latin typeface="Calibri"/>
              <a:ea typeface="Calibri"/>
              <a:cs typeface="Calibri"/>
              <a:sym typeface="Calibri"/>
            </a:endParaRPr>
          </a:p>
        </p:txBody>
      </p:sp>
      <p:sp>
        <p:nvSpPr>
          <p:cNvPr id="275" name="Google Shape;275;p11"/>
          <p:cNvSpPr/>
          <p:nvPr/>
        </p:nvSpPr>
        <p:spPr>
          <a:xfrm>
            <a:off x="4956332" y="5504305"/>
            <a:ext cx="2678400" cy="244800"/>
          </a:xfrm>
          <a:prstGeom prst="rect">
            <a:avLst/>
          </a:prstGeom>
          <a:noFill/>
          <a:ln>
            <a:noFill/>
          </a:ln>
        </p:spPr>
        <p:txBody>
          <a:bodyPr anchorCtr="0" anchor="t" bIns="0" lIns="0" spcFirstLastPara="1" rIns="0" wrap="square" tIns="0">
            <a:noAutofit/>
          </a:bodyPr>
          <a:lstStyle/>
          <a:p>
            <a:pPr indent="0" lvl="0" marL="0" marR="0" rtl="0" algn="ctr">
              <a:lnSpc>
                <a:spcPct val="126000"/>
              </a:lnSpc>
              <a:spcBef>
                <a:spcPts val="0"/>
              </a:spcBef>
              <a:spcAft>
                <a:spcPts val="0"/>
              </a:spcAft>
              <a:buClr>
                <a:srgbClr val="084594"/>
              </a:buClr>
              <a:buSzPts val="1305"/>
              <a:buFont typeface="Inter"/>
              <a:buNone/>
            </a:pPr>
            <a:r>
              <a:rPr b="0" i="0" lang="en-US" sz="1631" u="none" cap="none" strike="noStrike">
                <a:solidFill>
                  <a:srgbClr val="084594"/>
                </a:solidFill>
                <a:latin typeface="Inter"/>
                <a:ea typeface="Inter"/>
                <a:cs typeface="Inter"/>
                <a:sym typeface="Inter"/>
              </a:rPr>
              <a:t>uncertainty</a:t>
            </a:r>
            <a:endParaRPr b="0" i="0" sz="1631" u="none" cap="none" strike="noStrike">
              <a:solidFill>
                <a:schemeClr val="dk1"/>
              </a:solidFill>
              <a:latin typeface="Calibri"/>
              <a:ea typeface="Calibri"/>
              <a:cs typeface="Calibri"/>
              <a:sym typeface="Calibri"/>
            </a:endParaRPr>
          </a:p>
        </p:txBody>
      </p:sp>
      <p:sp>
        <p:nvSpPr>
          <p:cNvPr id="276" name="Google Shape;276;p11"/>
          <p:cNvSpPr/>
          <p:nvPr/>
        </p:nvSpPr>
        <p:spPr>
          <a:xfrm>
            <a:off x="4956334" y="5752945"/>
            <a:ext cx="2678400" cy="244800"/>
          </a:xfrm>
          <a:prstGeom prst="rect">
            <a:avLst/>
          </a:prstGeom>
          <a:noFill/>
          <a:ln>
            <a:noFill/>
          </a:ln>
        </p:spPr>
        <p:txBody>
          <a:bodyPr anchorCtr="0" anchor="t" bIns="0" lIns="0" spcFirstLastPara="1" rIns="0" wrap="square" tIns="0">
            <a:noAutofit/>
          </a:bodyPr>
          <a:lstStyle/>
          <a:p>
            <a:pPr indent="0" lvl="0" marL="0" marR="0" rtl="0" algn="ctr">
              <a:lnSpc>
                <a:spcPct val="126000"/>
              </a:lnSpc>
              <a:spcBef>
                <a:spcPts val="0"/>
              </a:spcBef>
              <a:spcAft>
                <a:spcPts val="0"/>
              </a:spcAft>
              <a:buClr>
                <a:srgbClr val="084594"/>
              </a:buClr>
              <a:buSzPts val="1305"/>
              <a:buFont typeface="Inter"/>
              <a:buNone/>
            </a:pPr>
            <a:r>
              <a:rPr b="0" i="0" lang="en-US" sz="1631" u="none" cap="none" strike="noStrike">
                <a:solidFill>
                  <a:srgbClr val="084594"/>
                </a:solidFill>
                <a:latin typeface="Inter"/>
                <a:ea typeface="Inter"/>
                <a:cs typeface="Inter"/>
                <a:sym typeface="Inter"/>
              </a:rPr>
              <a:t>validator signals</a:t>
            </a:r>
            <a:endParaRPr b="0" i="0" sz="1631" u="none" cap="none" strike="noStrike">
              <a:solidFill>
                <a:schemeClr val="dk1"/>
              </a:solidFill>
              <a:latin typeface="Calibri"/>
              <a:ea typeface="Calibri"/>
              <a:cs typeface="Calibri"/>
              <a:sym typeface="Calibri"/>
            </a:endParaRPr>
          </a:p>
        </p:txBody>
      </p:sp>
      <p:sp>
        <p:nvSpPr>
          <p:cNvPr id="277" name="Google Shape;277;p11"/>
          <p:cNvSpPr/>
          <p:nvPr/>
        </p:nvSpPr>
        <p:spPr>
          <a:xfrm>
            <a:off x="7818344" y="5052426"/>
            <a:ext cx="497700" cy="65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9ECAE1"/>
              </a:buClr>
              <a:buSzPts val="3170"/>
              <a:buFont typeface="Poppins"/>
              <a:buNone/>
            </a:pPr>
            <a:r>
              <a:rPr b="0" i="0" lang="en-US" sz="3170" u="none" cap="none" strike="noStrike">
                <a:solidFill>
                  <a:schemeClr val="dk1"/>
                </a:solidFill>
                <a:latin typeface="Poppins"/>
                <a:ea typeface="Poppins"/>
                <a:cs typeface="Poppins"/>
                <a:sym typeface="Poppins"/>
              </a:rPr>
              <a:t>→</a:t>
            </a:r>
            <a:endParaRPr b="0" i="0" sz="3170" u="none" cap="none" strike="noStrike">
              <a:solidFill>
                <a:schemeClr val="dk1"/>
              </a:solidFill>
              <a:latin typeface="Calibri"/>
              <a:ea typeface="Calibri"/>
              <a:cs typeface="Calibri"/>
              <a:sym typeface="Calibri"/>
            </a:endParaRPr>
          </a:p>
        </p:txBody>
      </p:sp>
      <p:sp>
        <p:nvSpPr>
          <p:cNvPr id="278" name="Google Shape;278;p11"/>
          <p:cNvSpPr/>
          <p:nvPr/>
        </p:nvSpPr>
        <p:spPr>
          <a:xfrm>
            <a:off x="8306139" y="4468333"/>
            <a:ext cx="2678400" cy="1776000"/>
          </a:xfrm>
          <a:prstGeom prst="roundRect">
            <a:avLst>
              <a:gd fmla="val 16000" name="adj"/>
            </a:avLst>
          </a:prstGeom>
          <a:solidFill>
            <a:srgbClr val="2171B5"/>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79" name="Google Shape;279;p11"/>
          <p:cNvSpPr/>
          <p:nvPr/>
        </p:nvSpPr>
        <p:spPr>
          <a:xfrm>
            <a:off x="9189863" y="4783563"/>
            <a:ext cx="1023900" cy="4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2237"/>
              <a:buFont typeface="Poppins"/>
              <a:buNone/>
            </a:pPr>
            <a:r>
              <a:rPr b="1" i="0" lang="en-US" sz="2563" u="none" cap="none" strike="noStrike">
                <a:solidFill>
                  <a:srgbClr val="FFFFFF"/>
                </a:solidFill>
                <a:latin typeface="Poppins"/>
                <a:ea typeface="Poppins"/>
                <a:cs typeface="Poppins"/>
                <a:sym typeface="Poppins"/>
              </a:rPr>
              <a:t>ACRE</a:t>
            </a:r>
            <a:endParaRPr b="0" i="0" sz="2563" u="none" cap="none" strike="noStrike">
              <a:solidFill>
                <a:schemeClr val="dk1"/>
              </a:solidFill>
              <a:latin typeface="Calibri"/>
              <a:ea typeface="Calibri"/>
              <a:cs typeface="Calibri"/>
              <a:sym typeface="Calibri"/>
            </a:endParaRPr>
          </a:p>
        </p:txBody>
      </p:sp>
      <p:sp>
        <p:nvSpPr>
          <p:cNvPr id="280" name="Google Shape;280;p11"/>
          <p:cNvSpPr/>
          <p:nvPr/>
        </p:nvSpPr>
        <p:spPr>
          <a:xfrm>
            <a:off x="8479286" y="5522056"/>
            <a:ext cx="2332200" cy="244800"/>
          </a:xfrm>
          <a:prstGeom prst="rect">
            <a:avLst/>
          </a:prstGeom>
          <a:noFill/>
          <a:ln>
            <a:noFill/>
          </a:ln>
        </p:spPr>
        <p:txBody>
          <a:bodyPr anchorCtr="0" anchor="t" bIns="31575" lIns="31575" spcFirstLastPara="1" rIns="31575" wrap="square" tIns="31575">
            <a:noAutofit/>
          </a:bodyPr>
          <a:lstStyle/>
          <a:p>
            <a:pPr indent="0" lvl="0" marL="0" marR="0" rtl="0" algn="ctr">
              <a:spcBef>
                <a:spcPts val="0"/>
              </a:spcBef>
              <a:spcAft>
                <a:spcPts val="0"/>
              </a:spcAft>
              <a:buClr>
                <a:srgbClr val="FFFFFF"/>
              </a:buClr>
              <a:buSzPts val="1305"/>
              <a:buFont typeface="Inter"/>
              <a:buNone/>
            </a:pPr>
            <a:r>
              <a:rPr b="0" i="0" lang="en-US" sz="1631" u="none" cap="none" strike="noStrike">
                <a:solidFill>
                  <a:srgbClr val="FFFFFF"/>
                </a:solidFill>
                <a:latin typeface="Inter"/>
                <a:ea typeface="Inter"/>
                <a:cs typeface="Inter"/>
                <a:sym typeface="Inter"/>
              </a:rPr>
              <a:t>3 calibrated risk heads</a:t>
            </a:r>
            <a:endParaRPr b="0" i="0" sz="1631" u="none" cap="none" strike="noStrike">
              <a:solidFill>
                <a:schemeClr val="dk1"/>
              </a:solidFill>
              <a:latin typeface="Calibri"/>
              <a:ea typeface="Calibri"/>
              <a:cs typeface="Calibri"/>
              <a:sym typeface="Calibri"/>
            </a:endParaRPr>
          </a:p>
        </p:txBody>
      </p:sp>
      <p:sp>
        <p:nvSpPr>
          <p:cNvPr id="281" name="Google Shape;281;p11"/>
          <p:cNvSpPr/>
          <p:nvPr/>
        </p:nvSpPr>
        <p:spPr>
          <a:xfrm>
            <a:off x="11043328" y="5052426"/>
            <a:ext cx="497700" cy="65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9ECAE1"/>
              </a:buClr>
              <a:buSzPts val="3170"/>
              <a:buFont typeface="Poppins"/>
              <a:buNone/>
            </a:pPr>
            <a:r>
              <a:rPr b="0" i="0" lang="en-US" sz="3170" u="none" cap="none" strike="noStrike">
                <a:solidFill>
                  <a:schemeClr val="dk1"/>
                </a:solidFill>
                <a:latin typeface="Poppins"/>
                <a:ea typeface="Poppins"/>
                <a:cs typeface="Poppins"/>
                <a:sym typeface="Poppins"/>
              </a:rPr>
              <a:t>→</a:t>
            </a:r>
            <a:endParaRPr b="0" i="0" sz="3170" u="none" cap="none" strike="noStrike">
              <a:solidFill>
                <a:schemeClr val="dk1"/>
              </a:solidFill>
              <a:latin typeface="Calibri"/>
              <a:ea typeface="Calibri"/>
              <a:cs typeface="Calibri"/>
              <a:sym typeface="Calibri"/>
            </a:endParaRPr>
          </a:p>
        </p:txBody>
      </p:sp>
      <p:sp>
        <p:nvSpPr>
          <p:cNvPr id="282" name="Google Shape;282;p11"/>
          <p:cNvSpPr/>
          <p:nvPr/>
        </p:nvSpPr>
        <p:spPr>
          <a:xfrm>
            <a:off x="11540926" y="4101313"/>
            <a:ext cx="3777000" cy="741900"/>
          </a:xfrm>
          <a:prstGeom prst="roundRect">
            <a:avLst>
              <a:gd fmla="val 22340" name="adj"/>
            </a:avLst>
          </a:prstGeom>
          <a:solidFill>
            <a:srgbClr val="F7FBFF"/>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83" name="Google Shape;283;p11"/>
          <p:cNvSpPr/>
          <p:nvPr/>
        </p:nvSpPr>
        <p:spPr>
          <a:xfrm>
            <a:off x="11540926" y="4101313"/>
            <a:ext cx="84300" cy="741900"/>
          </a:xfrm>
          <a:prstGeom prst="rect">
            <a:avLst/>
          </a:prstGeom>
          <a:solidFill>
            <a:srgbClr val="9ECAE1"/>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84" name="Google Shape;284;p11"/>
          <p:cNvSpPr/>
          <p:nvPr/>
        </p:nvSpPr>
        <p:spPr>
          <a:xfrm>
            <a:off x="11850975" y="4243387"/>
            <a:ext cx="3354600" cy="50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084594"/>
              </a:buClr>
              <a:buSzPts val="1492"/>
              <a:buFont typeface="Inter"/>
              <a:buNone/>
            </a:pPr>
            <a:r>
              <a:rPr b="1" i="0" lang="en-US" sz="1492" u="none" cap="none" strike="noStrike">
                <a:solidFill>
                  <a:srgbClr val="084594"/>
                </a:solidFill>
                <a:latin typeface="Inter"/>
                <a:ea typeface="Inter"/>
                <a:cs typeface="Inter"/>
                <a:sym typeface="Inter"/>
              </a:rPr>
              <a:t>ACCEPT </a:t>
            </a:r>
            <a:r>
              <a:rPr b="0" i="0" lang="en-US" sz="1492" u="none" cap="none" strike="noStrike">
                <a:solidFill>
                  <a:srgbClr val="16324A"/>
                </a:solidFill>
                <a:highlight>
                  <a:srgbClr val="F7FBFF"/>
                </a:highlight>
                <a:latin typeface="Inter"/>
                <a:ea typeface="Inter"/>
                <a:cs typeface="Inter"/>
                <a:sym typeface="Inter"/>
              </a:rPr>
              <a:t>: return SLM response</a:t>
            </a:r>
            <a:endParaRPr b="0" i="0" sz="1492" u="none" cap="none" strike="noStrike">
              <a:solidFill>
                <a:schemeClr val="dk1"/>
              </a:solidFill>
              <a:latin typeface="Calibri"/>
              <a:ea typeface="Calibri"/>
              <a:cs typeface="Calibri"/>
              <a:sym typeface="Calibri"/>
            </a:endParaRPr>
          </a:p>
        </p:txBody>
      </p:sp>
      <p:sp>
        <p:nvSpPr>
          <p:cNvPr id="285" name="Google Shape;285;p11"/>
          <p:cNvSpPr/>
          <p:nvPr/>
        </p:nvSpPr>
        <p:spPr>
          <a:xfrm>
            <a:off x="11540926" y="4985330"/>
            <a:ext cx="3777000" cy="741900"/>
          </a:xfrm>
          <a:prstGeom prst="roundRect">
            <a:avLst>
              <a:gd fmla="val 22340" name="adj"/>
            </a:avLst>
          </a:prstGeom>
          <a:solidFill>
            <a:srgbClr val="F7FBFF"/>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86" name="Google Shape;286;p11"/>
          <p:cNvSpPr/>
          <p:nvPr/>
        </p:nvSpPr>
        <p:spPr>
          <a:xfrm>
            <a:off x="11540926" y="4985330"/>
            <a:ext cx="84300" cy="741900"/>
          </a:xfrm>
          <a:prstGeom prst="rect">
            <a:avLst/>
          </a:prstGeom>
          <a:solidFill>
            <a:srgbClr val="6BAED6"/>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87" name="Google Shape;287;p11"/>
          <p:cNvSpPr/>
          <p:nvPr/>
        </p:nvSpPr>
        <p:spPr>
          <a:xfrm>
            <a:off x="11850975" y="5127404"/>
            <a:ext cx="3354600" cy="50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084594"/>
              </a:buClr>
              <a:buSzPts val="1492"/>
              <a:buFont typeface="Inter"/>
              <a:buNone/>
            </a:pPr>
            <a:r>
              <a:rPr b="1" i="0" lang="en-US" sz="1492" u="none" cap="none" strike="noStrike">
                <a:solidFill>
                  <a:srgbClr val="084594"/>
                </a:solidFill>
                <a:latin typeface="Inter"/>
                <a:ea typeface="Inter"/>
                <a:cs typeface="Inter"/>
                <a:sym typeface="Inter"/>
              </a:rPr>
              <a:t>REPAIR </a:t>
            </a:r>
            <a:r>
              <a:rPr b="0" i="0" lang="en-US" sz="1492" u="none" cap="none" strike="noStrike">
                <a:solidFill>
                  <a:srgbClr val="16324A"/>
                </a:solidFill>
                <a:highlight>
                  <a:srgbClr val="F7FBFF"/>
                </a:highlight>
                <a:latin typeface="Inter"/>
                <a:ea typeface="Inter"/>
                <a:cs typeface="Inter"/>
                <a:sym typeface="Inter"/>
              </a:rPr>
              <a:t>: strong model edits draft</a:t>
            </a:r>
            <a:endParaRPr b="0" i="0" sz="1492" u="none" cap="none" strike="noStrike">
              <a:solidFill>
                <a:schemeClr val="dk1"/>
              </a:solidFill>
              <a:latin typeface="Calibri"/>
              <a:ea typeface="Calibri"/>
              <a:cs typeface="Calibri"/>
              <a:sym typeface="Calibri"/>
            </a:endParaRPr>
          </a:p>
        </p:txBody>
      </p:sp>
      <p:sp>
        <p:nvSpPr>
          <p:cNvPr id="288" name="Google Shape;288;p11"/>
          <p:cNvSpPr/>
          <p:nvPr/>
        </p:nvSpPr>
        <p:spPr>
          <a:xfrm>
            <a:off x="11540926" y="5869347"/>
            <a:ext cx="3777000" cy="741900"/>
          </a:xfrm>
          <a:prstGeom prst="roundRect">
            <a:avLst>
              <a:gd fmla="val 22340" name="adj"/>
            </a:avLst>
          </a:prstGeom>
          <a:solidFill>
            <a:srgbClr val="F7FBFF"/>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89" name="Google Shape;289;p11"/>
          <p:cNvSpPr/>
          <p:nvPr/>
        </p:nvSpPr>
        <p:spPr>
          <a:xfrm>
            <a:off x="11540926" y="5869347"/>
            <a:ext cx="84300" cy="741900"/>
          </a:xfrm>
          <a:prstGeom prst="rect">
            <a:avLst/>
          </a:prstGeom>
          <a:solidFill>
            <a:srgbClr val="2171B5"/>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a:p>
        </p:txBody>
      </p:sp>
      <p:sp>
        <p:nvSpPr>
          <p:cNvPr id="290" name="Google Shape;290;p11"/>
          <p:cNvSpPr/>
          <p:nvPr/>
        </p:nvSpPr>
        <p:spPr>
          <a:xfrm>
            <a:off x="11850975" y="6011421"/>
            <a:ext cx="3354600" cy="50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084594"/>
              </a:buClr>
              <a:buSzPts val="1492"/>
              <a:buFont typeface="Inter"/>
              <a:buNone/>
            </a:pPr>
            <a:r>
              <a:rPr b="1" i="0" lang="en-US" sz="1492" u="none" cap="none" strike="noStrike">
                <a:solidFill>
                  <a:srgbClr val="084594"/>
                </a:solidFill>
                <a:latin typeface="Inter"/>
                <a:ea typeface="Inter"/>
                <a:cs typeface="Inter"/>
                <a:sym typeface="Inter"/>
              </a:rPr>
              <a:t>REGENERATE </a:t>
            </a:r>
            <a:r>
              <a:rPr b="0" i="0" lang="en-US" sz="1492" u="none" cap="none" strike="noStrike">
                <a:solidFill>
                  <a:srgbClr val="16324A"/>
                </a:solidFill>
                <a:highlight>
                  <a:srgbClr val="F7FBFF"/>
                </a:highlight>
                <a:latin typeface="Inter"/>
                <a:ea typeface="Inter"/>
                <a:cs typeface="Inter"/>
                <a:sym typeface="Inter"/>
              </a:rPr>
              <a:t>: strong model answers fresh</a:t>
            </a:r>
            <a:endParaRPr b="0" i="0" sz="1492" u="none" cap="none" strike="noStrike">
              <a:solidFill>
                <a:schemeClr val="dk1"/>
              </a:solidFill>
              <a:latin typeface="Calibri"/>
              <a:ea typeface="Calibri"/>
              <a:cs typeface="Calibri"/>
              <a:sym typeface="Calibri"/>
            </a:endParaRPr>
          </a:p>
        </p:txBody>
      </p:sp>
      <p:sp>
        <p:nvSpPr>
          <p:cNvPr id="291" name="Google Shape;291;p11"/>
          <p:cNvSpPr/>
          <p:nvPr/>
        </p:nvSpPr>
        <p:spPr>
          <a:xfrm>
            <a:off x="15269803" y="5052426"/>
            <a:ext cx="497700" cy="655200"/>
          </a:xfrm>
          <a:prstGeom prst="rect">
            <a:avLst/>
          </a:prstGeom>
          <a:noFill/>
          <a:ln>
            <a:noFill/>
          </a:ln>
        </p:spPr>
        <p:txBody>
          <a:bodyPr anchorCtr="0" anchor="t" bIns="31575" lIns="31575" spcFirstLastPara="1" rIns="31575" wrap="square" tIns="31575">
            <a:noAutofit/>
          </a:bodyPr>
          <a:lstStyle/>
          <a:p>
            <a:pPr indent="0" lvl="0" marL="0" marR="0" rtl="0" algn="l">
              <a:spcBef>
                <a:spcPts val="0"/>
              </a:spcBef>
              <a:spcAft>
                <a:spcPts val="0"/>
              </a:spcAft>
              <a:buClr>
                <a:srgbClr val="9ECAE1"/>
              </a:buClr>
              <a:buSzPts val="3170"/>
              <a:buFont typeface="Poppins"/>
              <a:buNone/>
            </a:pPr>
            <a:r>
              <a:rPr b="0" i="0" lang="en-US" sz="3170" u="none" cap="none" strike="noStrike">
                <a:solidFill>
                  <a:schemeClr val="dk1"/>
                </a:solidFill>
                <a:latin typeface="Poppins"/>
                <a:ea typeface="Poppins"/>
                <a:cs typeface="Poppins"/>
                <a:sym typeface="Poppins"/>
              </a:rPr>
              <a:t>→</a:t>
            </a:r>
            <a:endParaRPr b="0" i="0" sz="3170" u="none" cap="none" strike="noStrike">
              <a:solidFill>
                <a:schemeClr val="dk1"/>
              </a:solidFill>
              <a:latin typeface="Calibri"/>
              <a:ea typeface="Calibri"/>
              <a:cs typeface="Calibri"/>
              <a:sym typeface="Calibri"/>
            </a:endParaRPr>
          </a:p>
        </p:txBody>
      </p:sp>
      <p:sp>
        <p:nvSpPr>
          <p:cNvPr id="292" name="Google Shape;292;p11"/>
          <p:cNvSpPr/>
          <p:nvPr/>
        </p:nvSpPr>
        <p:spPr>
          <a:xfrm>
            <a:off x="15980966" y="4586736"/>
            <a:ext cx="1776000" cy="1539300"/>
          </a:xfrm>
          <a:prstGeom prst="roundRect">
            <a:avLst>
              <a:gd fmla="val 18462" name="adj"/>
            </a:avLst>
          </a:prstGeom>
          <a:solidFill>
            <a:srgbClr val="084594"/>
          </a:solidFill>
          <a:ln>
            <a:noFill/>
          </a:ln>
        </p:spPr>
        <p:txBody>
          <a:bodyPr anchorCtr="0" anchor="ctr" bIns="113625" lIns="113625" spcFirstLastPara="1" rIns="113625" wrap="square" tIns="113625">
            <a:noAutofit/>
          </a:bodyPr>
          <a:lstStyle/>
          <a:p>
            <a:pPr indent="0" lvl="0" marL="0" rtl="0" algn="l">
              <a:spcBef>
                <a:spcPts val="0"/>
              </a:spcBef>
              <a:spcAft>
                <a:spcPts val="0"/>
              </a:spcAft>
              <a:buNone/>
            </a:pPr>
            <a:r>
              <a:t/>
            </a:r>
            <a:endParaRPr sz="1736"/>
          </a:p>
        </p:txBody>
      </p:sp>
      <p:sp>
        <p:nvSpPr>
          <p:cNvPr id="293" name="Google Shape;293;p11"/>
          <p:cNvSpPr/>
          <p:nvPr/>
        </p:nvSpPr>
        <p:spPr>
          <a:xfrm>
            <a:off x="15933608" y="4586736"/>
            <a:ext cx="1870800" cy="1586400"/>
          </a:xfrm>
          <a:prstGeom prst="rect">
            <a:avLst/>
          </a:prstGeom>
          <a:noFill/>
          <a:ln>
            <a:noFill/>
          </a:ln>
        </p:spPr>
        <p:txBody>
          <a:bodyPr anchorCtr="0" anchor="ctr" bIns="31575" lIns="31575" spcFirstLastPara="1" rIns="31575" wrap="square" tIns="31575">
            <a:noAutofit/>
          </a:bodyPr>
          <a:lstStyle/>
          <a:p>
            <a:pPr indent="0" lvl="0" marL="0" marR="0" rtl="0" algn="ctr">
              <a:spcBef>
                <a:spcPts val="0"/>
              </a:spcBef>
              <a:spcAft>
                <a:spcPts val="0"/>
              </a:spcAft>
              <a:buClr>
                <a:srgbClr val="FFFFFF"/>
              </a:buClr>
              <a:buSzPts val="1678"/>
              <a:buFont typeface="Poppins"/>
              <a:buNone/>
            </a:pPr>
            <a:r>
              <a:rPr b="1" i="0" lang="en-US" sz="1895" u="none" cap="none" strike="noStrike">
                <a:solidFill>
                  <a:srgbClr val="FFFFFF"/>
                </a:solidFill>
                <a:latin typeface="Poppins"/>
                <a:ea typeface="Poppins"/>
                <a:cs typeface="Poppins"/>
                <a:sym typeface="Poppins"/>
              </a:rPr>
              <a:t>Final</a:t>
            </a:r>
            <a:endParaRPr b="1" sz="1895">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1678"/>
              <a:buFont typeface="Poppins"/>
              <a:buNone/>
            </a:pPr>
            <a:r>
              <a:rPr b="1" i="0" lang="en-US" sz="1895" u="none" cap="none" strike="noStrike">
                <a:solidFill>
                  <a:srgbClr val="FFFFFF"/>
                </a:solidFill>
                <a:latin typeface="Poppins"/>
                <a:ea typeface="Poppins"/>
                <a:cs typeface="Poppins"/>
                <a:sym typeface="Poppins"/>
              </a:rPr>
              <a:t>response</a:t>
            </a:r>
            <a:endParaRPr b="0" i="0" sz="1895" u="none" cap="none" strike="noStrike">
              <a:solidFill>
                <a:schemeClr val="dk1"/>
              </a:solidFill>
              <a:latin typeface="Calibri"/>
              <a:ea typeface="Calibri"/>
              <a:cs typeface="Calibri"/>
              <a:sym typeface="Calibri"/>
            </a:endParaRPr>
          </a:p>
        </p:txBody>
      </p:sp>
      <p:sp>
        <p:nvSpPr>
          <p:cNvPr id="294" name="Google Shape;294;p11"/>
          <p:cNvSpPr/>
          <p:nvPr/>
        </p:nvSpPr>
        <p:spPr>
          <a:xfrm>
            <a:off x="2058300" y="7415875"/>
            <a:ext cx="14171400" cy="282600"/>
          </a:xfrm>
          <a:prstGeom prst="rect">
            <a:avLst/>
          </a:prstGeom>
          <a:noFill/>
          <a:ln>
            <a:noFill/>
          </a:ln>
        </p:spPr>
        <p:txBody>
          <a:bodyPr anchorCtr="0" anchor="t" bIns="27550" lIns="27550" spcFirstLastPara="1" rIns="27550" wrap="square" tIns="27550">
            <a:noAutofit/>
          </a:bodyPr>
          <a:lstStyle/>
          <a:p>
            <a:pPr indent="0" lvl="0" marL="0" marR="0" rtl="0" algn="ctr">
              <a:spcBef>
                <a:spcPts val="0"/>
              </a:spcBef>
              <a:spcAft>
                <a:spcPts val="0"/>
              </a:spcAft>
              <a:buClr>
                <a:srgbClr val="4A6785"/>
              </a:buClr>
              <a:buSzPts val="1546"/>
              <a:buFont typeface="Inter"/>
              <a:buNone/>
            </a:pPr>
            <a:r>
              <a:rPr b="0" i="0" lang="en-US" sz="1546" u="none" cap="none" strike="noStrike">
                <a:solidFill>
                  <a:srgbClr val="4A6785"/>
                </a:solidFill>
                <a:latin typeface="Inter"/>
                <a:ea typeface="Inter"/>
                <a:cs typeface="Inter"/>
                <a:sym typeface="Inter"/>
              </a:rPr>
              <a:t>Important: “validator features” are inputs to the ML model, not hard-coded routing rules. Choose lowest calibrated predicted failure risk.</a:t>
            </a:r>
            <a:endParaRPr b="0" i="0" sz="1546" u="none" cap="none" strike="noStrike">
              <a:solidFill>
                <a:schemeClr val="dk1"/>
              </a:solidFill>
              <a:latin typeface="Calibri"/>
              <a:ea typeface="Calibri"/>
              <a:cs typeface="Calibri"/>
              <a:sym typeface="Calibri"/>
            </a:endParaRPr>
          </a:p>
        </p:txBody>
      </p:sp>
      <p:sp>
        <p:nvSpPr>
          <p:cNvPr id="295" name="Google Shape;295;p11"/>
          <p:cNvSpPr/>
          <p:nvPr/>
        </p:nvSpPr>
        <p:spPr>
          <a:xfrm>
            <a:off x="342900" y="9613900"/>
            <a:ext cx="17602200" cy="234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275"/>
              <a:buFont typeface="Inter"/>
              <a:buNone/>
            </a:pPr>
            <a:r>
              <a:rPr b="0" i="0" lang="en-US" sz="1275" u="none" cap="none" strike="noStrike">
                <a:solidFill>
                  <a:srgbClr val="4A6785"/>
                </a:solidFill>
                <a:latin typeface="Inter"/>
                <a:ea typeface="Inter"/>
                <a:cs typeface="Inter"/>
                <a:sym typeface="Inter"/>
              </a:rPr>
              <a:t>Sources: Chuang et al. (ICML 2025) • Mahaut et al. (ACL 2024) • Arimbur (2026, preprint)</a:t>
            </a:r>
            <a:endParaRPr b="0" i="0" sz="1275" u="none" cap="none" strike="noStrike">
              <a:solidFill>
                <a:schemeClr val="dk1"/>
              </a:solidFill>
              <a:latin typeface="Calibri"/>
              <a:ea typeface="Calibri"/>
              <a:cs typeface="Calibri"/>
              <a:sym typeface="Calibri"/>
            </a:endParaRPr>
          </a:p>
        </p:txBody>
      </p:sp>
      <p:pic>
        <p:nvPicPr>
          <p:cNvPr id="296" name="Google Shape;296;p11"/>
          <p:cNvPicPr preferRelativeResize="0"/>
          <p:nvPr/>
        </p:nvPicPr>
        <p:blipFill>
          <a:blip r:embed="rId4">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301" name="Shape 301"/>
        <p:cNvGrpSpPr/>
        <p:nvPr/>
      </p:nvGrpSpPr>
      <p:grpSpPr>
        <a:xfrm>
          <a:off x="0" y="0"/>
          <a:ext cx="0" cy="0"/>
          <a:chOff x="0" y="0"/>
          <a:chExt cx="0" cy="0"/>
        </a:xfrm>
      </p:grpSpPr>
      <p:sp>
        <p:nvSpPr>
          <p:cNvPr id="302" name="Google Shape;302;p12"/>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Methodology</a:t>
            </a:r>
            <a:endParaRPr b="0" i="0" sz="3750" u="none" cap="none" strike="noStrike">
              <a:solidFill>
                <a:schemeClr val="dk1"/>
              </a:solidFill>
              <a:latin typeface="Calibri"/>
              <a:ea typeface="Calibri"/>
              <a:cs typeface="Calibri"/>
              <a:sym typeface="Calibri"/>
            </a:endParaRPr>
          </a:p>
        </p:txBody>
      </p:sp>
      <p:sp>
        <p:nvSpPr>
          <p:cNvPr id="303" name="Google Shape;303;p12"/>
          <p:cNvSpPr/>
          <p:nvPr/>
        </p:nvSpPr>
        <p:spPr>
          <a:xfrm>
            <a:off x="1143000" y="2171700"/>
            <a:ext cx="17602200" cy="33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950"/>
              <a:buFont typeface="Inter"/>
              <a:buNone/>
            </a:pPr>
            <a:r>
              <a:rPr b="0" i="0" lang="en-US" sz="1950" u="none" cap="none" strike="noStrike">
                <a:solidFill>
                  <a:srgbClr val="2C4A63"/>
                </a:solidFill>
                <a:latin typeface="Inter"/>
                <a:ea typeface="Inter"/>
                <a:cs typeface="Inter"/>
                <a:sym typeface="Inter"/>
              </a:rPr>
              <a:t>A controlled offline experiment produces labels for every action, then ACRE learns action-specific failure risk.</a:t>
            </a:r>
            <a:endParaRPr b="0" i="0" sz="1950" u="none" cap="none" strike="noStrike">
              <a:solidFill>
                <a:schemeClr val="dk1"/>
              </a:solidFill>
              <a:latin typeface="Calibri"/>
              <a:ea typeface="Calibri"/>
              <a:cs typeface="Calibri"/>
              <a:sym typeface="Calibri"/>
            </a:endParaRPr>
          </a:p>
        </p:txBody>
      </p:sp>
      <p:sp>
        <p:nvSpPr>
          <p:cNvPr id="304" name="Google Shape;304;p12"/>
          <p:cNvSpPr/>
          <p:nvPr/>
        </p:nvSpPr>
        <p:spPr>
          <a:xfrm>
            <a:off x="2674144" y="2889250"/>
            <a:ext cx="723900" cy="7239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2"/>
          <p:cNvSpPr/>
          <p:nvPr/>
        </p:nvSpPr>
        <p:spPr>
          <a:xfrm>
            <a:off x="2636044" y="2889250"/>
            <a:ext cx="800100" cy="762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84594"/>
              </a:buClr>
              <a:buSzPts val="2100"/>
              <a:buFont typeface="Poppins"/>
              <a:buNone/>
            </a:pPr>
            <a:r>
              <a:rPr b="1" i="0" lang="en-US" sz="2100" u="none" cap="none" strike="noStrike">
                <a:solidFill>
                  <a:srgbClr val="084594"/>
                </a:solidFill>
                <a:latin typeface="Poppins"/>
                <a:ea typeface="Poppins"/>
                <a:cs typeface="Poppins"/>
                <a:sym typeface="Poppins"/>
              </a:rPr>
              <a:t>1</a:t>
            </a:r>
            <a:endParaRPr b="0" i="0" sz="2100" u="none" cap="none" strike="noStrike">
              <a:solidFill>
                <a:schemeClr val="dk1"/>
              </a:solidFill>
              <a:latin typeface="Calibri"/>
              <a:ea typeface="Calibri"/>
              <a:cs typeface="Calibri"/>
              <a:sym typeface="Calibri"/>
            </a:endParaRPr>
          </a:p>
        </p:txBody>
      </p:sp>
      <p:sp>
        <p:nvSpPr>
          <p:cNvPr id="306" name="Google Shape;306;p12"/>
          <p:cNvSpPr/>
          <p:nvPr/>
        </p:nvSpPr>
        <p:spPr>
          <a:xfrm>
            <a:off x="2125002" y="3765550"/>
            <a:ext cx="1942500" cy="336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575"/>
              <a:buFont typeface="Poppins"/>
              <a:buNone/>
            </a:pPr>
            <a:r>
              <a:rPr b="1" i="0" lang="en-US" sz="1775" u="none" cap="none" strike="noStrike">
                <a:solidFill>
                  <a:srgbClr val="084594"/>
                </a:solidFill>
                <a:latin typeface="Poppins"/>
                <a:ea typeface="Poppins"/>
                <a:cs typeface="Poppins"/>
                <a:sym typeface="Poppins"/>
              </a:rPr>
              <a:t>Prepare tasks</a:t>
            </a:r>
            <a:endParaRPr b="0" i="0" sz="1775" u="none" cap="none" strike="noStrike">
              <a:solidFill>
                <a:schemeClr val="dk1"/>
              </a:solidFill>
              <a:latin typeface="Calibri"/>
              <a:ea typeface="Calibri"/>
              <a:cs typeface="Calibri"/>
              <a:sym typeface="Calibri"/>
            </a:endParaRPr>
          </a:p>
        </p:txBody>
      </p:sp>
      <p:sp>
        <p:nvSpPr>
          <p:cNvPr id="307" name="Google Shape;307;p12"/>
          <p:cNvSpPr/>
          <p:nvPr/>
        </p:nvSpPr>
        <p:spPr>
          <a:xfrm>
            <a:off x="1262801" y="4527658"/>
            <a:ext cx="3546600" cy="798000"/>
          </a:xfrm>
          <a:prstGeom prst="rect">
            <a:avLst/>
          </a:prstGeom>
          <a:noFill/>
          <a:ln>
            <a:noFill/>
          </a:ln>
        </p:spPr>
        <p:txBody>
          <a:bodyPr anchorCtr="0" anchor="t" bIns="25400" lIns="25400" spcFirstLastPara="1" rIns="25400" wrap="square" tIns="25400">
            <a:noAutofit/>
          </a:bodyPr>
          <a:lstStyle/>
          <a:p>
            <a:pPr indent="0" lvl="0" marL="0" marR="0" rtl="0" algn="ctr">
              <a:lnSpc>
                <a:spcPct val="114000"/>
              </a:lnSpc>
              <a:spcBef>
                <a:spcPts val="0"/>
              </a:spcBef>
              <a:spcAft>
                <a:spcPts val="0"/>
              </a:spcAft>
              <a:buClr>
                <a:srgbClr val="16324A"/>
              </a:buClr>
              <a:buSzPts val="1425"/>
              <a:buFont typeface="Inter"/>
              <a:buNone/>
            </a:pPr>
            <a:r>
              <a:rPr b="0" i="0" lang="en-US" sz="1825" u="none" cap="none" strike="noStrike">
                <a:solidFill>
                  <a:srgbClr val="16324A"/>
                </a:solidFill>
                <a:latin typeface="Inter"/>
                <a:ea typeface="Inter"/>
                <a:cs typeface="Inter"/>
                <a:sym typeface="Inter"/>
              </a:rPr>
              <a:t>DebugBench + HumanEval+/MBPP+ and FinQA; task-level 60/20/20 split; objective validators.</a:t>
            </a:r>
            <a:endParaRPr b="0" i="0" sz="1825" u="none" cap="none" strike="noStrike">
              <a:solidFill>
                <a:schemeClr val="dk1"/>
              </a:solidFill>
              <a:latin typeface="Calibri"/>
              <a:ea typeface="Calibri"/>
              <a:cs typeface="Calibri"/>
              <a:sym typeface="Calibri"/>
            </a:endParaRPr>
          </a:p>
        </p:txBody>
      </p:sp>
      <p:sp>
        <p:nvSpPr>
          <p:cNvPr id="308" name="Google Shape;308;p12"/>
          <p:cNvSpPr/>
          <p:nvPr/>
        </p:nvSpPr>
        <p:spPr>
          <a:xfrm>
            <a:off x="6746081" y="2889250"/>
            <a:ext cx="723900" cy="7239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6707981" y="2889250"/>
            <a:ext cx="800100" cy="762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Poppins"/>
              <a:buNone/>
            </a:pPr>
            <a:r>
              <a:rPr b="1" i="0" lang="en-US" sz="2100" u="none" cap="none" strike="noStrike">
                <a:solidFill>
                  <a:srgbClr val="FFFFFF"/>
                </a:solidFill>
                <a:latin typeface="Poppins"/>
                <a:ea typeface="Poppins"/>
                <a:cs typeface="Poppins"/>
                <a:sym typeface="Poppins"/>
              </a:rPr>
              <a:t>2</a:t>
            </a:r>
            <a:endParaRPr b="0" i="0" sz="2100" u="none" cap="none" strike="noStrike">
              <a:solidFill>
                <a:schemeClr val="dk1"/>
              </a:solidFill>
              <a:latin typeface="Calibri"/>
              <a:ea typeface="Calibri"/>
              <a:cs typeface="Calibri"/>
              <a:sym typeface="Calibri"/>
            </a:endParaRPr>
          </a:p>
        </p:txBody>
      </p:sp>
      <p:sp>
        <p:nvSpPr>
          <p:cNvPr id="310" name="Google Shape;310;p12"/>
          <p:cNvSpPr/>
          <p:nvPr/>
        </p:nvSpPr>
        <p:spPr>
          <a:xfrm>
            <a:off x="5599817" y="3765550"/>
            <a:ext cx="3016500" cy="336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575"/>
              <a:buFont typeface="Poppins"/>
              <a:buNone/>
            </a:pPr>
            <a:r>
              <a:rPr b="1" i="0" lang="en-US" sz="1775" u="none" cap="none" strike="noStrike">
                <a:solidFill>
                  <a:srgbClr val="084594"/>
                </a:solidFill>
                <a:latin typeface="Poppins"/>
                <a:ea typeface="Poppins"/>
                <a:cs typeface="Poppins"/>
                <a:sym typeface="Poppins"/>
              </a:rPr>
              <a:t>Generate action outcomes</a:t>
            </a:r>
            <a:endParaRPr b="0" i="0" sz="1775" u="none" cap="none" strike="noStrike">
              <a:solidFill>
                <a:schemeClr val="dk1"/>
              </a:solidFill>
              <a:latin typeface="Calibri"/>
              <a:ea typeface="Calibri"/>
              <a:cs typeface="Calibri"/>
              <a:sym typeface="Calibri"/>
            </a:endParaRPr>
          </a:p>
        </p:txBody>
      </p:sp>
      <p:sp>
        <p:nvSpPr>
          <p:cNvPr id="311" name="Google Shape;311;p12"/>
          <p:cNvSpPr/>
          <p:nvPr/>
        </p:nvSpPr>
        <p:spPr>
          <a:xfrm>
            <a:off x="5334738" y="4527658"/>
            <a:ext cx="3546600" cy="798000"/>
          </a:xfrm>
          <a:prstGeom prst="rect">
            <a:avLst/>
          </a:prstGeom>
          <a:noFill/>
          <a:ln>
            <a:noFill/>
          </a:ln>
        </p:spPr>
        <p:txBody>
          <a:bodyPr anchorCtr="0" anchor="t" bIns="25400" lIns="25400" spcFirstLastPara="1" rIns="25400" wrap="square" tIns="25400">
            <a:noAutofit/>
          </a:bodyPr>
          <a:lstStyle/>
          <a:p>
            <a:pPr indent="0" lvl="0" marL="0" marR="0" rtl="0" algn="ctr">
              <a:lnSpc>
                <a:spcPct val="114000"/>
              </a:lnSpc>
              <a:spcBef>
                <a:spcPts val="0"/>
              </a:spcBef>
              <a:spcAft>
                <a:spcPts val="0"/>
              </a:spcAft>
              <a:buClr>
                <a:srgbClr val="16324A"/>
              </a:buClr>
              <a:buSzPts val="1425"/>
              <a:buFont typeface="Inter"/>
              <a:buNone/>
            </a:pPr>
            <a:r>
              <a:rPr b="0" i="0" lang="en-US" sz="1825" u="none" cap="none" strike="noStrike">
                <a:solidFill>
                  <a:srgbClr val="16324A"/>
                </a:solidFill>
                <a:latin typeface="Inter"/>
                <a:ea typeface="Inter"/>
                <a:cs typeface="Inter"/>
                <a:sym typeface="Inter"/>
              </a:rPr>
              <a:t>For each SLM response: validate ACCEPT; run one strong-model REPAIR; run one independent REGENERATE.</a:t>
            </a:r>
            <a:endParaRPr b="0" i="0" sz="1825" u="none" cap="none" strike="noStrike">
              <a:solidFill>
                <a:schemeClr val="dk1"/>
              </a:solidFill>
              <a:latin typeface="Calibri"/>
              <a:ea typeface="Calibri"/>
              <a:cs typeface="Calibri"/>
              <a:sym typeface="Calibri"/>
            </a:endParaRPr>
          </a:p>
        </p:txBody>
      </p:sp>
      <p:sp>
        <p:nvSpPr>
          <p:cNvPr id="312" name="Google Shape;312;p12"/>
          <p:cNvSpPr/>
          <p:nvPr/>
        </p:nvSpPr>
        <p:spPr>
          <a:xfrm>
            <a:off x="10818019" y="2889250"/>
            <a:ext cx="723900" cy="723900"/>
          </a:xfrm>
          <a:prstGeom prst="ellipse">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10779919" y="2889250"/>
            <a:ext cx="800100" cy="762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Poppins"/>
              <a:buNone/>
            </a:pPr>
            <a:r>
              <a:rPr b="1" i="0" lang="en-US" sz="2100" u="none" cap="none" strike="noStrike">
                <a:solidFill>
                  <a:srgbClr val="FFFFFF"/>
                </a:solidFill>
                <a:latin typeface="Poppins"/>
                <a:ea typeface="Poppins"/>
                <a:cs typeface="Poppins"/>
                <a:sym typeface="Poppins"/>
              </a:rPr>
              <a:t>3</a:t>
            </a:r>
            <a:endParaRPr b="0" i="0" sz="2100" u="none" cap="none" strike="noStrike">
              <a:solidFill>
                <a:schemeClr val="dk1"/>
              </a:solidFill>
              <a:latin typeface="Calibri"/>
              <a:ea typeface="Calibri"/>
              <a:cs typeface="Calibri"/>
              <a:sym typeface="Calibri"/>
            </a:endParaRPr>
          </a:p>
        </p:txBody>
      </p:sp>
      <p:sp>
        <p:nvSpPr>
          <p:cNvPr id="314" name="Google Shape;314;p12"/>
          <p:cNvSpPr/>
          <p:nvPr/>
        </p:nvSpPr>
        <p:spPr>
          <a:xfrm>
            <a:off x="10148649" y="3765550"/>
            <a:ext cx="2139000" cy="336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575"/>
              <a:buFont typeface="Poppins"/>
              <a:buNone/>
            </a:pPr>
            <a:r>
              <a:rPr b="1" i="0" lang="en-US" sz="1775" u="none" cap="none" strike="noStrike">
                <a:solidFill>
                  <a:srgbClr val="084594"/>
                </a:solidFill>
                <a:latin typeface="Poppins"/>
                <a:ea typeface="Poppins"/>
                <a:cs typeface="Poppins"/>
                <a:sym typeface="Poppins"/>
              </a:rPr>
              <a:t>Train + calibrate</a:t>
            </a:r>
            <a:endParaRPr b="0" i="0" sz="1775" u="none" cap="none" strike="noStrike">
              <a:solidFill>
                <a:schemeClr val="dk1"/>
              </a:solidFill>
              <a:latin typeface="Calibri"/>
              <a:ea typeface="Calibri"/>
              <a:cs typeface="Calibri"/>
              <a:sym typeface="Calibri"/>
            </a:endParaRPr>
          </a:p>
        </p:txBody>
      </p:sp>
      <p:sp>
        <p:nvSpPr>
          <p:cNvPr id="315" name="Google Shape;315;p12"/>
          <p:cNvSpPr/>
          <p:nvPr/>
        </p:nvSpPr>
        <p:spPr>
          <a:xfrm>
            <a:off x="9406676" y="4527658"/>
            <a:ext cx="3546600" cy="798000"/>
          </a:xfrm>
          <a:prstGeom prst="rect">
            <a:avLst/>
          </a:prstGeom>
          <a:noFill/>
          <a:ln>
            <a:noFill/>
          </a:ln>
        </p:spPr>
        <p:txBody>
          <a:bodyPr anchorCtr="0" anchor="t" bIns="25400" lIns="25400" spcFirstLastPara="1" rIns="25400" wrap="square" tIns="25400">
            <a:noAutofit/>
          </a:bodyPr>
          <a:lstStyle/>
          <a:p>
            <a:pPr indent="0" lvl="0" marL="0" marR="0" rtl="0" algn="ctr">
              <a:lnSpc>
                <a:spcPct val="114000"/>
              </a:lnSpc>
              <a:spcBef>
                <a:spcPts val="0"/>
              </a:spcBef>
              <a:spcAft>
                <a:spcPts val="0"/>
              </a:spcAft>
              <a:buClr>
                <a:srgbClr val="16324A"/>
              </a:buClr>
              <a:buSzPts val="1425"/>
              <a:buFont typeface="Inter"/>
              <a:buNone/>
            </a:pPr>
            <a:r>
              <a:rPr b="0" i="0" lang="en-US" sz="1825" u="none" cap="none" strike="noStrike">
                <a:solidFill>
                  <a:srgbClr val="16324A"/>
                </a:solidFill>
                <a:latin typeface="Inter"/>
                <a:ea typeface="Inter"/>
                <a:cs typeface="Inter"/>
                <a:sym typeface="Inter"/>
              </a:rPr>
              <a:t>Train three failure-probability heads; compare logistic regression, XGBoost, direct 3-class, uncalibrated MLP.</a:t>
            </a:r>
            <a:endParaRPr b="0" i="0" sz="1825" u="none" cap="none" strike="noStrike">
              <a:solidFill>
                <a:schemeClr val="dk1"/>
              </a:solidFill>
              <a:latin typeface="Calibri"/>
              <a:ea typeface="Calibri"/>
              <a:cs typeface="Calibri"/>
              <a:sym typeface="Calibri"/>
            </a:endParaRPr>
          </a:p>
        </p:txBody>
      </p:sp>
      <p:sp>
        <p:nvSpPr>
          <p:cNvPr id="316" name="Google Shape;316;p12"/>
          <p:cNvSpPr/>
          <p:nvPr/>
        </p:nvSpPr>
        <p:spPr>
          <a:xfrm>
            <a:off x="14889956" y="2889250"/>
            <a:ext cx="723900" cy="723900"/>
          </a:xfrm>
          <a:prstGeom prst="ellipse">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14851856" y="2889250"/>
            <a:ext cx="800100" cy="762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Poppins"/>
              <a:buNone/>
            </a:pPr>
            <a:r>
              <a:rPr b="1" i="0" lang="en-US" sz="2100" u="none" cap="none" strike="noStrike">
                <a:solidFill>
                  <a:srgbClr val="FFFFFF"/>
                </a:solidFill>
                <a:latin typeface="Poppins"/>
                <a:ea typeface="Poppins"/>
                <a:cs typeface="Poppins"/>
                <a:sym typeface="Poppins"/>
              </a:rPr>
              <a:t>4</a:t>
            </a:r>
            <a:endParaRPr b="0" i="0" sz="2100" u="none" cap="none" strike="noStrike">
              <a:solidFill>
                <a:schemeClr val="dk1"/>
              </a:solidFill>
              <a:latin typeface="Calibri"/>
              <a:ea typeface="Calibri"/>
              <a:cs typeface="Calibri"/>
              <a:sym typeface="Calibri"/>
            </a:endParaRPr>
          </a:p>
        </p:txBody>
      </p:sp>
      <p:sp>
        <p:nvSpPr>
          <p:cNvPr id="318" name="Google Shape;318;p12"/>
          <p:cNvSpPr/>
          <p:nvPr/>
        </p:nvSpPr>
        <p:spPr>
          <a:xfrm>
            <a:off x="14094366" y="3765550"/>
            <a:ext cx="2315100" cy="336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575"/>
              <a:buFont typeface="Poppins"/>
              <a:buNone/>
            </a:pPr>
            <a:r>
              <a:rPr b="1" i="0" lang="en-US" sz="1775" u="none" cap="none" strike="noStrike">
                <a:solidFill>
                  <a:srgbClr val="084594"/>
                </a:solidFill>
                <a:latin typeface="Poppins"/>
                <a:ea typeface="Poppins"/>
                <a:cs typeface="Poppins"/>
                <a:sym typeface="Poppins"/>
              </a:rPr>
              <a:t>Evaluate risk control</a:t>
            </a:r>
            <a:endParaRPr b="0" i="0" sz="1775" u="none" cap="none" strike="noStrike">
              <a:solidFill>
                <a:schemeClr val="dk1"/>
              </a:solidFill>
              <a:latin typeface="Calibri"/>
              <a:ea typeface="Calibri"/>
              <a:cs typeface="Calibri"/>
              <a:sym typeface="Calibri"/>
            </a:endParaRPr>
          </a:p>
        </p:txBody>
      </p:sp>
      <p:sp>
        <p:nvSpPr>
          <p:cNvPr id="319" name="Google Shape;319;p12"/>
          <p:cNvSpPr/>
          <p:nvPr/>
        </p:nvSpPr>
        <p:spPr>
          <a:xfrm>
            <a:off x="13478613" y="4527658"/>
            <a:ext cx="3546600" cy="798000"/>
          </a:xfrm>
          <a:prstGeom prst="rect">
            <a:avLst/>
          </a:prstGeom>
          <a:noFill/>
          <a:ln>
            <a:noFill/>
          </a:ln>
        </p:spPr>
        <p:txBody>
          <a:bodyPr anchorCtr="0" anchor="t" bIns="25400" lIns="25400" spcFirstLastPara="1" rIns="25400" wrap="square" tIns="25400">
            <a:noAutofit/>
          </a:bodyPr>
          <a:lstStyle/>
          <a:p>
            <a:pPr indent="0" lvl="0" marL="0" marR="0" rtl="0" algn="ctr">
              <a:lnSpc>
                <a:spcPct val="114000"/>
              </a:lnSpc>
              <a:spcBef>
                <a:spcPts val="0"/>
              </a:spcBef>
              <a:spcAft>
                <a:spcPts val="0"/>
              </a:spcAft>
              <a:buClr>
                <a:srgbClr val="16324A"/>
              </a:buClr>
              <a:buSzPts val="1425"/>
              <a:buFont typeface="Inter"/>
              <a:buNone/>
            </a:pPr>
            <a:r>
              <a:rPr b="0" i="0" lang="en-US" sz="1825" u="none" cap="none" strike="noStrike">
                <a:solidFill>
                  <a:srgbClr val="16324A"/>
                </a:solidFill>
                <a:latin typeface="Inter"/>
                <a:ea typeface="Inter"/>
                <a:cs typeface="Inter"/>
                <a:sym typeface="Inter"/>
              </a:rPr>
              <a:t>Compare final incorrect-response rate, false acceptance, Brier/ECE, per-action AUROC, and risk regret vs oracle.</a:t>
            </a:r>
            <a:endParaRPr b="0" i="0" sz="1825" u="none" cap="none" strike="noStrike">
              <a:solidFill>
                <a:schemeClr val="dk1"/>
              </a:solidFill>
              <a:latin typeface="Calibri"/>
              <a:ea typeface="Calibri"/>
              <a:cs typeface="Calibri"/>
              <a:sym typeface="Calibri"/>
            </a:endParaRPr>
          </a:p>
        </p:txBody>
      </p:sp>
      <p:sp>
        <p:nvSpPr>
          <p:cNvPr id="320" name="Google Shape;320;p12"/>
          <p:cNvSpPr/>
          <p:nvPr/>
        </p:nvSpPr>
        <p:spPr>
          <a:xfrm>
            <a:off x="1143000" y="6562025"/>
            <a:ext cx="16002000" cy="1604700"/>
          </a:xfrm>
          <a:prstGeom prst="roundRect">
            <a:avLst>
              <a:gd fmla="val 1754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321" name="Google Shape;321;p12"/>
          <p:cNvSpPr/>
          <p:nvPr/>
        </p:nvSpPr>
        <p:spPr>
          <a:xfrm>
            <a:off x="1428750"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SLM 1 </a:t>
            </a:r>
            <a:r>
              <a:rPr b="0" i="0" lang="en-US" sz="1650" u="none" cap="none" strike="noStrike">
                <a:solidFill>
                  <a:srgbClr val="16324A"/>
                </a:solidFill>
                <a:latin typeface="Inter"/>
                <a:ea typeface="Inter"/>
                <a:cs typeface="Inter"/>
                <a:sym typeface="Inter"/>
              </a:rPr>
              <a:t>Qwen3-4B-Instruct</a:t>
            </a:r>
            <a:endParaRPr b="0" i="0" sz="1650" u="none" cap="none" strike="noStrike">
              <a:solidFill>
                <a:schemeClr val="dk1"/>
              </a:solidFill>
              <a:latin typeface="Calibri"/>
              <a:ea typeface="Calibri"/>
              <a:cs typeface="Calibri"/>
              <a:sym typeface="Calibri"/>
            </a:endParaRPr>
          </a:p>
        </p:txBody>
      </p:sp>
      <p:sp>
        <p:nvSpPr>
          <p:cNvPr id="322" name="Google Shape;322;p12"/>
          <p:cNvSpPr/>
          <p:nvPr/>
        </p:nvSpPr>
        <p:spPr>
          <a:xfrm>
            <a:off x="4048125"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SLM 2 </a:t>
            </a:r>
            <a:endParaRPr b="1" i="0" sz="1650" u="none" cap="none" strike="noStrike">
              <a:solidFill>
                <a:srgbClr val="2171B5"/>
              </a:solidFill>
              <a:latin typeface="Inter"/>
              <a:ea typeface="Inter"/>
              <a:cs typeface="Inter"/>
              <a:sym typeface="Inter"/>
            </a:endParaRPr>
          </a:p>
          <a:p>
            <a:pPr indent="0" lvl="0" marL="0" marR="0" rtl="0" algn="l">
              <a:spcBef>
                <a:spcPts val="0"/>
              </a:spcBef>
              <a:spcAft>
                <a:spcPts val="0"/>
              </a:spcAft>
              <a:buClr>
                <a:srgbClr val="2171B5"/>
              </a:buClr>
              <a:buSzPts val="1350"/>
              <a:buFont typeface="Inter"/>
              <a:buNone/>
            </a:pPr>
            <a:r>
              <a:rPr b="0" i="0" lang="en-US" sz="1650" u="none" cap="none" strike="noStrike">
                <a:solidFill>
                  <a:srgbClr val="16324A"/>
                </a:solidFill>
                <a:latin typeface="Inter"/>
                <a:ea typeface="Inter"/>
                <a:cs typeface="Inter"/>
                <a:sym typeface="Inter"/>
              </a:rPr>
              <a:t>Gemma 3 4B IT</a:t>
            </a:r>
            <a:endParaRPr b="0" i="0" sz="1650" u="none" cap="none" strike="noStrike">
              <a:solidFill>
                <a:schemeClr val="dk1"/>
              </a:solidFill>
              <a:latin typeface="Calibri"/>
              <a:ea typeface="Calibri"/>
              <a:cs typeface="Calibri"/>
              <a:sym typeface="Calibri"/>
            </a:endParaRPr>
          </a:p>
        </p:txBody>
      </p:sp>
      <p:sp>
        <p:nvSpPr>
          <p:cNvPr id="323" name="Google Shape;323;p12"/>
          <p:cNvSpPr/>
          <p:nvPr/>
        </p:nvSpPr>
        <p:spPr>
          <a:xfrm>
            <a:off x="6667500"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Strong model </a:t>
            </a:r>
            <a:endParaRPr b="1" i="0" sz="1650" u="none" cap="none" strike="noStrike">
              <a:solidFill>
                <a:srgbClr val="2171B5"/>
              </a:solidFill>
              <a:latin typeface="Inter"/>
              <a:ea typeface="Inter"/>
              <a:cs typeface="Inter"/>
              <a:sym typeface="Inter"/>
            </a:endParaRPr>
          </a:p>
          <a:p>
            <a:pPr indent="0" lvl="0" marL="0" marR="0" rtl="0" algn="l">
              <a:spcBef>
                <a:spcPts val="0"/>
              </a:spcBef>
              <a:spcAft>
                <a:spcPts val="0"/>
              </a:spcAft>
              <a:buClr>
                <a:srgbClr val="2171B5"/>
              </a:buClr>
              <a:buSzPts val="1350"/>
              <a:buFont typeface="Inter"/>
              <a:buNone/>
            </a:pPr>
            <a:r>
              <a:rPr b="0" i="0" lang="en-US" sz="1650" u="none" cap="none" strike="noStrike">
                <a:solidFill>
                  <a:srgbClr val="16324A"/>
                </a:solidFill>
                <a:latin typeface="Inter"/>
                <a:ea typeface="Inter"/>
                <a:cs typeface="Inter"/>
                <a:sym typeface="Inter"/>
              </a:rPr>
              <a:t>GPT-4.1</a:t>
            </a:r>
            <a:endParaRPr b="0" i="0" sz="1650" u="none" cap="none" strike="noStrike">
              <a:solidFill>
                <a:schemeClr val="dk1"/>
              </a:solidFill>
              <a:latin typeface="Calibri"/>
              <a:ea typeface="Calibri"/>
              <a:cs typeface="Calibri"/>
              <a:sym typeface="Calibri"/>
            </a:endParaRPr>
          </a:p>
        </p:txBody>
      </p:sp>
      <p:sp>
        <p:nvSpPr>
          <p:cNvPr id="324" name="Google Shape;324;p12"/>
          <p:cNvSpPr/>
          <p:nvPr/>
        </p:nvSpPr>
        <p:spPr>
          <a:xfrm>
            <a:off x="9286875"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Risk scorer </a:t>
            </a:r>
            <a:endParaRPr b="1" i="0" sz="1650" u="none" cap="none" strike="noStrike">
              <a:solidFill>
                <a:srgbClr val="2171B5"/>
              </a:solidFill>
              <a:latin typeface="Inter"/>
              <a:ea typeface="Inter"/>
              <a:cs typeface="Inter"/>
              <a:sym typeface="Inter"/>
            </a:endParaRPr>
          </a:p>
          <a:p>
            <a:pPr indent="0" lvl="0" marL="0" marR="0" rtl="0" algn="l">
              <a:spcBef>
                <a:spcPts val="0"/>
              </a:spcBef>
              <a:spcAft>
                <a:spcPts val="0"/>
              </a:spcAft>
              <a:buClr>
                <a:srgbClr val="2171B5"/>
              </a:buClr>
              <a:buSzPts val="1350"/>
              <a:buFont typeface="Inter"/>
              <a:buNone/>
            </a:pPr>
            <a:r>
              <a:rPr b="0" i="0" lang="en-US" sz="1650" u="none" cap="none" strike="noStrike">
                <a:solidFill>
                  <a:srgbClr val="16324A"/>
                </a:solidFill>
                <a:latin typeface="Inter"/>
                <a:ea typeface="Inter"/>
                <a:cs typeface="Inter"/>
                <a:sym typeface="Inter"/>
              </a:rPr>
              <a:t>ACRE: shared MLP + 3 heads</a:t>
            </a:r>
            <a:endParaRPr b="0" i="0" sz="1650" u="none" cap="none" strike="noStrike">
              <a:solidFill>
                <a:schemeClr val="dk1"/>
              </a:solidFill>
              <a:latin typeface="Calibri"/>
              <a:ea typeface="Calibri"/>
              <a:cs typeface="Calibri"/>
              <a:sym typeface="Calibri"/>
            </a:endParaRPr>
          </a:p>
        </p:txBody>
      </p:sp>
      <p:sp>
        <p:nvSpPr>
          <p:cNvPr id="325" name="Google Shape;325;p12"/>
          <p:cNvSpPr/>
          <p:nvPr/>
        </p:nvSpPr>
        <p:spPr>
          <a:xfrm>
            <a:off x="11906250"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Calibration </a:t>
            </a:r>
            <a:endParaRPr b="1" i="0" sz="1650" u="none" cap="none" strike="noStrike">
              <a:solidFill>
                <a:srgbClr val="2171B5"/>
              </a:solidFill>
              <a:latin typeface="Inter"/>
              <a:ea typeface="Inter"/>
              <a:cs typeface="Inter"/>
              <a:sym typeface="Inter"/>
            </a:endParaRPr>
          </a:p>
          <a:p>
            <a:pPr indent="0" lvl="0" marL="0" marR="0" rtl="0" algn="l">
              <a:spcBef>
                <a:spcPts val="0"/>
              </a:spcBef>
              <a:spcAft>
                <a:spcPts val="0"/>
              </a:spcAft>
              <a:buClr>
                <a:srgbClr val="2171B5"/>
              </a:buClr>
              <a:buSzPts val="1350"/>
              <a:buFont typeface="Inter"/>
              <a:buNone/>
            </a:pPr>
            <a:r>
              <a:rPr b="0" i="0" lang="en-US" sz="1650" u="none" cap="none" strike="noStrike">
                <a:solidFill>
                  <a:srgbClr val="16324A"/>
                </a:solidFill>
                <a:latin typeface="Inter"/>
                <a:ea typeface="Inter"/>
                <a:cs typeface="Inter"/>
                <a:sym typeface="Inter"/>
              </a:rPr>
              <a:t>Per-head temperature scaling</a:t>
            </a:r>
            <a:endParaRPr b="0" i="0" sz="1650" u="none" cap="none" strike="noStrike">
              <a:solidFill>
                <a:schemeClr val="dk1"/>
              </a:solidFill>
              <a:latin typeface="Calibri"/>
              <a:ea typeface="Calibri"/>
              <a:cs typeface="Calibri"/>
              <a:sym typeface="Calibri"/>
            </a:endParaRPr>
          </a:p>
        </p:txBody>
      </p:sp>
      <p:sp>
        <p:nvSpPr>
          <p:cNvPr id="326" name="Google Shape;326;p12"/>
          <p:cNvSpPr/>
          <p:nvPr/>
        </p:nvSpPr>
        <p:spPr>
          <a:xfrm>
            <a:off x="14525625" y="6899849"/>
            <a:ext cx="2409900" cy="98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350"/>
              <a:buFont typeface="Inter"/>
              <a:buNone/>
            </a:pPr>
            <a:r>
              <a:rPr b="1" i="0" lang="en-US" sz="1650" u="none" cap="none" strike="noStrike">
                <a:solidFill>
                  <a:srgbClr val="2171B5"/>
                </a:solidFill>
                <a:latin typeface="Inter"/>
                <a:ea typeface="Inter"/>
                <a:cs typeface="Inter"/>
                <a:sym typeface="Inter"/>
              </a:rPr>
              <a:t>Domains </a:t>
            </a:r>
            <a:endParaRPr b="1" i="0" sz="1650" u="none" cap="none" strike="noStrike">
              <a:solidFill>
                <a:srgbClr val="2171B5"/>
              </a:solidFill>
              <a:latin typeface="Inter"/>
              <a:ea typeface="Inter"/>
              <a:cs typeface="Inter"/>
              <a:sym typeface="Inter"/>
            </a:endParaRPr>
          </a:p>
          <a:p>
            <a:pPr indent="0" lvl="0" marL="0" marR="0" rtl="0" algn="l">
              <a:spcBef>
                <a:spcPts val="0"/>
              </a:spcBef>
              <a:spcAft>
                <a:spcPts val="0"/>
              </a:spcAft>
              <a:buClr>
                <a:srgbClr val="2171B5"/>
              </a:buClr>
              <a:buSzPts val="1350"/>
              <a:buFont typeface="Inter"/>
              <a:buNone/>
            </a:pPr>
            <a:r>
              <a:rPr b="0" i="0" lang="en-US" sz="1650" u="none" cap="none" strike="noStrike">
                <a:solidFill>
                  <a:srgbClr val="16324A"/>
                </a:solidFill>
                <a:latin typeface="Inter"/>
                <a:ea typeface="Inter"/>
                <a:cs typeface="Inter"/>
                <a:sym typeface="Inter"/>
              </a:rPr>
              <a:t>Code debugging + financial reasoning</a:t>
            </a:r>
            <a:endParaRPr b="0" i="0" sz="1650" u="none" cap="none" strike="noStrike">
              <a:solidFill>
                <a:schemeClr val="dk1"/>
              </a:solidFill>
              <a:latin typeface="Calibri"/>
              <a:ea typeface="Calibri"/>
              <a:cs typeface="Calibri"/>
              <a:sym typeface="Calibri"/>
            </a:endParaRPr>
          </a:p>
        </p:txBody>
      </p:sp>
      <p:sp>
        <p:nvSpPr>
          <p:cNvPr id="327" name="Google Shape;327;p12"/>
          <p:cNvSpPr/>
          <p:nvPr/>
        </p:nvSpPr>
        <p:spPr>
          <a:xfrm>
            <a:off x="1143000" y="8884392"/>
            <a:ext cx="16482000" cy="482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425"/>
              <a:buFont typeface="Inter"/>
              <a:buNone/>
            </a:pPr>
            <a:r>
              <a:rPr b="0" i="0" lang="en-US" sz="1425" u="none" cap="none" strike="noStrike">
                <a:solidFill>
                  <a:srgbClr val="4A6785"/>
                </a:solidFill>
                <a:latin typeface="Inter"/>
                <a:ea typeface="Inter"/>
                <a:cs typeface="Inter"/>
                <a:sym typeface="Inter"/>
              </a:rPr>
              <a:t>Primary scope: 1,000–1,400 examples; 250–350 cross-SLM examples; one correction attempt only. </a:t>
            </a:r>
            <a:endParaRPr b="0" i="0" sz="1425" u="none" cap="none" strike="noStrike">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t/>
            </a:r>
            <a:endParaRPr sz="1425">
              <a:solidFill>
                <a:srgbClr val="4A6785"/>
              </a:solidFill>
              <a:latin typeface="Inter"/>
              <a:ea typeface="Inter"/>
              <a:cs typeface="Inter"/>
              <a:sym typeface="Inter"/>
            </a:endParaRPr>
          </a:p>
          <a:p>
            <a:pPr indent="0" lvl="0" marL="0" marR="0" rtl="0" algn="l">
              <a:spcBef>
                <a:spcPts val="0"/>
              </a:spcBef>
              <a:spcAft>
                <a:spcPts val="0"/>
              </a:spcAft>
              <a:buClr>
                <a:srgbClr val="4A6785"/>
              </a:buClr>
              <a:buSzPts val="1425"/>
              <a:buFont typeface="Inter"/>
              <a:buNone/>
            </a:pPr>
            <a:r>
              <a:rPr b="0" i="0" lang="en-US" sz="1425" u="none" cap="none" strike="noStrike">
                <a:solidFill>
                  <a:srgbClr val="4A6785"/>
                </a:solidFill>
                <a:latin typeface="Inter"/>
                <a:ea typeface="Inter"/>
                <a:cs typeface="Inter"/>
                <a:sym typeface="Inter"/>
              </a:rPr>
              <a:t>Sources: Tian et al., DebugBench (Findings of ACL 2024) • Chen et al., FinQA (EMNLP 2021) • Qwen Team (2025)</a:t>
            </a:r>
            <a:endParaRPr b="0" i="0" sz="1425" u="none" cap="none" strike="noStrike">
              <a:solidFill>
                <a:schemeClr val="dk1"/>
              </a:solidFill>
              <a:latin typeface="Calibri"/>
              <a:ea typeface="Calibri"/>
              <a:cs typeface="Calibri"/>
              <a:sym typeface="Calibri"/>
            </a:endParaRPr>
          </a:p>
        </p:txBody>
      </p:sp>
      <p:pic>
        <p:nvPicPr>
          <p:cNvPr id="328" name="Google Shape;328;p12"/>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3"/>
          <p:cNvSpPr/>
          <p:nvPr/>
        </p:nvSpPr>
        <p:spPr>
          <a:xfrm>
            <a:off x="1143000" y="1301750"/>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Risk Scoring Model: ACRE</a:t>
            </a:r>
            <a:endParaRPr b="0" i="0" sz="3750" u="none" cap="none" strike="noStrike">
              <a:solidFill>
                <a:schemeClr val="dk1"/>
              </a:solidFill>
              <a:latin typeface="Calibri"/>
              <a:ea typeface="Calibri"/>
              <a:cs typeface="Calibri"/>
              <a:sym typeface="Calibri"/>
            </a:endParaRPr>
          </a:p>
        </p:txBody>
      </p:sp>
      <p:sp>
        <p:nvSpPr>
          <p:cNvPr id="335" name="Google Shape;335;p13"/>
          <p:cNvSpPr/>
          <p:nvPr/>
        </p:nvSpPr>
        <p:spPr>
          <a:xfrm>
            <a:off x="943351" y="2836950"/>
            <a:ext cx="2967000" cy="364200"/>
          </a:xfrm>
          <a:prstGeom prst="rect">
            <a:avLst/>
          </a:prstGeom>
          <a:noFill/>
          <a:ln>
            <a:noFill/>
          </a:ln>
        </p:spPr>
        <p:txBody>
          <a:bodyPr anchorCtr="0" anchor="t" bIns="31650" lIns="31650" spcFirstLastPara="1" rIns="31650" wrap="square" tIns="31650">
            <a:noAutofit/>
          </a:bodyPr>
          <a:lstStyle/>
          <a:p>
            <a:pPr indent="0" lvl="0" marL="0" marR="0" rtl="0" algn="ctr">
              <a:spcBef>
                <a:spcPts val="0"/>
              </a:spcBef>
              <a:spcAft>
                <a:spcPts val="0"/>
              </a:spcAft>
              <a:buClr>
                <a:srgbClr val="2171B5"/>
              </a:buClr>
              <a:buSzPts val="1682"/>
              <a:buFont typeface="Poppins"/>
              <a:buNone/>
            </a:pPr>
            <a:r>
              <a:rPr b="1" i="0" lang="en-US" sz="1682" u="none" cap="none" strike="noStrike">
                <a:solidFill>
                  <a:srgbClr val="2171B5"/>
                </a:solidFill>
                <a:latin typeface="Poppins"/>
                <a:ea typeface="Poppins"/>
                <a:cs typeface="Poppins"/>
                <a:sym typeface="Poppins"/>
              </a:rPr>
              <a:t>INPUTS</a:t>
            </a:r>
            <a:endParaRPr b="0" i="0" sz="1682" u="none" cap="none" strike="noStrike">
              <a:solidFill>
                <a:schemeClr val="dk1"/>
              </a:solidFill>
              <a:latin typeface="Calibri"/>
              <a:ea typeface="Calibri"/>
              <a:cs typeface="Calibri"/>
              <a:sym typeface="Calibri"/>
            </a:endParaRPr>
          </a:p>
        </p:txBody>
      </p:sp>
      <p:sp>
        <p:nvSpPr>
          <p:cNvPr id="336" name="Google Shape;336;p13"/>
          <p:cNvSpPr/>
          <p:nvPr/>
        </p:nvSpPr>
        <p:spPr>
          <a:xfrm>
            <a:off x="943338" y="3343555"/>
            <a:ext cx="2967000" cy="656700"/>
          </a:xfrm>
          <a:prstGeom prst="roundRect">
            <a:avLst>
              <a:gd fmla="val 21687" name="adj"/>
            </a:avLst>
          </a:prstGeom>
          <a:solidFill>
            <a:srgbClr val="F7FBFF"/>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37" name="Google Shape;337;p13"/>
          <p:cNvSpPr/>
          <p:nvPr/>
        </p:nvSpPr>
        <p:spPr>
          <a:xfrm>
            <a:off x="1180692" y="3533438"/>
            <a:ext cx="2587500" cy="3243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16324A"/>
              </a:buClr>
              <a:buSzPts val="1775"/>
              <a:buFont typeface="Inter"/>
              <a:buNone/>
            </a:pPr>
            <a:r>
              <a:rPr b="0" i="0" lang="en-US" sz="1775" u="none" cap="none" strike="noStrike">
                <a:solidFill>
                  <a:srgbClr val="16324A"/>
                </a:solidFill>
                <a:latin typeface="Inter"/>
                <a:ea typeface="Inter"/>
                <a:cs typeface="Inter"/>
                <a:sym typeface="Inter"/>
              </a:rPr>
              <a:t>Query embedding</a:t>
            </a:r>
            <a:endParaRPr b="0" i="0" sz="1775" u="none" cap="none" strike="noStrike">
              <a:solidFill>
                <a:schemeClr val="dk1"/>
              </a:solidFill>
              <a:latin typeface="Calibri"/>
              <a:ea typeface="Calibri"/>
              <a:cs typeface="Calibri"/>
              <a:sym typeface="Calibri"/>
            </a:endParaRPr>
          </a:p>
        </p:txBody>
      </p:sp>
      <p:sp>
        <p:nvSpPr>
          <p:cNvPr id="338" name="Google Shape;338;p13"/>
          <p:cNvSpPr/>
          <p:nvPr/>
        </p:nvSpPr>
        <p:spPr>
          <a:xfrm>
            <a:off x="943338" y="4142648"/>
            <a:ext cx="2967000" cy="933600"/>
          </a:xfrm>
          <a:prstGeom prst="roundRect">
            <a:avLst>
              <a:gd fmla="val 15254" name="adj"/>
            </a:avLst>
          </a:prstGeom>
          <a:solidFill>
            <a:srgbClr val="F7FBFF"/>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39" name="Google Shape;339;p13"/>
          <p:cNvSpPr/>
          <p:nvPr/>
        </p:nvSpPr>
        <p:spPr>
          <a:xfrm>
            <a:off x="1180692" y="4332532"/>
            <a:ext cx="2587500" cy="6015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16324A"/>
              </a:buClr>
              <a:buSzPts val="1775"/>
              <a:buFont typeface="Inter"/>
              <a:buNone/>
            </a:pPr>
            <a:r>
              <a:rPr b="0" i="0" lang="en-US" sz="1775" u="none" cap="none" strike="noStrike">
                <a:solidFill>
                  <a:srgbClr val="16324A"/>
                </a:solidFill>
                <a:latin typeface="Inter"/>
                <a:ea typeface="Inter"/>
                <a:cs typeface="Inter"/>
                <a:sym typeface="Inter"/>
              </a:rPr>
              <a:t>SLM response embedding</a:t>
            </a:r>
            <a:endParaRPr b="0" i="0" sz="1775" u="none" cap="none" strike="noStrike">
              <a:solidFill>
                <a:schemeClr val="dk1"/>
              </a:solidFill>
              <a:latin typeface="Calibri"/>
              <a:ea typeface="Calibri"/>
              <a:cs typeface="Calibri"/>
              <a:sym typeface="Calibri"/>
            </a:endParaRPr>
          </a:p>
        </p:txBody>
      </p:sp>
      <p:sp>
        <p:nvSpPr>
          <p:cNvPr id="340" name="Google Shape;340;p13"/>
          <p:cNvSpPr/>
          <p:nvPr/>
        </p:nvSpPr>
        <p:spPr>
          <a:xfrm>
            <a:off x="943338" y="5218656"/>
            <a:ext cx="2967000" cy="656700"/>
          </a:xfrm>
          <a:prstGeom prst="roundRect">
            <a:avLst>
              <a:gd fmla="val 21687" name="adj"/>
            </a:avLst>
          </a:prstGeom>
          <a:solidFill>
            <a:srgbClr val="F7FBFF"/>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41" name="Google Shape;341;p13"/>
          <p:cNvSpPr/>
          <p:nvPr/>
        </p:nvSpPr>
        <p:spPr>
          <a:xfrm>
            <a:off x="1180692" y="5408540"/>
            <a:ext cx="2587500" cy="3243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16324A"/>
              </a:buClr>
              <a:buSzPts val="1775"/>
              <a:buFont typeface="Inter"/>
              <a:buNone/>
            </a:pPr>
            <a:r>
              <a:rPr b="0" i="0" lang="en-US" sz="1775" u="none" cap="none" strike="noStrike">
                <a:solidFill>
                  <a:srgbClr val="16324A"/>
                </a:solidFill>
                <a:latin typeface="Inter"/>
                <a:ea typeface="Inter"/>
                <a:cs typeface="Inter"/>
                <a:sym typeface="Inter"/>
              </a:rPr>
              <a:t>Token uncertainty</a:t>
            </a:r>
            <a:endParaRPr b="0" i="0" sz="1775" u="none" cap="none" strike="noStrike">
              <a:solidFill>
                <a:schemeClr val="dk1"/>
              </a:solidFill>
              <a:latin typeface="Calibri"/>
              <a:ea typeface="Calibri"/>
              <a:cs typeface="Calibri"/>
              <a:sym typeface="Calibri"/>
            </a:endParaRPr>
          </a:p>
        </p:txBody>
      </p:sp>
      <p:sp>
        <p:nvSpPr>
          <p:cNvPr id="342" name="Google Shape;342;p13"/>
          <p:cNvSpPr/>
          <p:nvPr/>
        </p:nvSpPr>
        <p:spPr>
          <a:xfrm>
            <a:off x="943338" y="6017750"/>
            <a:ext cx="2967000" cy="656700"/>
          </a:xfrm>
          <a:prstGeom prst="roundRect">
            <a:avLst>
              <a:gd fmla="val 21687" name="adj"/>
            </a:avLst>
          </a:prstGeom>
          <a:solidFill>
            <a:srgbClr val="F7FBFF"/>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43" name="Google Shape;343;p13"/>
          <p:cNvSpPr/>
          <p:nvPr/>
        </p:nvSpPr>
        <p:spPr>
          <a:xfrm>
            <a:off x="1180692" y="6207634"/>
            <a:ext cx="2587500" cy="3243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16324A"/>
              </a:buClr>
              <a:buSzPts val="1775"/>
              <a:buFont typeface="Inter"/>
              <a:buNone/>
            </a:pPr>
            <a:r>
              <a:rPr b="0" i="0" lang="en-US" sz="1775" u="none" cap="none" strike="noStrike">
                <a:solidFill>
                  <a:srgbClr val="16324A"/>
                </a:solidFill>
                <a:latin typeface="Inter"/>
                <a:ea typeface="Inter"/>
                <a:cs typeface="Inter"/>
                <a:sym typeface="Inter"/>
              </a:rPr>
              <a:t>Validator features</a:t>
            </a:r>
            <a:endParaRPr b="0" i="0" sz="1775" u="none" cap="none" strike="noStrike">
              <a:solidFill>
                <a:schemeClr val="dk1"/>
              </a:solidFill>
              <a:latin typeface="Calibri"/>
              <a:ea typeface="Calibri"/>
              <a:cs typeface="Calibri"/>
              <a:sym typeface="Calibri"/>
            </a:endParaRPr>
          </a:p>
        </p:txBody>
      </p:sp>
      <p:sp>
        <p:nvSpPr>
          <p:cNvPr id="344" name="Google Shape;344;p13"/>
          <p:cNvSpPr/>
          <p:nvPr/>
        </p:nvSpPr>
        <p:spPr>
          <a:xfrm>
            <a:off x="943338" y="6816844"/>
            <a:ext cx="2967000" cy="656700"/>
          </a:xfrm>
          <a:prstGeom prst="roundRect">
            <a:avLst>
              <a:gd fmla="val 21687" name="adj"/>
            </a:avLst>
          </a:prstGeom>
          <a:solidFill>
            <a:srgbClr val="F7FBFF"/>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45" name="Google Shape;345;p13"/>
          <p:cNvSpPr/>
          <p:nvPr/>
        </p:nvSpPr>
        <p:spPr>
          <a:xfrm>
            <a:off x="1180692" y="7006728"/>
            <a:ext cx="2587500" cy="3243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16324A"/>
              </a:buClr>
              <a:buSzPts val="1775"/>
              <a:buFont typeface="Inter"/>
              <a:buNone/>
            </a:pPr>
            <a:r>
              <a:rPr b="0" i="0" lang="en-US" sz="1775" u="none" cap="none" strike="noStrike">
                <a:solidFill>
                  <a:srgbClr val="16324A"/>
                </a:solidFill>
                <a:latin typeface="Inter"/>
                <a:ea typeface="Inter"/>
                <a:cs typeface="Inter"/>
                <a:sym typeface="Inter"/>
              </a:rPr>
              <a:t>Task features</a:t>
            </a:r>
            <a:endParaRPr b="0" i="0" sz="1775" u="none" cap="none" strike="noStrike">
              <a:solidFill>
                <a:schemeClr val="dk1"/>
              </a:solidFill>
              <a:latin typeface="Calibri"/>
              <a:ea typeface="Calibri"/>
              <a:cs typeface="Calibri"/>
              <a:sym typeface="Calibri"/>
            </a:endParaRPr>
          </a:p>
        </p:txBody>
      </p:sp>
      <p:sp>
        <p:nvSpPr>
          <p:cNvPr id="346" name="Google Shape;346;p13"/>
          <p:cNvSpPr/>
          <p:nvPr/>
        </p:nvSpPr>
        <p:spPr>
          <a:xfrm>
            <a:off x="4978365" y="3517615"/>
            <a:ext cx="3489300" cy="3252000"/>
          </a:xfrm>
          <a:prstGeom prst="roundRect">
            <a:avLst>
              <a:gd fmla="val 8759" name="adj"/>
            </a:avLst>
          </a:prstGeom>
          <a:solidFill>
            <a:srgbClr val="DEEBF7"/>
          </a:solidFill>
          <a:ln cap="flat" cmpd="sng" w="23725">
            <a:solidFill>
              <a:srgbClr val="C6DBEF"/>
            </a:solidFill>
            <a:prstDash val="solid"/>
            <a:round/>
            <a:headEnd len="sm" w="sm" type="none"/>
            <a:tailEnd len="sm" w="sm" type="none"/>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47" name="Google Shape;347;p13"/>
          <p:cNvSpPr/>
          <p:nvPr/>
        </p:nvSpPr>
        <p:spPr>
          <a:xfrm>
            <a:off x="5130816" y="4361954"/>
            <a:ext cx="3184200" cy="419400"/>
          </a:xfrm>
          <a:prstGeom prst="rect">
            <a:avLst/>
          </a:prstGeom>
          <a:noFill/>
          <a:ln>
            <a:noFill/>
          </a:ln>
        </p:spPr>
        <p:txBody>
          <a:bodyPr anchorCtr="0" anchor="t" bIns="31650" lIns="31650" spcFirstLastPara="1" rIns="31650" wrap="square" tIns="31650">
            <a:noAutofit/>
          </a:bodyPr>
          <a:lstStyle/>
          <a:p>
            <a:pPr indent="0" lvl="0" marL="0" marR="0" rtl="0" algn="ctr">
              <a:spcBef>
                <a:spcPts val="0"/>
              </a:spcBef>
              <a:spcAft>
                <a:spcPts val="0"/>
              </a:spcAft>
              <a:buClr>
                <a:srgbClr val="084594"/>
              </a:buClr>
              <a:buSzPts val="1962"/>
              <a:buFont typeface="Poppins"/>
              <a:buNone/>
            </a:pPr>
            <a:r>
              <a:rPr b="1" i="0" lang="en-US" sz="1962" u="none" cap="none" strike="noStrike">
                <a:solidFill>
                  <a:srgbClr val="084594"/>
                </a:solidFill>
                <a:latin typeface="Poppins"/>
                <a:ea typeface="Poppins"/>
                <a:cs typeface="Poppins"/>
                <a:sym typeface="Poppins"/>
              </a:rPr>
              <a:t>Shared representation</a:t>
            </a:r>
            <a:endParaRPr b="0" i="0" sz="1962" u="none" cap="none" strike="noStrike">
              <a:solidFill>
                <a:schemeClr val="dk1"/>
              </a:solidFill>
              <a:latin typeface="Calibri"/>
              <a:ea typeface="Calibri"/>
              <a:cs typeface="Calibri"/>
              <a:sym typeface="Calibri"/>
            </a:endParaRPr>
          </a:p>
        </p:txBody>
      </p:sp>
      <p:sp>
        <p:nvSpPr>
          <p:cNvPr id="348" name="Google Shape;348;p13"/>
          <p:cNvSpPr/>
          <p:nvPr/>
        </p:nvSpPr>
        <p:spPr>
          <a:xfrm>
            <a:off x="5729493" y="4899958"/>
            <a:ext cx="1986600" cy="1072500"/>
          </a:xfrm>
          <a:prstGeom prst="rect">
            <a:avLst/>
          </a:prstGeom>
          <a:noFill/>
          <a:ln>
            <a:noFill/>
          </a:ln>
        </p:spPr>
        <p:txBody>
          <a:bodyPr anchorCtr="0" anchor="t" bIns="31650" lIns="31650" spcFirstLastPara="1" rIns="31650" wrap="square" tIns="31650">
            <a:noAutofit/>
          </a:bodyPr>
          <a:lstStyle/>
          <a:p>
            <a:pPr indent="0" lvl="0" marL="0" marR="0" rtl="0" algn="ctr">
              <a:lnSpc>
                <a:spcPct val="130909"/>
              </a:lnSpc>
              <a:spcBef>
                <a:spcPts val="0"/>
              </a:spcBef>
              <a:spcAft>
                <a:spcPts val="0"/>
              </a:spcAft>
              <a:buClr>
                <a:srgbClr val="16324A"/>
              </a:buClr>
              <a:buSzPts val="1682"/>
              <a:buFont typeface="Inter"/>
              <a:buNone/>
            </a:pPr>
            <a:r>
              <a:rPr b="0" i="0" lang="en-US" sz="1682" u="none" cap="none" strike="noStrike">
                <a:solidFill>
                  <a:srgbClr val="16324A"/>
                </a:solidFill>
                <a:latin typeface="Inter"/>
                <a:ea typeface="Inter"/>
                <a:cs typeface="Inter"/>
                <a:sym typeface="Inter"/>
              </a:rPr>
              <a:t>Dense 256 + ReLU Dropout 0.2 Dense 128 + ReLU</a:t>
            </a:r>
            <a:endParaRPr b="0" i="0" sz="1682" u="none" cap="none" strike="noStrike">
              <a:solidFill>
                <a:schemeClr val="dk1"/>
              </a:solidFill>
              <a:latin typeface="Calibri"/>
              <a:ea typeface="Calibri"/>
              <a:cs typeface="Calibri"/>
              <a:sym typeface="Calibri"/>
            </a:endParaRPr>
          </a:p>
        </p:txBody>
      </p:sp>
      <p:sp>
        <p:nvSpPr>
          <p:cNvPr id="349" name="Google Shape;349;p13"/>
          <p:cNvSpPr/>
          <p:nvPr/>
        </p:nvSpPr>
        <p:spPr>
          <a:xfrm>
            <a:off x="9535573" y="3553218"/>
            <a:ext cx="3607800" cy="949500"/>
          </a:xfrm>
          <a:prstGeom prst="roundRect">
            <a:avLst>
              <a:gd fmla="val 17500" name="adj"/>
            </a:avLst>
          </a:prstGeom>
          <a:solidFill>
            <a:srgbClr val="9ECAE1"/>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50" name="Google Shape;350;p13"/>
          <p:cNvSpPr/>
          <p:nvPr/>
        </p:nvSpPr>
        <p:spPr>
          <a:xfrm>
            <a:off x="9796663" y="3766837"/>
            <a:ext cx="3194100" cy="5697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084594"/>
              </a:buClr>
              <a:buSzPts val="1682"/>
              <a:buFont typeface="Inter"/>
              <a:buNone/>
            </a:pPr>
            <a:r>
              <a:rPr b="1" i="0" lang="en-US" sz="1682" u="none" cap="none" strike="noStrike">
                <a:solidFill>
                  <a:srgbClr val="084594"/>
                </a:solidFill>
                <a:latin typeface="Inter"/>
                <a:ea typeface="Inter"/>
                <a:cs typeface="Inter"/>
                <a:sym typeface="Inter"/>
              </a:rPr>
              <a:t>Accept risk </a:t>
            </a:r>
            <a:endParaRPr b="1" i="0" sz="1682" u="none" cap="none" strike="noStrike">
              <a:solidFill>
                <a:srgbClr val="084594"/>
              </a:solidFill>
              <a:latin typeface="Inter"/>
              <a:ea typeface="Inter"/>
              <a:cs typeface="Inter"/>
              <a:sym typeface="Inter"/>
            </a:endParaRPr>
          </a:p>
          <a:p>
            <a:pPr indent="0" lvl="0" marL="0" marR="0" rtl="0" algn="l">
              <a:spcBef>
                <a:spcPts val="0"/>
              </a:spcBef>
              <a:spcAft>
                <a:spcPts val="0"/>
              </a:spcAft>
              <a:buClr>
                <a:srgbClr val="084594"/>
              </a:buClr>
              <a:buSzPts val="1682"/>
              <a:buFont typeface="Inter"/>
              <a:buNone/>
            </a:pPr>
            <a:r>
              <a:rPr b="0" i="0" lang="en-US" sz="1682" u="none" cap="none" strike="noStrike">
                <a:solidFill>
                  <a:srgbClr val="084594"/>
                </a:solidFill>
                <a:highlight>
                  <a:srgbClr val="9ECAE1"/>
                </a:highlight>
                <a:latin typeface="Inter"/>
                <a:ea typeface="Inter"/>
                <a:cs typeface="Inter"/>
                <a:sym typeface="Inter"/>
              </a:rPr>
              <a:t>P(failure | ACCEPT)</a:t>
            </a:r>
            <a:endParaRPr b="0" i="0" sz="1682" u="none" cap="none" strike="noStrike">
              <a:solidFill>
                <a:schemeClr val="dk1"/>
              </a:solidFill>
              <a:latin typeface="Calibri"/>
              <a:ea typeface="Calibri"/>
              <a:cs typeface="Calibri"/>
              <a:sym typeface="Calibri"/>
            </a:endParaRPr>
          </a:p>
        </p:txBody>
      </p:sp>
      <p:sp>
        <p:nvSpPr>
          <p:cNvPr id="351" name="Google Shape;351;p13"/>
          <p:cNvSpPr/>
          <p:nvPr/>
        </p:nvSpPr>
        <p:spPr>
          <a:xfrm>
            <a:off x="9535573" y="4668785"/>
            <a:ext cx="3607800" cy="949500"/>
          </a:xfrm>
          <a:prstGeom prst="roundRect">
            <a:avLst>
              <a:gd fmla="val 17500" name="adj"/>
            </a:avLst>
          </a:prstGeom>
          <a:solidFill>
            <a:srgbClr val="6BAED6"/>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52" name="Google Shape;352;p13"/>
          <p:cNvSpPr/>
          <p:nvPr/>
        </p:nvSpPr>
        <p:spPr>
          <a:xfrm>
            <a:off x="9796663" y="4882404"/>
            <a:ext cx="3194100" cy="5697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FFFFFF"/>
              </a:buClr>
              <a:buSzPts val="1682"/>
              <a:buFont typeface="Inter"/>
              <a:buNone/>
            </a:pPr>
            <a:r>
              <a:rPr b="1" i="0" lang="en-US" sz="1682" u="none" cap="none" strike="noStrike">
                <a:solidFill>
                  <a:srgbClr val="FFFFFF"/>
                </a:solidFill>
                <a:latin typeface="Inter"/>
                <a:ea typeface="Inter"/>
                <a:cs typeface="Inter"/>
                <a:sym typeface="Inter"/>
              </a:rPr>
              <a:t>Repair risk </a:t>
            </a:r>
            <a:endParaRPr b="1" i="0" sz="1682" u="none" cap="none" strike="noStrike">
              <a:solidFill>
                <a:srgbClr val="FFFFFF"/>
              </a:solidFill>
              <a:latin typeface="Inter"/>
              <a:ea typeface="Inter"/>
              <a:cs typeface="Inter"/>
              <a:sym typeface="Inter"/>
            </a:endParaRPr>
          </a:p>
          <a:p>
            <a:pPr indent="0" lvl="0" marL="0" marR="0" rtl="0" algn="l">
              <a:spcBef>
                <a:spcPts val="0"/>
              </a:spcBef>
              <a:spcAft>
                <a:spcPts val="0"/>
              </a:spcAft>
              <a:buClr>
                <a:srgbClr val="FFFFFF"/>
              </a:buClr>
              <a:buSzPts val="1682"/>
              <a:buFont typeface="Inter"/>
              <a:buNone/>
            </a:pPr>
            <a:r>
              <a:rPr b="0" i="0" lang="en-US" sz="1682" u="none" cap="none" strike="noStrike">
                <a:solidFill>
                  <a:srgbClr val="FFFFFF"/>
                </a:solidFill>
                <a:highlight>
                  <a:srgbClr val="6BAED6"/>
                </a:highlight>
                <a:latin typeface="Inter"/>
                <a:ea typeface="Inter"/>
                <a:cs typeface="Inter"/>
                <a:sym typeface="Inter"/>
              </a:rPr>
              <a:t>P(failure | REPAIR)</a:t>
            </a:r>
            <a:endParaRPr b="0" i="0" sz="1682" u="none" cap="none" strike="noStrike">
              <a:solidFill>
                <a:schemeClr val="dk1"/>
              </a:solidFill>
              <a:latin typeface="Calibri"/>
              <a:ea typeface="Calibri"/>
              <a:cs typeface="Calibri"/>
              <a:sym typeface="Calibri"/>
            </a:endParaRPr>
          </a:p>
        </p:txBody>
      </p:sp>
      <p:sp>
        <p:nvSpPr>
          <p:cNvPr id="353" name="Google Shape;353;p13"/>
          <p:cNvSpPr/>
          <p:nvPr/>
        </p:nvSpPr>
        <p:spPr>
          <a:xfrm>
            <a:off x="9535573" y="5784351"/>
            <a:ext cx="3607800" cy="949500"/>
          </a:xfrm>
          <a:prstGeom prst="roundRect">
            <a:avLst>
              <a:gd fmla="val 17500" name="adj"/>
            </a:avLst>
          </a:prstGeom>
          <a:solidFill>
            <a:srgbClr val="2171B5"/>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54" name="Google Shape;354;p13"/>
          <p:cNvSpPr/>
          <p:nvPr/>
        </p:nvSpPr>
        <p:spPr>
          <a:xfrm>
            <a:off x="9796663" y="5997971"/>
            <a:ext cx="3194100" cy="569700"/>
          </a:xfrm>
          <a:prstGeom prst="rect">
            <a:avLst/>
          </a:prstGeom>
          <a:noFill/>
          <a:ln>
            <a:noFill/>
          </a:ln>
        </p:spPr>
        <p:txBody>
          <a:bodyPr anchorCtr="0" anchor="t" bIns="31650" lIns="31650" spcFirstLastPara="1" rIns="31650" wrap="square" tIns="31650">
            <a:noAutofit/>
          </a:bodyPr>
          <a:lstStyle/>
          <a:p>
            <a:pPr indent="0" lvl="0" marL="0" marR="0" rtl="0" algn="l">
              <a:spcBef>
                <a:spcPts val="0"/>
              </a:spcBef>
              <a:spcAft>
                <a:spcPts val="0"/>
              </a:spcAft>
              <a:buClr>
                <a:srgbClr val="FFFFFF"/>
              </a:buClr>
              <a:buSzPts val="1682"/>
              <a:buFont typeface="Inter"/>
              <a:buNone/>
            </a:pPr>
            <a:r>
              <a:rPr b="1" i="0" lang="en-US" sz="1682" u="none" cap="none" strike="noStrike">
                <a:solidFill>
                  <a:srgbClr val="FFFFFF"/>
                </a:solidFill>
                <a:latin typeface="Inter"/>
                <a:ea typeface="Inter"/>
                <a:cs typeface="Inter"/>
                <a:sym typeface="Inter"/>
              </a:rPr>
              <a:t>Regenerate risk </a:t>
            </a:r>
            <a:endParaRPr b="1" i="0" sz="1682" u="none" cap="none" strike="noStrike">
              <a:solidFill>
                <a:srgbClr val="FFFFFF"/>
              </a:solidFill>
              <a:latin typeface="Inter"/>
              <a:ea typeface="Inter"/>
              <a:cs typeface="Inter"/>
              <a:sym typeface="Inter"/>
            </a:endParaRPr>
          </a:p>
          <a:p>
            <a:pPr indent="0" lvl="0" marL="0" marR="0" rtl="0" algn="l">
              <a:spcBef>
                <a:spcPts val="0"/>
              </a:spcBef>
              <a:spcAft>
                <a:spcPts val="0"/>
              </a:spcAft>
              <a:buClr>
                <a:srgbClr val="FFFFFF"/>
              </a:buClr>
              <a:buSzPts val="1682"/>
              <a:buFont typeface="Inter"/>
              <a:buNone/>
            </a:pPr>
            <a:r>
              <a:rPr b="0" i="0" lang="en-US" sz="1682" u="none" cap="none" strike="noStrike">
                <a:solidFill>
                  <a:srgbClr val="FFFFFF"/>
                </a:solidFill>
                <a:highlight>
                  <a:srgbClr val="2171B5"/>
                </a:highlight>
                <a:latin typeface="Inter"/>
                <a:ea typeface="Inter"/>
                <a:cs typeface="Inter"/>
                <a:sym typeface="Inter"/>
              </a:rPr>
              <a:t>P(failure | REGENERATE)</a:t>
            </a:r>
            <a:endParaRPr b="0" i="0" sz="1682" u="none" cap="none" strike="noStrike">
              <a:solidFill>
                <a:schemeClr val="dk1"/>
              </a:solidFill>
              <a:latin typeface="Calibri"/>
              <a:ea typeface="Calibri"/>
              <a:cs typeface="Calibri"/>
              <a:sym typeface="Calibri"/>
            </a:endParaRPr>
          </a:p>
        </p:txBody>
      </p:sp>
      <p:sp>
        <p:nvSpPr>
          <p:cNvPr id="355" name="Google Shape;355;p13"/>
          <p:cNvSpPr/>
          <p:nvPr/>
        </p:nvSpPr>
        <p:spPr>
          <a:xfrm>
            <a:off x="14211450" y="4463075"/>
            <a:ext cx="3133200" cy="1744500"/>
          </a:xfrm>
          <a:prstGeom prst="roundRect">
            <a:avLst>
              <a:gd fmla="val 17442" name="adj"/>
            </a:avLst>
          </a:prstGeom>
          <a:solidFill>
            <a:srgbClr val="084594"/>
          </a:solidFill>
          <a:ln>
            <a:noFill/>
          </a:ln>
        </p:spPr>
        <p:txBody>
          <a:bodyPr anchorCtr="0" anchor="ctr" bIns="113900" lIns="113900" spcFirstLastPara="1" rIns="113900" wrap="square" tIns="113900">
            <a:noAutofit/>
          </a:bodyPr>
          <a:lstStyle/>
          <a:p>
            <a:pPr indent="0" lvl="0" marL="0" rtl="0" algn="l">
              <a:spcBef>
                <a:spcPts val="0"/>
              </a:spcBef>
              <a:spcAft>
                <a:spcPts val="0"/>
              </a:spcAft>
              <a:buNone/>
            </a:pPr>
            <a:r>
              <a:t/>
            </a:r>
            <a:endParaRPr/>
          </a:p>
        </p:txBody>
      </p:sp>
      <p:sp>
        <p:nvSpPr>
          <p:cNvPr id="356" name="Google Shape;356;p13"/>
          <p:cNvSpPr/>
          <p:nvPr/>
        </p:nvSpPr>
        <p:spPr>
          <a:xfrm>
            <a:off x="14425075" y="4724178"/>
            <a:ext cx="2705700" cy="1151100"/>
          </a:xfrm>
          <a:prstGeom prst="rect">
            <a:avLst/>
          </a:prstGeom>
          <a:noFill/>
          <a:ln>
            <a:noFill/>
          </a:ln>
        </p:spPr>
        <p:txBody>
          <a:bodyPr anchorCtr="0" anchor="t" bIns="31650" lIns="31650" spcFirstLastPara="1" rIns="31650" wrap="square" tIns="31650">
            <a:noAutofit/>
          </a:bodyPr>
          <a:lstStyle/>
          <a:p>
            <a:pPr indent="0" lvl="0" marL="0" marR="0" rtl="0" algn="ctr">
              <a:spcBef>
                <a:spcPts val="0"/>
              </a:spcBef>
              <a:spcAft>
                <a:spcPts val="0"/>
              </a:spcAft>
              <a:buClr>
                <a:srgbClr val="FFFFFF"/>
              </a:buClr>
              <a:buSzPts val="1682"/>
              <a:buFont typeface="Poppins"/>
              <a:buNone/>
            </a:pPr>
            <a:r>
              <a:rPr b="1" i="0" lang="en-US" sz="1782" u="none" cap="none" strike="noStrike">
                <a:solidFill>
                  <a:srgbClr val="FFFFFF"/>
                </a:solidFill>
                <a:latin typeface="Poppins"/>
                <a:ea typeface="Poppins"/>
                <a:cs typeface="Poppins"/>
                <a:sym typeface="Poppins"/>
              </a:rPr>
              <a:t>Calibration layer </a:t>
            </a:r>
            <a:endParaRPr b="1" i="0" sz="1782" u="none" cap="none" strike="noStrike">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1682"/>
              <a:buFont typeface="Poppins"/>
              <a:buNone/>
            </a:pPr>
            <a:r>
              <a:t/>
            </a:r>
            <a:endParaRPr sz="1782">
              <a:solidFill>
                <a:srgbClr val="FFFFFF"/>
              </a:solidFill>
              <a:highlight>
                <a:srgbClr val="084594"/>
              </a:highlight>
              <a:latin typeface="Inter"/>
              <a:ea typeface="Inter"/>
              <a:cs typeface="Inter"/>
              <a:sym typeface="Inter"/>
            </a:endParaRPr>
          </a:p>
          <a:p>
            <a:pPr indent="0" lvl="0" marL="0" marR="0" rtl="0" algn="ctr">
              <a:spcBef>
                <a:spcPts val="0"/>
              </a:spcBef>
              <a:spcAft>
                <a:spcPts val="0"/>
              </a:spcAft>
              <a:buClr>
                <a:srgbClr val="FFFFFF"/>
              </a:buClr>
              <a:buSzPts val="1682"/>
              <a:buFont typeface="Poppins"/>
              <a:buNone/>
            </a:pPr>
            <a:r>
              <a:rPr b="0" i="0" lang="en-US" sz="1782" u="none" cap="none" strike="noStrike">
                <a:solidFill>
                  <a:srgbClr val="FFFFFF"/>
                </a:solidFill>
                <a:highlight>
                  <a:srgbClr val="084594"/>
                </a:highlight>
                <a:latin typeface="Inter"/>
                <a:ea typeface="Inter"/>
                <a:cs typeface="Inter"/>
                <a:sym typeface="Inter"/>
              </a:rPr>
              <a:t>Per-head temperature scaling on held-out data</a:t>
            </a:r>
            <a:endParaRPr b="0" i="0" sz="1782" u="none" cap="none" strike="noStrike">
              <a:solidFill>
                <a:schemeClr val="dk1"/>
              </a:solidFill>
              <a:latin typeface="Calibri"/>
              <a:ea typeface="Calibri"/>
              <a:cs typeface="Calibri"/>
              <a:sym typeface="Calibri"/>
            </a:endParaRPr>
          </a:p>
        </p:txBody>
      </p:sp>
      <p:sp>
        <p:nvSpPr>
          <p:cNvPr id="357" name="Google Shape;357;p13"/>
          <p:cNvSpPr/>
          <p:nvPr/>
        </p:nvSpPr>
        <p:spPr>
          <a:xfrm>
            <a:off x="342900" y="8181675"/>
            <a:ext cx="17602200" cy="292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650"/>
              <a:buFont typeface="Inter"/>
              <a:buNone/>
            </a:pPr>
            <a:r>
              <a:rPr b="0" i="0" lang="en-US" sz="1650" u="none" cap="none" strike="noStrike">
                <a:solidFill>
                  <a:srgbClr val="16324A"/>
                </a:solidFill>
                <a:latin typeface="Inter"/>
                <a:ea typeface="Inter"/>
                <a:cs typeface="Inter"/>
                <a:sym typeface="Inter"/>
              </a:rPr>
              <a:t>Decision: select the action with the lowest calibrated predicted failure risk. The risk model is learned; the final argmin is deterministic.</a:t>
            </a:r>
            <a:endParaRPr b="0" i="0" sz="1650" u="none" cap="none" strike="noStrike">
              <a:solidFill>
                <a:schemeClr val="dk1"/>
              </a:solidFill>
              <a:latin typeface="Calibri"/>
              <a:ea typeface="Calibri"/>
              <a:cs typeface="Calibri"/>
              <a:sym typeface="Calibri"/>
            </a:endParaRPr>
          </a:p>
        </p:txBody>
      </p:sp>
      <p:sp>
        <p:nvSpPr>
          <p:cNvPr id="358" name="Google Shape;358;p13"/>
          <p:cNvSpPr/>
          <p:nvPr/>
        </p:nvSpPr>
        <p:spPr>
          <a:xfrm>
            <a:off x="342900" y="9556750"/>
            <a:ext cx="17602200" cy="234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275"/>
              <a:buFont typeface="Inter"/>
              <a:buNone/>
            </a:pPr>
            <a:r>
              <a:rPr b="0" i="0" lang="en-US" sz="1275" u="none" cap="none" strike="noStrike">
                <a:solidFill>
                  <a:srgbClr val="4A6785"/>
                </a:solidFill>
                <a:latin typeface="Inter"/>
                <a:ea typeface="Inter"/>
                <a:cs typeface="Inter"/>
                <a:sym typeface="Inter"/>
              </a:rPr>
              <a:t>Sources: Mahaut et al. (ACL 2024) • Chuang et al. (ICML 2025) • Dou et al. (2026, preprint)</a:t>
            </a:r>
            <a:endParaRPr b="0" i="0" sz="1275" u="none" cap="none" strike="noStrike">
              <a:solidFill>
                <a:schemeClr val="dk1"/>
              </a:solidFill>
              <a:latin typeface="Calibri"/>
              <a:ea typeface="Calibri"/>
              <a:cs typeface="Calibri"/>
              <a:sym typeface="Calibri"/>
            </a:endParaRPr>
          </a:p>
        </p:txBody>
      </p:sp>
      <p:cxnSp>
        <p:nvCxnSpPr>
          <p:cNvPr id="359" name="Google Shape;359;p13"/>
          <p:cNvCxnSpPr/>
          <p:nvPr/>
        </p:nvCxnSpPr>
        <p:spPr>
          <a:xfrm>
            <a:off x="4206750" y="5143500"/>
            <a:ext cx="517800" cy="0"/>
          </a:xfrm>
          <a:prstGeom prst="straightConnector1">
            <a:avLst/>
          </a:prstGeom>
          <a:noFill/>
          <a:ln cap="flat" cmpd="sng" w="28575">
            <a:solidFill>
              <a:schemeClr val="dk1"/>
            </a:solidFill>
            <a:prstDash val="solid"/>
            <a:round/>
            <a:headEnd len="med" w="med" type="none"/>
            <a:tailEnd len="med" w="med" type="triangle"/>
          </a:ln>
        </p:spPr>
      </p:cxnSp>
      <p:cxnSp>
        <p:nvCxnSpPr>
          <p:cNvPr id="360" name="Google Shape;360;p13"/>
          <p:cNvCxnSpPr/>
          <p:nvPr/>
        </p:nvCxnSpPr>
        <p:spPr>
          <a:xfrm>
            <a:off x="8742725" y="5143500"/>
            <a:ext cx="517800" cy="0"/>
          </a:xfrm>
          <a:prstGeom prst="straightConnector1">
            <a:avLst/>
          </a:prstGeom>
          <a:noFill/>
          <a:ln cap="flat" cmpd="sng" w="28575">
            <a:solidFill>
              <a:schemeClr val="dk1"/>
            </a:solidFill>
            <a:prstDash val="solid"/>
            <a:round/>
            <a:headEnd len="med" w="med" type="none"/>
            <a:tailEnd len="med" w="med" type="triangle"/>
          </a:ln>
        </p:spPr>
      </p:cxnSp>
      <p:cxnSp>
        <p:nvCxnSpPr>
          <p:cNvPr id="361" name="Google Shape;361;p13"/>
          <p:cNvCxnSpPr/>
          <p:nvPr/>
        </p:nvCxnSpPr>
        <p:spPr>
          <a:xfrm>
            <a:off x="13418513" y="5143500"/>
            <a:ext cx="517800" cy="0"/>
          </a:xfrm>
          <a:prstGeom prst="straightConnector1">
            <a:avLst/>
          </a:prstGeom>
          <a:noFill/>
          <a:ln cap="flat" cmpd="sng" w="28575">
            <a:solidFill>
              <a:schemeClr val="dk1"/>
            </a:solidFill>
            <a:prstDash val="solid"/>
            <a:round/>
            <a:headEnd len="med" w="med" type="none"/>
            <a:tailEnd len="med" w="med" type="triangle"/>
          </a:ln>
        </p:spPr>
      </p:cxnSp>
      <p:pic>
        <p:nvPicPr>
          <p:cNvPr id="362" name="Google Shape;362;p13"/>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367" name="Shape 367"/>
        <p:cNvGrpSpPr/>
        <p:nvPr/>
      </p:nvGrpSpPr>
      <p:grpSpPr>
        <a:xfrm>
          <a:off x="0" y="0"/>
          <a:ext cx="0" cy="0"/>
          <a:chOff x="0" y="0"/>
          <a:chExt cx="0" cy="0"/>
        </a:xfrm>
      </p:grpSpPr>
      <p:sp>
        <p:nvSpPr>
          <p:cNvPr id="368" name="Google Shape;368;p14"/>
          <p:cNvSpPr/>
          <p:nvPr/>
        </p:nvSpPr>
        <p:spPr>
          <a:xfrm>
            <a:off x="1143000" y="1301750"/>
            <a:ext cx="84009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Evaluation Plan</a:t>
            </a:r>
            <a:endParaRPr b="0" i="0" sz="3750" u="none" cap="none" strike="noStrike">
              <a:solidFill>
                <a:schemeClr val="dk1"/>
              </a:solidFill>
              <a:latin typeface="Calibri"/>
              <a:ea typeface="Calibri"/>
              <a:cs typeface="Calibri"/>
              <a:sym typeface="Calibri"/>
            </a:endParaRPr>
          </a:p>
        </p:txBody>
      </p:sp>
      <p:sp>
        <p:nvSpPr>
          <p:cNvPr id="369" name="Google Shape;369;p14"/>
          <p:cNvSpPr/>
          <p:nvPr/>
        </p:nvSpPr>
        <p:spPr>
          <a:xfrm>
            <a:off x="1143000" y="2171700"/>
            <a:ext cx="8400900" cy="33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950"/>
              <a:buFont typeface="Inter"/>
              <a:buNone/>
            </a:pPr>
            <a:r>
              <a:rPr b="0" i="0" lang="en-US" sz="1950" u="none" cap="none" strike="noStrike">
                <a:solidFill>
                  <a:srgbClr val="2C4A63"/>
                </a:solidFill>
                <a:latin typeface="Inter"/>
                <a:ea typeface="Inter"/>
                <a:cs typeface="Inter"/>
                <a:sym typeface="Inter"/>
              </a:rPr>
              <a:t>Two domains, objective validators, and risk-focused metrics.</a:t>
            </a:r>
            <a:endParaRPr b="0" i="0" sz="1950" u="none" cap="none" strike="noStrike">
              <a:solidFill>
                <a:schemeClr val="dk1"/>
              </a:solidFill>
              <a:latin typeface="Calibri"/>
              <a:ea typeface="Calibri"/>
              <a:cs typeface="Calibri"/>
              <a:sym typeface="Calibri"/>
            </a:endParaRPr>
          </a:p>
        </p:txBody>
      </p:sp>
      <p:sp>
        <p:nvSpPr>
          <p:cNvPr id="370" name="Google Shape;370;p14"/>
          <p:cNvSpPr/>
          <p:nvPr/>
        </p:nvSpPr>
        <p:spPr>
          <a:xfrm>
            <a:off x="1143000" y="3120335"/>
            <a:ext cx="3013200" cy="3702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2171B5"/>
              </a:buClr>
              <a:buSzPts val="1682"/>
              <a:buFont typeface="Poppins"/>
              <a:buNone/>
            </a:pPr>
            <a:r>
              <a:rPr b="1" i="0" lang="en-US" sz="1682" u="none" cap="none" strike="noStrike">
                <a:solidFill>
                  <a:srgbClr val="2171B5"/>
                </a:solidFill>
                <a:latin typeface="Poppins"/>
                <a:ea typeface="Poppins"/>
                <a:cs typeface="Poppins"/>
                <a:sym typeface="Poppins"/>
              </a:rPr>
              <a:t>DATASETS &amp; VALIDATORS</a:t>
            </a:r>
            <a:endParaRPr b="0" i="0" sz="1682" u="none" cap="none" strike="noStrike">
              <a:solidFill>
                <a:schemeClr val="dk1"/>
              </a:solidFill>
              <a:latin typeface="Calibri"/>
              <a:ea typeface="Calibri"/>
              <a:cs typeface="Calibri"/>
              <a:sym typeface="Calibri"/>
            </a:endParaRPr>
          </a:p>
        </p:txBody>
      </p:sp>
      <p:sp>
        <p:nvSpPr>
          <p:cNvPr id="371" name="Google Shape;371;p14"/>
          <p:cNvSpPr/>
          <p:nvPr/>
        </p:nvSpPr>
        <p:spPr>
          <a:xfrm>
            <a:off x="1143000" y="3618683"/>
            <a:ext cx="5766600" cy="946800"/>
          </a:xfrm>
          <a:prstGeom prst="roundRect">
            <a:avLst>
              <a:gd fmla="val 18045"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72" name="Google Shape;372;p14"/>
          <p:cNvSpPr/>
          <p:nvPr/>
        </p:nvSpPr>
        <p:spPr>
          <a:xfrm>
            <a:off x="1377918" y="3772668"/>
            <a:ext cx="26331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345"/>
              <a:buFont typeface="Poppins"/>
              <a:buNone/>
            </a:pPr>
            <a:r>
              <a:rPr b="1" i="0" lang="en-US" sz="1545" u="none" cap="none" strike="noStrike">
                <a:solidFill>
                  <a:srgbClr val="084594"/>
                </a:solidFill>
                <a:latin typeface="Poppins"/>
                <a:ea typeface="Poppins"/>
                <a:cs typeface="Poppins"/>
                <a:sym typeface="Poppins"/>
              </a:rPr>
              <a:t>Code debugging</a:t>
            </a:r>
            <a:endParaRPr b="0" i="0" sz="1545" u="none" cap="none" strike="noStrike">
              <a:solidFill>
                <a:schemeClr val="dk1"/>
              </a:solidFill>
              <a:latin typeface="Calibri"/>
              <a:ea typeface="Calibri"/>
              <a:cs typeface="Calibri"/>
              <a:sym typeface="Calibri"/>
            </a:endParaRPr>
          </a:p>
        </p:txBody>
      </p:sp>
      <p:sp>
        <p:nvSpPr>
          <p:cNvPr id="373" name="Google Shape;373;p14"/>
          <p:cNvSpPr/>
          <p:nvPr/>
        </p:nvSpPr>
        <p:spPr>
          <a:xfrm>
            <a:off x="1377936" y="4124151"/>
            <a:ext cx="58266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98"/>
              <a:buFont typeface="Inter"/>
              <a:buNone/>
            </a:pPr>
            <a:r>
              <a:rPr b="0" i="0" lang="en-US" sz="1598" u="none" cap="none" strike="noStrike">
                <a:solidFill>
                  <a:srgbClr val="16324A"/>
                </a:solidFill>
                <a:latin typeface="Inter"/>
                <a:ea typeface="Inter"/>
                <a:cs typeface="Inter"/>
                <a:sym typeface="Inter"/>
              </a:rPr>
              <a:t>DebugBench: compile • unit tests • runtime result</a:t>
            </a:r>
            <a:endParaRPr b="0" i="0" sz="1598" u="none" cap="none" strike="noStrike">
              <a:solidFill>
                <a:schemeClr val="dk1"/>
              </a:solidFill>
              <a:latin typeface="Calibri"/>
              <a:ea typeface="Calibri"/>
              <a:cs typeface="Calibri"/>
              <a:sym typeface="Calibri"/>
            </a:endParaRPr>
          </a:p>
        </p:txBody>
      </p:sp>
      <p:sp>
        <p:nvSpPr>
          <p:cNvPr id="374" name="Google Shape;374;p14"/>
          <p:cNvSpPr/>
          <p:nvPr/>
        </p:nvSpPr>
        <p:spPr>
          <a:xfrm>
            <a:off x="1143000" y="4736407"/>
            <a:ext cx="5766600" cy="946800"/>
          </a:xfrm>
          <a:prstGeom prst="roundRect">
            <a:avLst>
              <a:gd fmla="val 18045"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75" name="Google Shape;375;p14"/>
          <p:cNvSpPr/>
          <p:nvPr/>
        </p:nvSpPr>
        <p:spPr>
          <a:xfrm>
            <a:off x="1377918" y="4890393"/>
            <a:ext cx="31350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345"/>
              <a:buFont typeface="Poppins"/>
              <a:buNone/>
            </a:pPr>
            <a:r>
              <a:rPr b="1" i="0" lang="en-US" sz="1545" u="none" cap="none" strike="noStrike">
                <a:solidFill>
                  <a:srgbClr val="084594"/>
                </a:solidFill>
                <a:latin typeface="Poppins"/>
                <a:ea typeface="Poppins"/>
                <a:cs typeface="Poppins"/>
                <a:sym typeface="Poppins"/>
              </a:rPr>
              <a:t>Financial reasoning</a:t>
            </a:r>
            <a:endParaRPr b="0" i="0" sz="1545" u="none" cap="none" strike="noStrike">
              <a:solidFill>
                <a:schemeClr val="dk1"/>
              </a:solidFill>
              <a:latin typeface="Calibri"/>
              <a:ea typeface="Calibri"/>
              <a:cs typeface="Calibri"/>
              <a:sym typeface="Calibri"/>
            </a:endParaRPr>
          </a:p>
        </p:txBody>
      </p:sp>
      <p:sp>
        <p:nvSpPr>
          <p:cNvPr id="376" name="Google Shape;376;p14"/>
          <p:cNvSpPr/>
          <p:nvPr/>
        </p:nvSpPr>
        <p:spPr>
          <a:xfrm>
            <a:off x="1377936" y="5241875"/>
            <a:ext cx="58266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98"/>
              <a:buFont typeface="Inter"/>
              <a:buNone/>
            </a:pPr>
            <a:r>
              <a:rPr b="0" i="0" lang="en-US" sz="1598" u="none" cap="none" strike="noStrike">
                <a:solidFill>
                  <a:srgbClr val="16324A"/>
                </a:solidFill>
                <a:latin typeface="Inter"/>
                <a:ea typeface="Inter"/>
                <a:cs typeface="Inter"/>
                <a:sym typeface="Inter"/>
              </a:rPr>
              <a:t>FinQA: exact answer • program execution</a:t>
            </a:r>
            <a:endParaRPr b="0" i="0" sz="1598" u="none" cap="none" strike="noStrike">
              <a:solidFill>
                <a:schemeClr val="dk1"/>
              </a:solidFill>
              <a:latin typeface="Calibri"/>
              <a:ea typeface="Calibri"/>
              <a:cs typeface="Calibri"/>
              <a:sym typeface="Calibri"/>
            </a:endParaRPr>
          </a:p>
        </p:txBody>
      </p:sp>
      <p:sp>
        <p:nvSpPr>
          <p:cNvPr id="377" name="Google Shape;377;p14"/>
          <p:cNvSpPr/>
          <p:nvPr/>
        </p:nvSpPr>
        <p:spPr>
          <a:xfrm>
            <a:off x="7229966" y="3120335"/>
            <a:ext cx="1377900" cy="3702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2171B5"/>
              </a:buClr>
              <a:buSzPts val="1682"/>
              <a:buFont typeface="Poppins"/>
              <a:buNone/>
            </a:pPr>
            <a:r>
              <a:rPr b="1" i="0" lang="en-US" sz="1682" u="none" cap="none" strike="noStrike">
                <a:solidFill>
                  <a:srgbClr val="2171B5"/>
                </a:solidFill>
                <a:latin typeface="Poppins"/>
                <a:ea typeface="Poppins"/>
                <a:cs typeface="Poppins"/>
                <a:sym typeface="Poppins"/>
              </a:rPr>
              <a:t>BASELINES</a:t>
            </a:r>
            <a:endParaRPr b="0" i="0" sz="1682" u="none" cap="none" strike="noStrike">
              <a:solidFill>
                <a:schemeClr val="dk1"/>
              </a:solidFill>
              <a:latin typeface="Calibri"/>
              <a:ea typeface="Calibri"/>
              <a:cs typeface="Calibri"/>
              <a:sym typeface="Calibri"/>
            </a:endParaRPr>
          </a:p>
        </p:txBody>
      </p:sp>
      <p:sp>
        <p:nvSpPr>
          <p:cNvPr id="378" name="Google Shape;378;p14"/>
          <p:cNvSpPr/>
          <p:nvPr/>
        </p:nvSpPr>
        <p:spPr>
          <a:xfrm>
            <a:off x="7229966" y="3618683"/>
            <a:ext cx="12714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79" name="Google Shape;379;p14"/>
          <p:cNvSpPr/>
          <p:nvPr/>
        </p:nvSpPr>
        <p:spPr>
          <a:xfrm>
            <a:off x="7443544" y="3736151"/>
            <a:ext cx="9297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SLM only</a:t>
            </a:r>
            <a:endParaRPr b="0" i="0" sz="1514" u="none" cap="none" strike="noStrike">
              <a:solidFill>
                <a:schemeClr val="dk1"/>
              </a:solidFill>
              <a:latin typeface="Calibri"/>
              <a:ea typeface="Calibri"/>
              <a:cs typeface="Calibri"/>
              <a:sym typeface="Calibri"/>
            </a:endParaRPr>
          </a:p>
        </p:txBody>
      </p:sp>
      <p:sp>
        <p:nvSpPr>
          <p:cNvPr id="380" name="Google Shape;380;p14"/>
          <p:cNvSpPr/>
          <p:nvPr/>
        </p:nvSpPr>
        <p:spPr>
          <a:xfrm>
            <a:off x="8607988" y="3618683"/>
            <a:ext cx="20817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81" name="Google Shape;381;p14"/>
          <p:cNvSpPr/>
          <p:nvPr/>
        </p:nvSpPr>
        <p:spPr>
          <a:xfrm>
            <a:off x="8821566" y="3736151"/>
            <a:ext cx="17400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Strong model only</a:t>
            </a:r>
            <a:endParaRPr b="0" i="0" sz="1514" u="none" cap="none" strike="noStrike">
              <a:solidFill>
                <a:schemeClr val="dk1"/>
              </a:solidFill>
              <a:latin typeface="Calibri"/>
              <a:ea typeface="Calibri"/>
              <a:cs typeface="Calibri"/>
              <a:sym typeface="Calibri"/>
            </a:endParaRPr>
          </a:p>
        </p:txBody>
      </p:sp>
      <p:sp>
        <p:nvSpPr>
          <p:cNvPr id="382" name="Google Shape;382;p14"/>
          <p:cNvSpPr/>
          <p:nvPr/>
        </p:nvSpPr>
        <p:spPr>
          <a:xfrm>
            <a:off x="7229966" y="4195343"/>
            <a:ext cx="35844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83" name="Google Shape;383;p14"/>
          <p:cNvSpPr/>
          <p:nvPr/>
        </p:nvSpPr>
        <p:spPr>
          <a:xfrm>
            <a:off x="7443544" y="4312811"/>
            <a:ext cx="32646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Binary confidence accept/escalate</a:t>
            </a:r>
            <a:endParaRPr b="0" i="0" sz="1514" u="none" cap="none" strike="noStrike">
              <a:solidFill>
                <a:schemeClr val="dk1"/>
              </a:solidFill>
              <a:latin typeface="Calibri"/>
              <a:ea typeface="Calibri"/>
              <a:cs typeface="Calibri"/>
              <a:sym typeface="Calibri"/>
            </a:endParaRPr>
          </a:p>
        </p:txBody>
      </p:sp>
      <p:sp>
        <p:nvSpPr>
          <p:cNvPr id="384" name="Google Shape;384;p14"/>
          <p:cNvSpPr/>
          <p:nvPr/>
        </p:nvSpPr>
        <p:spPr>
          <a:xfrm>
            <a:off x="10921080" y="4195343"/>
            <a:ext cx="16599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85" name="Google Shape;385;p14"/>
          <p:cNvSpPr/>
          <p:nvPr/>
        </p:nvSpPr>
        <p:spPr>
          <a:xfrm>
            <a:off x="11134658" y="4312811"/>
            <a:ext cx="13182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Always repair</a:t>
            </a:r>
            <a:endParaRPr b="0" i="0" sz="1514" u="none" cap="none" strike="noStrike">
              <a:solidFill>
                <a:schemeClr val="dk1"/>
              </a:solidFill>
              <a:latin typeface="Calibri"/>
              <a:ea typeface="Calibri"/>
              <a:cs typeface="Calibri"/>
              <a:sym typeface="Calibri"/>
            </a:endParaRPr>
          </a:p>
        </p:txBody>
      </p:sp>
      <p:sp>
        <p:nvSpPr>
          <p:cNvPr id="386" name="Google Shape;386;p14"/>
          <p:cNvSpPr/>
          <p:nvPr/>
        </p:nvSpPr>
        <p:spPr>
          <a:xfrm>
            <a:off x="7229966" y="4772003"/>
            <a:ext cx="21228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87" name="Google Shape;387;p14"/>
          <p:cNvSpPr/>
          <p:nvPr/>
        </p:nvSpPr>
        <p:spPr>
          <a:xfrm>
            <a:off x="7443544" y="4889471"/>
            <a:ext cx="17808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Always regenerate</a:t>
            </a:r>
            <a:endParaRPr b="0" i="0" sz="1514" u="none" cap="none" strike="noStrike">
              <a:solidFill>
                <a:schemeClr val="dk1"/>
              </a:solidFill>
              <a:latin typeface="Calibri"/>
              <a:ea typeface="Calibri"/>
              <a:cs typeface="Calibri"/>
              <a:sym typeface="Calibri"/>
            </a:endParaRPr>
          </a:p>
        </p:txBody>
      </p:sp>
      <p:sp>
        <p:nvSpPr>
          <p:cNvPr id="388" name="Google Shape;388;p14"/>
          <p:cNvSpPr/>
          <p:nvPr/>
        </p:nvSpPr>
        <p:spPr>
          <a:xfrm>
            <a:off x="9459296" y="4772003"/>
            <a:ext cx="25650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89" name="Google Shape;389;p14"/>
          <p:cNvSpPr/>
          <p:nvPr/>
        </p:nvSpPr>
        <p:spPr>
          <a:xfrm>
            <a:off x="9672873" y="4889471"/>
            <a:ext cx="22233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Direct 3-class classifier</a:t>
            </a:r>
            <a:endParaRPr b="0" i="0" sz="1514" u="none" cap="none" strike="noStrike">
              <a:solidFill>
                <a:schemeClr val="dk1"/>
              </a:solidFill>
              <a:latin typeface="Calibri"/>
              <a:ea typeface="Calibri"/>
              <a:cs typeface="Calibri"/>
              <a:sym typeface="Calibri"/>
            </a:endParaRPr>
          </a:p>
        </p:txBody>
      </p:sp>
      <p:sp>
        <p:nvSpPr>
          <p:cNvPr id="390" name="Google Shape;390;p14"/>
          <p:cNvSpPr/>
          <p:nvPr/>
        </p:nvSpPr>
        <p:spPr>
          <a:xfrm>
            <a:off x="7229966" y="5348664"/>
            <a:ext cx="22422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91" name="Google Shape;391;p14"/>
          <p:cNvSpPr/>
          <p:nvPr/>
        </p:nvSpPr>
        <p:spPr>
          <a:xfrm>
            <a:off x="7443544" y="5466131"/>
            <a:ext cx="19002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XGBoost action-risk</a:t>
            </a:r>
            <a:endParaRPr b="0" i="0" sz="1514" u="none" cap="none" strike="noStrike">
              <a:solidFill>
                <a:schemeClr val="dk1"/>
              </a:solidFill>
              <a:latin typeface="Calibri"/>
              <a:ea typeface="Calibri"/>
              <a:cs typeface="Calibri"/>
              <a:sym typeface="Calibri"/>
            </a:endParaRPr>
          </a:p>
        </p:txBody>
      </p:sp>
      <p:sp>
        <p:nvSpPr>
          <p:cNvPr id="392" name="Google Shape;392;p14"/>
          <p:cNvSpPr/>
          <p:nvPr/>
        </p:nvSpPr>
        <p:spPr>
          <a:xfrm>
            <a:off x="9578766" y="5348664"/>
            <a:ext cx="2145300" cy="469800"/>
          </a:xfrm>
          <a:prstGeom prst="roundRect">
            <a:avLst>
              <a:gd fmla="val 50000" name="adj"/>
            </a:avLst>
          </a:prstGeom>
          <a:solidFill>
            <a:srgbClr val="FFFFFF"/>
          </a:solidFill>
          <a:ln>
            <a:noFill/>
          </a:ln>
        </p:spPr>
        <p:txBody>
          <a:bodyPr anchorCtr="0" anchor="ctr" bIns="102500" lIns="102500" spcFirstLastPara="1" rIns="102500" wrap="square" tIns="102500">
            <a:noAutofit/>
          </a:bodyPr>
          <a:lstStyle/>
          <a:p>
            <a:pPr indent="0" lvl="0" marL="0" rtl="0" algn="l">
              <a:spcBef>
                <a:spcPts val="0"/>
              </a:spcBef>
              <a:spcAft>
                <a:spcPts val="0"/>
              </a:spcAft>
              <a:buNone/>
            </a:pPr>
            <a:r>
              <a:t/>
            </a:r>
            <a:endParaRPr/>
          </a:p>
        </p:txBody>
      </p:sp>
      <p:sp>
        <p:nvSpPr>
          <p:cNvPr id="393" name="Google Shape;393;p14"/>
          <p:cNvSpPr/>
          <p:nvPr/>
        </p:nvSpPr>
        <p:spPr>
          <a:xfrm>
            <a:off x="9792343" y="5466131"/>
            <a:ext cx="1803600" cy="2778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16324A"/>
              </a:buClr>
              <a:buSzPts val="1514"/>
              <a:buFont typeface="Inter"/>
              <a:buNone/>
            </a:pPr>
            <a:r>
              <a:rPr b="0" i="0" lang="en-US" sz="1514" u="none" cap="none" strike="noStrike">
                <a:solidFill>
                  <a:srgbClr val="16324A"/>
                </a:solidFill>
                <a:latin typeface="Inter"/>
                <a:ea typeface="Inter"/>
                <a:cs typeface="Inter"/>
                <a:sym typeface="Inter"/>
              </a:rPr>
              <a:t>Uncalibrated ACRE</a:t>
            </a:r>
            <a:endParaRPr b="0" i="0" sz="1514" u="none" cap="none" strike="noStrike">
              <a:solidFill>
                <a:schemeClr val="dk1"/>
              </a:solidFill>
              <a:latin typeface="Calibri"/>
              <a:ea typeface="Calibri"/>
              <a:cs typeface="Calibri"/>
              <a:sym typeface="Calibri"/>
            </a:endParaRPr>
          </a:p>
        </p:txBody>
      </p:sp>
      <p:sp>
        <p:nvSpPr>
          <p:cNvPr id="394" name="Google Shape;394;p14"/>
          <p:cNvSpPr/>
          <p:nvPr/>
        </p:nvSpPr>
        <p:spPr>
          <a:xfrm>
            <a:off x="13316933" y="3120335"/>
            <a:ext cx="3978900" cy="3702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2171B5"/>
              </a:buClr>
              <a:buSzPts val="1682"/>
              <a:buFont typeface="Poppins"/>
              <a:buNone/>
            </a:pPr>
            <a:r>
              <a:rPr b="1" i="0" lang="en-US" sz="1682" u="none" cap="none" strike="noStrike">
                <a:solidFill>
                  <a:srgbClr val="2171B5"/>
                </a:solidFill>
                <a:latin typeface="Poppins"/>
                <a:ea typeface="Poppins"/>
                <a:cs typeface="Poppins"/>
                <a:sym typeface="Poppins"/>
              </a:rPr>
              <a:t>PRIMARY &amp; SECONDARY METRICS</a:t>
            </a:r>
            <a:endParaRPr b="0" i="0" sz="1682" u="none" cap="none" strike="noStrike">
              <a:solidFill>
                <a:schemeClr val="dk1"/>
              </a:solidFill>
              <a:latin typeface="Calibri"/>
              <a:ea typeface="Calibri"/>
              <a:cs typeface="Calibri"/>
              <a:sym typeface="Calibri"/>
            </a:endParaRPr>
          </a:p>
        </p:txBody>
      </p:sp>
      <p:sp>
        <p:nvSpPr>
          <p:cNvPr id="395" name="Google Shape;395;p14"/>
          <p:cNvSpPr/>
          <p:nvPr/>
        </p:nvSpPr>
        <p:spPr>
          <a:xfrm>
            <a:off x="13316933" y="3597325"/>
            <a:ext cx="41880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598"/>
              <a:buFont typeface="Inter"/>
              <a:buNone/>
            </a:pPr>
            <a:r>
              <a:rPr b="1" i="0" lang="en-US" sz="1598" u="none" cap="none" strike="noStrike">
                <a:solidFill>
                  <a:srgbClr val="084594"/>
                </a:solidFill>
                <a:latin typeface="Inter"/>
                <a:ea typeface="Inter"/>
                <a:cs typeface="Inter"/>
                <a:sym typeface="Inter"/>
              </a:rPr>
              <a:t>Primary: </a:t>
            </a:r>
            <a:r>
              <a:rPr b="0" i="0" lang="en-US" sz="1598" u="none" cap="none" strike="noStrike">
                <a:solidFill>
                  <a:srgbClr val="16324A"/>
                </a:solidFill>
                <a:latin typeface="Inter"/>
                <a:ea typeface="Inter"/>
                <a:cs typeface="Inter"/>
                <a:sym typeface="Inter"/>
              </a:rPr>
              <a:t>Final incorrect-response rate</a:t>
            </a:r>
            <a:endParaRPr b="0" i="0" sz="1598" u="none" cap="none" strike="noStrike">
              <a:solidFill>
                <a:schemeClr val="dk1"/>
              </a:solidFill>
              <a:latin typeface="Calibri"/>
              <a:ea typeface="Calibri"/>
              <a:cs typeface="Calibri"/>
              <a:sym typeface="Calibri"/>
            </a:endParaRPr>
          </a:p>
        </p:txBody>
      </p:sp>
      <p:sp>
        <p:nvSpPr>
          <p:cNvPr id="396" name="Google Shape;396;p14"/>
          <p:cNvSpPr/>
          <p:nvPr/>
        </p:nvSpPr>
        <p:spPr>
          <a:xfrm>
            <a:off x="13316933" y="3996004"/>
            <a:ext cx="41880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598"/>
              <a:buFont typeface="Inter"/>
              <a:buNone/>
            </a:pPr>
            <a:r>
              <a:rPr b="1" i="0" lang="en-US" sz="1598" u="none" cap="none" strike="noStrike">
                <a:solidFill>
                  <a:srgbClr val="084594"/>
                </a:solidFill>
                <a:latin typeface="Inter"/>
                <a:ea typeface="Inter"/>
                <a:cs typeface="Inter"/>
                <a:sym typeface="Inter"/>
              </a:rPr>
              <a:t>Risk control: </a:t>
            </a:r>
            <a:r>
              <a:rPr b="0" i="0" lang="en-US" sz="1598" u="none" cap="none" strike="noStrike">
                <a:solidFill>
                  <a:srgbClr val="16324A"/>
                </a:solidFill>
                <a:latin typeface="Inter"/>
                <a:ea typeface="Inter"/>
                <a:cs typeface="Inter"/>
                <a:sym typeface="Inter"/>
              </a:rPr>
              <a:t>False acceptance rate</a:t>
            </a:r>
            <a:endParaRPr b="0" i="0" sz="1598" u="none" cap="none" strike="noStrike">
              <a:solidFill>
                <a:schemeClr val="dk1"/>
              </a:solidFill>
              <a:latin typeface="Calibri"/>
              <a:ea typeface="Calibri"/>
              <a:cs typeface="Calibri"/>
              <a:sym typeface="Calibri"/>
            </a:endParaRPr>
          </a:p>
        </p:txBody>
      </p:sp>
      <p:sp>
        <p:nvSpPr>
          <p:cNvPr id="397" name="Google Shape;397;p14"/>
          <p:cNvSpPr/>
          <p:nvPr/>
        </p:nvSpPr>
        <p:spPr>
          <a:xfrm>
            <a:off x="13316933" y="4394683"/>
            <a:ext cx="41880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598"/>
              <a:buFont typeface="Inter"/>
              <a:buNone/>
            </a:pPr>
            <a:r>
              <a:rPr b="1" i="0" lang="en-US" sz="1598" u="none" cap="none" strike="noStrike">
                <a:solidFill>
                  <a:srgbClr val="084594"/>
                </a:solidFill>
                <a:latin typeface="Inter"/>
                <a:ea typeface="Inter"/>
                <a:cs typeface="Inter"/>
                <a:sym typeface="Inter"/>
              </a:rPr>
              <a:t>Calibration: </a:t>
            </a:r>
            <a:r>
              <a:rPr b="0" i="0" lang="en-US" sz="1598" u="none" cap="none" strike="noStrike">
                <a:solidFill>
                  <a:srgbClr val="16324A"/>
                </a:solidFill>
                <a:latin typeface="Inter"/>
                <a:ea typeface="Inter"/>
                <a:cs typeface="Inter"/>
                <a:sym typeface="Inter"/>
              </a:rPr>
              <a:t>Brier score + ECE</a:t>
            </a:r>
            <a:endParaRPr b="0" i="0" sz="1598" u="none" cap="none" strike="noStrike">
              <a:solidFill>
                <a:schemeClr val="dk1"/>
              </a:solidFill>
              <a:latin typeface="Calibri"/>
              <a:ea typeface="Calibri"/>
              <a:cs typeface="Calibri"/>
              <a:sym typeface="Calibri"/>
            </a:endParaRPr>
          </a:p>
        </p:txBody>
      </p:sp>
      <p:sp>
        <p:nvSpPr>
          <p:cNvPr id="398" name="Google Shape;398;p14"/>
          <p:cNvSpPr/>
          <p:nvPr/>
        </p:nvSpPr>
        <p:spPr>
          <a:xfrm>
            <a:off x="13316933" y="4793361"/>
            <a:ext cx="41880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598"/>
              <a:buFont typeface="Inter"/>
              <a:buNone/>
            </a:pPr>
            <a:r>
              <a:rPr b="1" i="0" lang="en-US" sz="1598" u="none" cap="none" strike="noStrike">
                <a:solidFill>
                  <a:srgbClr val="084594"/>
                </a:solidFill>
                <a:latin typeface="Inter"/>
                <a:ea typeface="Inter"/>
                <a:cs typeface="Inter"/>
                <a:sym typeface="Inter"/>
              </a:rPr>
              <a:t>Prediction: </a:t>
            </a:r>
            <a:r>
              <a:rPr b="0" i="0" lang="en-US" sz="1598" u="none" cap="none" strike="noStrike">
                <a:solidFill>
                  <a:srgbClr val="16324A"/>
                </a:solidFill>
                <a:latin typeface="Inter"/>
                <a:ea typeface="Inter"/>
                <a:cs typeface="Inter"/>
                <a:sym typeface="Inter"/>
              </a:rPr>
              <a:t>Per-action AUROC / F1</a:t>
            </a:r>
            <a:endParaRPr b="0" i="0" sz="1598" u="none" cap="none" strike="noStrike">
              <a:solidFill>
                <a:schemeClr val="dk1"/>
              </a:solidFill>
              <a:latin typeface="Calibri"/>
              <a:ea typeface="Calibri"/>
              <a:cs typeface="Calibri"/>
              <a:sym typeface="Calibri"/>
            </a:endParaRPr>
          </a:p>
        </p:txBody>
      </p:sp>
      <p:sp>
        <p:nvSpPr>
          <p:cNvPr id="399" name="Google Shape;399;p14"/>
          <p:cNvSpPr/>
          <p:nvPr/>
        </p:nvSpPr>
        <p:spPr>
          <a:xfrm>
            <a:off x="13316933" y="5192040"/>
            <a:ext cx="4188000" cy="291900"/>
          </a:xfrm>
          <a:prstGeom prst="rect">
            <a:avLst/>
          </a:prstGeom>
          <a:noFill/>
          <a:ln>
            <a:noFill/>
          </a:ln>
        </p:spPr>
        <p:txBody>
          <a:bodyPr anchorCtr="0" anchor="t" bIns="28475" lIns="28475" spcFirstLastPara="1" rIns="28475" wrap="square" tIns="28475">
            <a:noAutofit/>
          </a:bodyPr>
          <a:lstStyle/>
          <a:p>
            <a:pPr indent="0" lvl="0" marL="0" marR="0" rtl="0" algn="l">
              <a:spcBef>
                <a:spcPts val="0"/>
              </a:spcBef>
              <a:spcAft>
                <a:spcPts val="0"/>
              </a:spcAft>
              <a:buClr>
                <a:srgbClr val="084594"/>
              </a:buClr>
              <a:buSzPts val="1598"/>
              <a:buFont typeface="Inter"/>
              <a:buNone/>
            </a:pPr>
            <a:r>
              <a:rPr b="1" i="0" lang="en-US" sz="1598" u="none" cap="none" strike="noStrike">
                <a:solidFill>
                  <a:srgbClr val="084594"/>
                </a:solidFill>
                <a:latin typeface="Inter"/>
                <a:ea typeface="Inter"/>
                <a:cs typeface="Inter"/>
                <a:sym typeface="Inter"/>
              </a:rPr>
              <a:t>Policy: </a:t>
            </a:r>
            <a:r>
              <a:rPr b="0" i="0" lang="en-US" sz="1598" u="none" cap="none" strike="noStrike">
                <a:solidFill>
                  <a:srgbClr val="16324A"/>
                </a:solidFill>
                <a:latin typeface="Inter"/>
                <a:ea typeface="Inter"/>
                <a:cs typeface="Inter"/>
                <a:sym typeface="Inter"/>
              </a:rPr>
              <a:t>Risk regret vs oracle selector</a:t>
            </a:r>
            <a:endParaRPr b="0" i="0" sz="1598" u="none" cap="none" strike="noStrike">
              <a:solidFill>
                <a:schemeClr val="dk1"/>
              </a:solidFill>
              <a:latin typeface="Calibri"/>
              <a:ea typeface="Calibri"/>
              <a:cs typeface="Calibri"/>
              <a:sym typeface="Calibri"/>
            </a:endParaRPr>
          </a:p>
        </p:txBody>
      </p:sp>
      <p:sp>
        <p:nvSpPr>
          <p:cNvPr id="400" name="Google Shape;400;p14"/>
          <p:cNvSpPr/>
          <p:nvPr/>
        </p:nvSpPr>
        <p:spPr>
          <a:xfrm>
            <a:off x="1143000" y="6567300"/>
            <a:ext cx="16002000" cy="1163400"/>
          </a:xfrm>
          <a:prstGeom prst="roundRect">
            <a:avLst>
              <a:gd fmla="val 18182" name="adj"/>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01" name="Google Shape;401;p14"/>
          <p:cNvSpPr/>
          <p:nvPr/>
        </p:nvSpPr>
        <p:spPr>
          <a:xfrm>
            <a:off x="1390650" y="6831740"/>
            <a:ext cx="15986700" cy="687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Inter"/>
              <a:buNone/>
            </a:pPr>
            <a:r>
              <a:rPr b="0" i="0" lang="en-US" sz="1900" u="none" cap="none" strike="noStrike">
                <a:solidFill>
                  <a:srgbClr val="FFFFFF"/>
                </a:solidFill>
                <a:latin typeface="Inter"/>
                <a:ea typeface="Inter"/>
                <a:cs typeface="Inter"/>
                <a:sym typeface="Inter"/>
              </a:rPr>
              <a:t>Success criterion: a rigorous, reproducible answer. A positive result requires statistically supported lower final error and false acceptance than strong baselines, with well-calibrated action risks.</a:t>
            </a:r>
            <a:endParaRPr b="0" i="0" sz="1900" u="none" cap="none" strike="noStrike">
              <a:solidFill>
                <a:schemeClr val="dk1"/>
              </a:solidFill>
              <a:latin typeface="Calibri"/>
              <a:ea typeface="Calibri"/>
              <a:cs typeface="Calibri"/>
              <a:sym typeface="Calibri"/>
            </a:endParaRPr>
          </a:p>
        </p:txBody>
      </p:sp>
      <p:sp>
        <p:nvSpPr>
          <p:cNvPr id="402" name="Google Shape;402;p14"/>
          <p:cNvSpPr/>
          <p:nvPr/>
        </p:nvSpPr>
        <p:spPr>
          <a:xfrm>
            <a:off x="1143000" y="9556750"/>
            <a:ext cx="17602200" cy="23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275"/>
              <a:buFont typeface="Inter"/>
              <a:buNone/>
            </a:pPr>
            <a:r>
              <a:rPr b="0" i="0" lang="en-US" sz="1275" u="none" cap="none" strike="noStrike">
                <a:solidFill>
                  <a:srgbClr val="4A6785"/>
                </a:solidFill>
                <a:latin typeface="Inter"/>
                <a:ea typeface="Inter"/>
                <a:cs typeface="Inter"/>
                <a:sym typeface="Inter"/>
              </a:rPr>
              <a:t>Sources: Tian et al., DebugBench (Findings of ACL 2024) • Chen et al., FinQA (EMNLP 2021) • Olausson et al. (ICLR 2024)</a:t>
            </a:r>
            <a:endParaRPr b="0" i="0" sz="1275" u="none" cap="none" strike="noStrike">
              <a:solidFill>
                <a:schemeClr val="dk1"/>
              </a:solidFill>
              <a:latin typeface="Calibri"/>
              <a:ea typeface="Calibri"/>
              <a:cs typeface="Calibri"/>
              <a:sym typeface="Calibri"/>
            </a:endParaRPr>
          </a:p>
        </p:txBody>
      </p:sp>
      <p:pic>
        <p:nvPicPr>
          <p:cNvPr id="403" name="Google Shape;403;p14"/>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15"/>
          <p:cNvSpPr/>
          <p:nvPr/>
        </p:nvSpPr>
        <p:spPr>
          <a:xfrm>
            <a:off x="1143000" y="1301750"/>
            <a:ext cx="6828900" cy="69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450"/>
              <a:buFont typeface="Poppins"/>
              <a:buNone/>
            </a:pPr>
            <a:r>
              <a:rPr b="1" i="0" lang="en-US" sz="3450" u="none" cap="none" strike="noStrike">
                <a:solidFill>
                  <a:srgbClr val="084594"/>
                </a:solidFill>
                <a:latin typeface="Poppins"/>
                <a:ea typeface="Poppins"/>
                <a:cs typeface="Poppins"/>
                <a:sym typeface="Poppins"/>
              </a:rPr>
              <a:t>Why </a:t>
            </a:r>
            <a:r>
              <a:rPr b="1" lang="en-US" sz="3450">
                <a:solidFill>
                  <a:srgbClr val="084594"/>
                </a:solidFill>
                <a:latin typeface="Poppins"/>
                <a:ea typeface="Poppins"/>
                <a:cs typeface="Poppins"/>
                <a:sym typeface="Poppins"/>
              </a:rPr>
              <a:t>Agile over</a:t>
            </a:r>
            <a:r>
              <a:rPr b="1" i="0" lang="en-US" sz="3450" u="none" cap="none" strike="noStrike">
                <a:solidFill>
                  <a:srgbClr val="084594"/>
                </a:solidFill>
                <a:latin typeface="Poppins"/>
                <a:ea typeface="Poppins"/>
                <a:cs typeface="Poppins"/>
                <a:sym typeface="Poppins"/>
              </a:rPr>
              <a:t> Waterfall?</a:t>
            </a:r>
            <a:endParaRPr b="0" i="0" sz="3450" u="none" cap="none" strike="noStrike">
              <a:solidFill>
                <a:schemeClr val="dk1"/>
              </a:solidFill>
              <a:latin typeface="Calibri"/>
              <a:ea typeface="Calibri"/>
              <a:cs typeface="Calibri"/>
              <a:sym typeface="Calibri"/>
            </a:endParaRPr>
          </a:p>
        </p:txBody>
      </p:sp>
      <p:sp>
        <p:nvSpPr>
          <p:cNvPr id="410" name="Google Shape;410;p15"/>
          <p:cNvSpPr/>
          <p:nvPr/>
        </p:nvSpPr>
        <p:spPr>
          <a:xfrm>
            <a:off x="1143000" y="2317750"/>
            <a:ext cx="3857700" cy="1338600"/>
          </a:xfrm>
          <a:prstGeom prst="roundRect">
            <a:avLst>
              <a:gd fmla="val 12809"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11" name="Google Shape;411;p15"/>
          <p:cNvSpPr/>
          <p:nvPr/>
        </p:nvSpPr>
        <p:spPr>
          <a:xfrm>
            <a:off x="1143000" y="2317750"/>
            <a:ext cx="3857700" cy="57300"/>
          </a:xfrm>
          <a:prstGeom prst="rect">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1371600" y="2512786"/>
            <a:ext cx="3740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700" u="none" cap="none" strike="noStrike">
                <a:solidFill>
                  <a:srgbClr val="2171B5"/>
                </a:solidFill>
                <a:latin typeface="Poppins"/>
                <a:ea typeface="Poppins"/>
                <a:cs typeface="Poppins"/>
                <a:sym typeface="Poppins"/>
              </a:rPr>
              <a:t>AGILE FIT</a:t>
            </a:r>
            <a:endParaRPr b="0" i="0" sz="1700" u="none" cap="none" strike="noStrike">
              <a:solidFill>
                <a:schemeClr val="dk1"/>
              </a:solidFill>
              <a:latin typeface="Calibri"/>
              <a:ea typeface="Calibri"/>
              <a:cs typeface="Calibri"/>
              <a:sym typeface="Calibri"/>
            </a:endParaRPr>
          </a:p>
        </p:txBody>
      </p:sp>
      <p:sp>
        <p:nvSpPr>
          <p:cNvPr id="413" name="Google Shape;413;p15"/>
          <p:cNvSpPr/>
          <p:nvPr/>
        </p:nvSpPr>
        <p:spPr>
          <a:xfrm>
            <a:off x="1371600" y="2921000"/>
            <a:ext cx="3502500" cy="544800"/>
          </a:xfrm>
          <a:prstGeom prst="rect">
            <a:avLst/>
          </a:prstGeom>
          <a:noFill/>
          <a:ln>
            <a:noFill/>
          </a:ln>
        </p:spPr>
        <p:txBody>
          <a:bodyPr anchorCtr="0" anchor="t" bIns="25400" lIns="25400" spcFirstLastPara="1" rIns="25400" wrap="square" tIns="25400">
            <a:noAutofit/>
          </a:bodyPr>
          <a:lstStyle/>
          <a:p>
            <a:pPr indent="0" lvl="0" marL="0" marR="0" rtl="0" algn="l">
              <a:lnSpc>
                <a:spcPct val="114000"/>
              </a:lnSpc>
              <a:spcBef>
                <a:spcPts val="0"/>
              </a:spcBef>
              <a:spcAft>
                <a:spcPts val="0"/>
              </a:spcAft>
              <a:buClr>
                <a:srgbClr val="16324A"/>
              </a:buClr>
              <a:buSzPts val="1425"/>
              <a:buFont typeface="Inter"/>
              <a:buNone/>
            </a:pPr>
            <a:r>
              <a:rPr b="0" i="0" lang="en-US" sz="1625" u="none" cap="none" strike="noStrike">
                <a:solidFill>
                  <a:srgbClr val="16324A"/>
                </a:solidFill>
                <a:latin typeface="Inter"/>
                <a:ea typeface="Inter"/>
                <a:cs typeface="Inter"/>
                <a:sym typeface="Inter"/>
              </a:rPr>
              <a:t>Pilot results can change task mix, prompts, validators, and features.</a:t>
            </a:r>
            <a:endParaRPr b="0" i="0" sz="1625" u="none" cap="none" strike="noStrike">
              <a:solidFill>
                <a:schemeClr val="dk1"/>
              </a:solidFill>
              <a:latin typeface="Calibri"/>
              <a:ea typeface="Calibri"/>
              <a:cs typeface="Calibri"/>
              <a:sym typeface="Calibri"/>
            </a:endParaRPr>
          </a:p>
        </p:txBody>
      </p:sp>
      <p:sp>
        <p:nvSpPr>
          <p:cNvPr id="414" name="Google Shape;414;p15"/>
          <p:cNvSpPr/>
          <p:nvPr/>
        </p:nvSpPr>
        <p:spPr>
          <a:xfrm>
            <a:off x="5191125" y="2317750"/>
            <a:ext cx="3857700" cy="1338600"/>
          </a:xfrm>
          <a:prstGeom prst="roundRect">
            <a:avLst>
              <a:gd fmla="val 12809"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15" name="Google Shape;415;p15"/>
          <p:cNvSpPr/>
          <p:nvPr/>
        </p:nvSpPr>
        <p:spPr>
          <a:xfrm>
            <a:off x="5191125" y="2317750"/>
            <a:ext cx="3857700" cy="5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a:off x="5419725" y="2512786"/>
            <a:ext cx="3740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700" u="none" cap="none" strike="noStrike">
                <a:solidFill>
                  <a:srgbClr val="2171B5"/>
                </a:solidFill>
                <a:latin typeface="Poppins"/>
                <a:ea typeface="Poppins"/>
                <a:cs typeface="Poppins"/>
                <a:sym typeface="Poppins"/>
              </a:rPr>
              <a:t>WATERFALL LIMIT</a:t>
            </a:r>
            <a:endParaRPr b="0" i="0" sz="1700" u="none" cap="none" strike="noStrike">
              <a:solidFill>
                <a:schemeClr val="dk1"/>
              </a:solidFill>
              <a:latin typeface="Calibri"/>
              <a:ea typeface="Calibri"/>
              <a:cs typeface="Calibri"/>
              <a:sym typeface="Calibri"/>
            </a:endParaRPr>
          </a:p>
        </p:txBody>
      </p:sp>
      <p:sp>
        <p:nvSpPr>
          <p:cNvPr id="417" name="Google Shape;417;p15"/>
          <p:cNvSpPr/>
          <p:nvPr/>
        </p:nvSpPr>
        <p:spPr>
          <a:xfrm>
            <a:off x="5419725" y="2921000"/>
            <a:ext cx="3502500" cy="544800"/>
          </a:xfrm>
          <a:prstGeom prst="rect">
            <a:avLst/>
          </a:prstGeom>
          <a:noFill/>
          <a:ln>
            <a:noFill/>
          </a:ln>
        </p:spPr>
        <p:txBody>
          <a:bodyPr anchorCtr="0" anchor="t" bIns="25400" lIns="25400" spcFirstLastPara="1" rIns="25400" wrap="square" tIns="25400">
            <a:noAutofit/>
          </a:bodyPr>
          <a:lstStyle/>
          <a:p>
            <a:pPr indent="0" lvl="0" marL="0" marR="0" rtl="0" algn="l">
              <a:lnSpc>
                <a:spcPct val="114000"/>
              </a:lnSpc>
              <a:spcBef>
                <a:spcPts val="0"/>
              </a:spcBef>
              <a:spcAft>
                <a:spcPts val="0"/>
              </a:spcAft>
              <a:buClr>
                <a:srgbClr val="16324A"/>
              </a:buClr>
              <a:buSzPts val="1425"/>
              <a:buFont typeface="Inter"/>
              <a:buNone/>
            </a:pPr>
            <a:r>
              <a:rPr b="0" i="0" lang="en-US" sz="1625" u="none" cap="none" strike="noStrike">
                <a:solidFill>
                  <a:srgbClr val="16324A"/>
                </a:solidFill>
                <a:latin typeface="Inter"/>
                <a:ea typeface="Inter"/>
                <a:cs typeface="Inter"/>
                <a:sym typeface="Inter"/>
              </a:rPr>
              <a:t>Key assumptions may remain untested until late phases.</a:t>
            </a:r>
            <a:endParaRPr b="0" i="0" sz="1625" u="none" cap="none" strike="noStrike">
              <a:solidFill>
                <a:schemeClr val="dk1"/>
              </a:solidFill>
              <a:latin typeface="Calibri"/>
              <a:ea typeface="Calibri"/>
              <a:cs typeface="Calibri"/>
              <a:sym typeface="Calibri"/>
            </a:endParaRPr>
          </a:p>
        </p:txBody>
      </p:sp>
      <p:sp>
        <p:nvSpPr>
          <p:cNvPr id="418" name="Google Shape;418;p15"/>
          <p:cNvSpPr/>
          <p:nvPr/>
        </p:nvSpPr>
        <p:spPr>
          <a:xfrm>
            <a:off x="9239250" y="2317750"/>
            <a:ext cx="3857700" cy="1338600"/>
          </a:xfrm>
          <a:prstGeom prst="roundRect">
            <a:avLst>
              <a:gd fmla="val 12809"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19" name="Google Shape;419;p15"/>
          <p:cNvSpPr/>
          <p:nvPr/>
        </p:nvSpPr>
        <p:spPr>
          <a:xfrm>
            <a:off x="9239250" y="2317750"/>
            <a:ext cx="3857700" cy="573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9467850" y="2512786"/>
            <a:ext cx="3740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700" u="none" cap="none" strike="noStrike">
                <a:solidFill>
                  <a:srgbClr val="2171B5"/>
                </a:solidFill>
                <a:latin typeface="Poppins"/>
                <a:ea typeface="Poppins"/>
                <a:cs typeface="Poppins"/>
                <a:sym typeface="Poppins"/>
              </a:rPr>
              <a:t>FEEDBACK NEED</a:t>
            </a:r>
            <a:endParaRPr b="0" i="0" sz="1700" u="none" cap="none" strike="noStrike">
              <a:solidFill>
                <a:schemeClr val="dk1"/>
              </a:solidFill>
              <a:latin typeface="Calibri"/>
              <a:ea typeface="Calibri"/>
              <a:cs typeface="Calibri"/>
              <a:sym typeface="Calibri"/>
            </a:endParaRPr>
          </a:p>
        </p:txBody>
      </p:sp>
      <p:sp>
        <p:nvSpPr>
          <p:cNvPr id="421" name="Google Shape;421;p15"/>
          <p:cNvSpPr/>
          <p:nvPr/>
        </p:nvSpPr>
        <p:spPr>
          <a:xfrm>
            <a:off x="9467850" y="2921000"/>
            <a:ext cx="3502500" cy="544800"/>
          </a:xfrm>
          <a:prstGeom prst="rect">
            <a:avLst/>
          </a:prstGeom>
          <a:noFill/>
          <a:ln>
            <a:noFill/>
          </a:ln>
        </p:spPr>
        <p:txBody>
          <a:bodyPr anchorCtr="0" anchor="t" bIns="25400" lIns="25400" spcFirstLastPara="1" rIns="25400" wrap="square" tIns="25400">
            <a:noAutofit/>
          </a:bodyPr>
          <a:lstStyle/>
          <a:p>
            <a:pPr indent="0" lvl="0" marL="0" marR="0" rtl="0" algn="l">
              <a:lnSpc>
                <a:spcPct val="114000"/>
              </a:lnSpc>
              <a:spcBef>
                <a:spcPts val="0"/>
              </a:spcBef>
              <a:spcAft>
                <a:spcPts val="0"/>
              </a:spcAft>
              <a:buClr>
                <a:srgbClr val="16324A"/>
              </a:buClr>
              <a:buSzPts val="1425"/>
              <a:buFont typeface="Inter"/>
              <a:buNone/>
            </a:pPr>
            <a:r>
              <a:rPr b="0" i="0" lang="en-US" sz="1625" u="none" cap="none" strike="noStrike">
                <a:solidFill>
                  <a:srgbClr val="16324A"/>
                </a:solidFill>
                <a:latin typeface="Inter"/>
                <a:ea typeface="Inter"/>
                <a:cs typeface="Inter"/>
                <a:sym typeface="Inter"/>
              </a:rPr>
              <a:t>Calibration and validator quality need frequent review.</a:t>
            </a:r>
            <a:endParaRPr b="0" i="0" sz="1625" u="none" cap="none" strike="noStrike">
              <a:solidFill>
                <a:schemeClr val="dk1"/>
              </a:solidFill>
              <a:latin typeface="Calibri"/>
              <a:ea typeface="Calibri"/>
              <a:cs typeface="Calibri"/>
              <a:sym typeface="Calibri"/>
            </a:endParaRPr>
          </a:p>
        </p:txBody>
      </p:sp>
      <p:sp>
        <p:nvSpPr>
          <p:cNvPr id="422" name="Google Shape;422;p15"/>
          <p:cNvSpPr/>
          <p:nvPr/>
        </p:nvSpPr>
        <p:spPr>
          <a:xfrm>
            <a:off x="13287375" y="2317750"/>
            <a:ext cx="3857700" cy="1338600"/>
          </a:xfrm>
          <a:prstGeom prst="roundRect">
            <a:avLst>
              <a:gd fmla="val 12809"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23" name="Google Shape;423;p15"/>
          <p:cNvSpPr/>
          <p:nvPr/>
        </p:nvSpPr>
        <p:spPr>
          <a:xfrm>
            <a:off x="13287375" y="2317750"/>
            <a:ext cx="3857700" cy="573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13515975" y="2512786"/>
            <a:ext cx="3740400" cy="260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200"/>
              <a:buFont typeface="Poppins"/>
              <a:buNone/>
            </a:pPr>
            <a:r>
              <a:rPr b="1" i="0" lang="en-US" sz="1700" u="none" cap="none" strike="noStrike">
                <a:solidFill>
                  <a:srgbClr val="2171B5"/>
                </a:solidFill>
                <a:latin typeface="Poppins"/>
                <a:ea typeface="Poppins"/>
                <a:cs typeface="Poppins"/>
                <a:sym typeface="Poppins"/>
              </a:rPr>
              <a:t>SCOPE CONTROL</a:t>
            </a:r>
            <a:endParaRPr b="0" i="0" sz="1700" u="none" cap="none" strike="noStrike">
              <a:solidFill>
                <a:schemeClr val="dk1"/>
              </a:solidFill>
              <a:latin typeface="Calibri"/>
              <a:ea typeface="Calibri"/>
              <a:cs typeface="Calibri"/>
              <a:sym typeface="Calibri"/>
            </a:endParaRPr>
          </a:p>
        </p:txBody>
      </p:sp>
      <p:sp>
        <p:nvSpPr>
          <p:cNvPr id="425" name="Google Shape;425;p15"/>
          <p:cNvSpPr/>
          <p:nvPr/>
        </p:nvSpPr>
        <p:spPr>
          <a:xfrm>
            <a:off x="13515975" y="2921000"/>
            <a:ext cx="3502500" cy="544800"/>
          </a:xfrm>
          <a:prstGeom prst="rect">
            <a:avLst/>
          </a:prstGeom>
          <a:noFill/>
          <a:ln>
            <a:noFill/>
          </a:ln>
        </p:spPr>
        <p:txBody>
          <a:bodyPr anchorCtr="0" anchor="t" bIns="25400" lIns="25400" spcFirstLastPara="1" rIns="25400" wrap="square" tIns="25400">
            <a:noAutofit/>
          </a:bodyPr>
          <a:lstStyle/>
          <a:p>
            <a:pPr indent="0" lvl="0" marL="0" marR="0" rtl="0" algn="l">
              <a:lnSpc>
                <a:spcPct val="114000"/>
              </a:lnSpc>
              <a:spcBef>
                <a:spcPts val="0"/>
              </a:spcBef>
              <a:spcAft>
                <a:spcPts val="0"/>
              </a:spcAft>
              <a:buClr>
                <a:srgbClr val="16324A"/>
              </a:buClr>
              <a:buSzPts val="1425"/>
              <a:buFont typeface="Inter"/>
              <a:buNone/>
            </a:pPr>
            <a:r>
              <a:rPr b="0" i="0" lang="en-US" sz="1625" u="none" cap="none" strike="noStrike">
                <a:solidFill>
                  <a:srgbClr val="16324A"/>
                </a:solidFill>
                <a:latin typeface="Inter"/>
                <a:ea typeface="Inter"/>
                <a:cs typeface="Inter"/>
                <a:sym typeface="Inter"/>
              </a:rPr>
              <a:t>Backlog and sprint goals protect the 12-week boundary.</a:t>
            </a:r>
            <a:endParaRPr b="0" i="0" sz="1625" u="none" cap="none" strike="noStrike">
              <a:solidFill>
                <a:schemeClr val="dk1"/>
              </a:solidFill>
              <a:latin typeface="Calibri"/>
              <a:ea typeface="Calibri"/>
              <a:cs typeface="Calibri"/>
              <a:sym typeface="Calibri"/>
            </a:endParaRPr>
          </a:p>
        </p:txBody>
      </p:sp>
      <p:sp>
        <p:nvSpPr>
          <p:cNvPr id="426" name="Google Shape;426;p15"/>
          <p:cNvSpPr/>
          <p:nvPr/>
        </p:nvSpPr>
        <p:spPr>
          <a:xfrm>
            <a:off x="1143000" y="4255175"/>
            <a:ext cx="50484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500"/>
              <a:buFont typeface="Poppins"/>
              <a:buNone/>
            </a:pPr>
            <a:r>
              <a:rPr b="1" i="0" lang="en-US" sz="1800" u="none" cap="none" strike="noStrike">
                <a:solidFill>
                  <a:srgbClr val="2171B5"/>
                </a:solidFill>
                <a:latin typeface="Poppins"/>
                <a:ea typeface="Poppins"/>
                <a:cs typeface="Poppins"/>
                <a:sym typeface="Poppins"/>
              </a:rPr>
              <a:t>SELECTED APPROACH AND PM STACK</a:t>
            </a:r>
            <a:endParaRPr b="0" i="0" sz="1800" u="none" cap="none" strike="noStrike">
              <a:solidFill>
                <a:schemeClr val="dk1"/>
              </a:solidFill>
              <a:latin typeface="Calibri"/>
              <a:ea typeface="Calibri"/>
              <a:cs typeface="Calibri"/>
              <a:sym typeface="Calibri"/>
            </a:endParaRPr>
          </a:p>
        </p:txBody>
      </p:sp>
      <p:sp>
        <p:nvSpPr>
          <p:cNvPr id="427" name="Google Shape;427;p15"/>
          <p:cNvSpPr/>
          <p:nvPr/>
        </p:nvSpPr>
        <p:spPr>
          <a:xfrm>
            <a:off x="1143000" y="4699675"/>
            <a:ext cx="3857700" cy="3440400"/>
          </a:xfrm>
          <a:prstGeom prst="roundRect">
            <a:avLst>
              <a:gd fmla="val 4444" name="adj"/>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1371600" y="6726031"/>
            <a:ext cx="37404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Poppins"/>
              <a:buNone/>
            </a:pPr>
            <a:r>
              <a:rPr b="1" i="0" lang="en-US" sz="2100" u="none" cap="none" strike="noStrike">
                <a:solidFill>
                  <a:srgbClr val="FFFFFF"/>
                </a:solidFill>
                <a:latin typeface="Poppins"/>
                <a:ea typeface="Poppins"/>
                <a:cs typeface="Poppins"/>
                <a:sym typeface="Poppins"/>
              </a:rPr>
              <a:t>Agile Scrum</a:t>
            </a:r>
            <a:endParaRPr b="0" i="0" sz="2100" u="none" cap="none" strike="noStrike">
              <a:solidFill>
                <a:schemeClr val="dk1"/>
              </a:solidFill>
              <a:latin typeface="Calibri"/>
              <a:ea typeface="Calibri"/>
              <a:cs typeface="Calibri"/>
              <a:sym typeface="Calibri"/>
            </a:endParaRPr>
          </a:p>
        </p:txBody>
      </p:sp>
      <p:sp>
        <p:nvSpPr>
          <p:cNvPr id="429" name="Google Shape;429;p15"/>
          <p:cNvSpPr/>
          <p:nvPr/>
        </p:nvSpPr>
        <p:spPr>
          <a:xfrm>
            <a:off x="1371600" y="7094331"/>
            <a:ext cx="3502500" cy="457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EEBF7"/>
              </a:buClr>
              <a:buSzPts val="1350"/>
              <a:buFont typeface="Inter"/>
              <a:buNone/>
            </a:pPr>
            <a:r>
              <a:rPr b="0" i="0" lang="en-US" sz="1950" u="none" cap="none" strike="noStrike">
                <a:solidFill>
                  <a:srgbClr val="DEEBF7"/>
                </a:solidFill>
                <a:latin typeface="Inter"/>
                <a:ea typeface="Inter"/>
                <a:cs typeface="Inter"/>
                <a:sym typeface="Inter"/>
              </a:rPr>
              <a:t>One-week feedback loops with a reviewable increment</a:t>
            </a:r>
            <a:endParaRPr b="0" i="0" sz="1950" u="none" cap="none" strike="noStrike">
              <a:solidFill>
                <a:schemeClr val="dk1"/>
              </a:solidFill>
              <a:latin typeface="Calibri"/>
              <a:ea typeface="Calibri"/>
              <a:cs typeface="Calibri"/>
              <a:sym typeface="Calibri"/>
            </a:endParaRPr>
          </a:p>
        </p:txBody>
      </p:sp>
      <p:sp>
        <p:nvSpPr>
          <p:cNvPr id="430" name="Google Shape;430;p15"/>
          <p:cNvSpPr/>
          <p:nvPr/>
        </p:nvSpPr>
        <p:spPr>
          <a:xfrm>
            <a:off x="5191125" y="4699675"/>
            <a:ext cx="3857700" cy="3440400"/>
          </a:xfrm>
          <a:prstGeom prst="roundRect">
            <a:avLst>
              <a:gd fmla="val 444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5419725" y="6713331"/>
            <a:ext cx="37404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500"/>
              <a:buFont typeface="Poppins"/>
              <a:buNone/>
            </a:pPr>
            <a:r>
              <a:rPr b="1" i="0" lang="en-US" sz="2100" u="none" cap="none" strike="noStrike">
                <a:solidFill>
                  <a:srgbClr val="084594"/>
                </a:solidFill>
                <a:latin typeface="Poppins"/>
                <a:ea typeface="Poppins"/>
                <a:cs typeface="Poppins"/>
                <a:sym typeface="Poppins"/>
              </a:rPr>
              <a:t>Jira</a:t>
            </a:r>
            <a:endParaRPr b="0" i="0" sz="2100" u="none" cap="none" strike="noStrike">
              <a:solidFill>
                <a:schemeClr val="dk1"/>
              </a:solidFill>
              <a:latin typeface="Calibri"/>
              <a:ea typeface="Calibri"/>
              <a:cs typeface="Calibri"/>
              <a:sym typeface="Calibri"/>
            </a:endParaRPr>
          </a:p>
        </p:txBody>
      </p:sp>
      <p:sp>
        <p:nvSpPr>
          <p:cNvPr id="432" name="Google Shape;432;p15"/>
          <p:cNvSpPr/>
          <p:nvPr/>
        </p:nvSpPr>
        <p:spPr>
          <a:xfrm>
            <a:off x="5419725" y="7081630"/>
            <a:ext cx="3502500" cy="482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425"/>
              <a:buFont typeface="Inter"/>
              <a:buNone/>
            </a:pPr>
            <a:r>
              <a:rPr b="0" i="0" lang="en-US" sz="2025" u="none" cap="none" strike="noStrike">
                <a:solidFill>
                  <a:srgbClr val="16324A"/>
                </a:solidFill>
                <a:latin typeface="Inter"/>
                <a:ea typeface="Inter"/>
                <a:cs typeface="Inter"/>
                <a:sym typeface="Inter"/>
              </a:rPr>
              <a:t>Sprint board, owners, due dates, dependencies</a:t>
            </a:r>
            <a:endParaRPr b="0" i="0" sz="2025" u="none" cap="none" strike="noStrike">
              <a:solidFill>
                <a:schemeClr val="dk1"/>
              </a:solidFill>
              <a:latin typeface="Calibri"/>
              <a:ea typeface="Calibri"/>
              <a:cs typeface="Calibri"/>
              <a:sym typeface="Calibri"/>
            </a:endParaRPr>
          </a:p>
        </p:txBody>
      </p:sp>
      <p:sp>
        <p:nvSpPr>
          <p:cNvPr id="433" name="Google Shape;433;p15"/>
          <p:cNvSpPr/>
          <p:nvPr/>
        </p:nvSpPr>
        <p:spPr>
          <a:xfrm>
            <a:off x="9239250" y="4699675"/>
            <a:ext cx="3857700" cy="3440400"/>
          </a:xfrm>
          <a:prstGeom prst="roundRect">
            <a:avLst>
              <a:gd fmla="val 444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9467850" y="6713331"/>
            <a:ext cx="37404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500"/>
              <a:buFont typeface="Poppins"/>
              <a:buNone/>
            </a:pPr>
            <a:r>
              <a:rPr b="1" i="0" lang="en-US" sz="2100" u="none" cap="none" strike="noStrike">
                <a:solidFill>
                  <a:srgbClr val="084594"/>
                </a:solidFill>
                <a:latin typeface="Poppins"/>
                <a:ea typeface="Poppins"/>
                <a:cs typeface="Poppins"/>
                <a:sym typeface="Poppins"/>
              </a:rPr>
              <a:t>GitHub</a:t>
            </a:r>
            <a:endParaRPr b="0" i="0" sz="2100" u="none" cap="none" strike="noStrike">
              <a:solidFill>
                <a:schemeClr val="dk1"/>
              </a:solidFill>
              <a:latin typeface="Calibri"/>
              <a:ea typeface="Calibri"/>
              <a:cs typeface="Calibri"/>
              <a:sym typeface="Calibri"/>
            </a:endParaRPr>
          </a:p>
        </p:txBody>
      </p:sp>
      <p:sp>
        <p:nvSpPr>
          <p:cNvPr id="435" name="Google Shape;435;p15"/>
          <p:cNvSpPr/>
          <p:nvPr/>
        </p:nvSpPr>
        <p:spPr>
          <a:xfrm>
            <a:off x="9467850" y="7081630"/>
            <a:ext cx="3502500" cy="482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425"/>
              <a:buFont typeface="Inter"/>
              <a:buNone/>
            </a:pPr>
            <a:r>
              <a:rPr b="0" i="0" lang="en-US" sz="2025" u="none" cap="none" strike="noStrike">
                <a:solidFill>
                  <a:srgbClr val="16324A"/>
                </a:solidFill>
                <a:latin typeface="Inter"/>
                <a:ea typeface="Inter"/>
                <a:cs typeface="Inter"/>
                <a:sym typeface="Inter"/>
              </a:rPr>
              <a:t>Issues, branches, pull requests, CI, version history</a:t>
            </a:r>
            <a:endParaRPr b="0" i="0" sz="2025" u="none" cap="none" strike="noStrike">
              <a:solidFill>
                <a:schemeClr val="dk1"/>
              </a:solidFill>
              <a:latin typeface="Calibri"/>
              <a:ea typeface="Calibri"/>
              <a:cs typeface="Calibri"/>
              <a:sym typeface="Calibri"/>
            </a:endParaRPr>
          </a:p>
        </p:txBody>
      </p:sp>
      <p:sp>
        <p:nvSpPr>
          <p:cNvPr id="436" name="Google Shape;436;p15"/>
          <p:cNvSpPr/>
          <p:nvPr/>
        </p:nvSpPr>
        <p:spPr>
          <a:xfrm>
            <a:off x="13287375" y="4699675"/>
            <a:ext cx="3857700" cy="3440400"/>
          </a:xfrm>
          <a:prstGeom prst="roundRect">
            <a:avLst>
              <a:gd fmla="val 444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13515975" y="6713331"/>
            <a:ext cx="37404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500"/>
              <a:buFont typeface="Poppins"/>
              <a:buNone/>
            </a:pPr>
            <a:r>
              <a:rPr b="1" i="0" lang="en-US" sz="2100" u="none" cap="none" strike="noStrike">
                <a:solidFill>
                  <a:srgbClr val="084594"/>
                </a:solidFill>
                <a:latin typeface="Poppins"/>
                <a:ea typeface="Poppins"/>
                <a:cs typeface="Poppins"/>
                <a:sym typeface="Poppins"/>
              </a:rPr>
              <a:t>MLflow</a:t>
            </a:r>
            <a:endParaRPr b="0" i="0" sz="2100" u="none" cap="none" strike="noStrike">
              <a:solidFill>
                <a:schemeClr val="dk1"/>
              </a:solidFill>
              <a:latin typeface="Calibri"/>
              <a:ea typeface="Calibri"/>
              <a:cs typeface="Calibri"/>
              <a:sym typeface="Calibri"/>
            </a:endParaRPr>
          </a:p>
        </p:txBody>
      </p:sp>
      <p:sp>
        <p:nvSpPr>
          <p:cNvPr id="438" name="Google Shape;438;p15"/>
          <p:cNvSpPr/>
          <p:nvPr/>
        </p:nvSpPr>
        <p:spPr>
          <a:xfrm>
            <a:off x="13515975" y="7081630"/>
            <a:ext cx="3502500" cy="482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425"/>
              <a:buFont typeface="Inter"/>
              <a:buNone/>
            </a:pPr>
            <a:r>
              <a:rPr b="0" i="0" lang="en-US" sz="2025" u="none" cap="none" strike="noStrike">
                <a:solidFill>
                  <a:srgbClr val="16324A"/>
                </a:solidFill>
                <a:latin typeface="Inter"/>
                <a:ea typeface="Inter"/>
                <a:cs typeface="Inter"/>
                <a:sym typeface="Inter"/>
              </a:rPr>
              <a:t>Experiment runs, metrics, artifacts, reproducibility</a:t>
            </a:r>
            <a:endParaRPr b="0" i="0" sz="2025" u="none" cap="none" strike="noStrike">
              <a:solidFill>
                <a:schemeClr val="dk1"/>
              </a:solidFill>
              <a:latin typeface="Calibri"/>
              <a:ea typeface="Calibri"/>
              <a:cs typeface="Calibri"/>
              <a:sym typeface="Calibri"/>
            </a:endParaRPr>
          </a:p>
        </p:txBody>
      </p:sp>
      <p:pic>
        <p:nvPicPr>
          <p:cNvPr id="439" name="Google Shape;439;p15"/>
          <p:cNvPicPr preferRelativeResize="0"/>
          <p:nvPr/>
        </p:nvPicPr>
        <p:blipFill>
          <a:blip r:embed="rId3">
            <a:alphaModFix/>
          </a:blip>
          <a:stretch>
            <a:fillRect/>
          </a:stretch>
        </p:blipFill>
        <p:spPr>
          <a:xfrm>
            <a:off x="14514274" y="256251"/>
            <a:ext cx="3489799" cy="614350"/>
          </a:xfrm>
          <a:prstGeom prst="rect">
            <a:avLst/>
          </a:prstGeom>
          <a:noFill/>
          <a:ln>
            <a:noFill/>
          </a:ln>
        </p:spPr>
      </p:pic>
      <p:pic>
        <p:nvPicPr>
          <p:cNvPr id="440" name="Google Shape;440;p15"/>
          <p:cNvPicPr preferRelativeResize="0"/>
          <p:nvPr/>
        </p:nvPicPr>
        <p:blipFill rotWithShape="1">
          <a:blip r:embed="rId4">
            <a:alphaModFix/>
          </a:blip>
          <a:srcRect b="30938" l="0" r="0" t="26982"/>
          <a:stretch/>
        </p:blipFill>
        <p:spPr>
          <a:xfrm>
            <a:off x="6191400" y="5374852"/>
            <a:ext cx="1644674" cy="692100"/>
          </a:xfrm>
          <a:prstGeom prst="rect">
            <a:avLst/>
          </a:prstGeom>
          <a:solidFill>
            <a:srgbClr val="F7FBFF"/>
          </a:solidFill>
          <a:ln>
            <a:noFill/>
          </a:ln>
        </p:spPr>
      </p:pic>
      <p:pic>
        <p:nvPicPr>
          <p:cNvPr id="441" name="Google Shape;441;p15"/>
          <p:cNvPicPr preferRelativeResize="0"/>
          <p:nvPr/>
        </p:nvPicPr>
        <p:blipFill rotWithShape="1">
          <a:blip r:embed="rId5">
            <a:alphaModFix/>
          </a:blip>
          <a:srcRect b="23203" l="4998" r="55300" t="6036"/>
          <a:stretch/>
        </p:blipFill>
        <p:spPr>
          <a:xfrm>
            <a:off x="10578525" y="5270500"/>
            <a:ext cx="1179130" cy="1050799"/>
          </a:xfrm>
          <a:prstGeom prst="rect">
            <a:avLst/>
          </a:prstGeom>
          <a:solidFill>
            <a:srgbClr val="F7FBFF"/>
          </a:solidFill>
          <a:ln>
            <a:noFill/>
          </a:ln>
        </p:spPr>
      </p:pic>
      <p:pic>
        <p:nvPicPr>
          <p:cNvPr id="442" name="Google Shape;442;p15"/>
          <p:cNvPicPr preferRelativeResize="0"/>
          <p:nvPr/>
        </p:nvPicPr>
        <p:blipFill rotWithShape="1">
          <a:blip r:embed="rId6">
            <a:alphaModFix/>
          </a:blip>
          <a:srcRect b="12789" l="0" r="0" t="10217"/>
          <a:stretch/>
        </p:blipFill>
        <p:spPr>
          <a:xfrm>
            <a:off x="14335125" y="5441900"/>
            <a:ext cx="1637474" cy="707999"/>
          </a:xfrm>
          <a:prstGeom prst="rect">
            <a:avLst/>
          </a:prstGeom>
          <a:solidFill>
            <a:srgbClr val="F7FBFF"/>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447" name="Shape 447"/>
        <p:cNvGrpSpPr/>
        <p:nvPr/>
      </p:nvGrpSpPr>
      <p:grpSpPr>
        <a:xfrm>
          <a:off x="0" y="0"/>
          <a:ext cx="0" cy="0"/>
          <a:chOff x="0" y="0"/>
          <a:chExt cx="0" cy="0"/>
        </a:xfrm>
      </p:grpSpPr>
      <p:sp>
        <p:nvSpPr>
          <p:cNvPr id="448" name="Google Shape;448;p16"/>
          <p:cNvSpPr/>
          <p:nvPr/>
        </p:nvSpPr>
        <p:spPr>
          <a:xfrm>
            <a:off x="1143000" y="1301750"/>
            <a:ext cx="17602200" cy="69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450"/>
              <a:buFont typeface="Poppins"/>
              <a:buNone/>
            </a:pPr>
            <a:r>
              <a:rPr b="1" i="0" lang="en-US" sz="3450" u="none" cap="none" strike="noStrike">
                <a:solidFill>
                  <a:srgbClr val="084594"/>
                </a:solidFill>
                <a:latin typeface="Poppins"/>
                <a:ea typeface="Poppins"/>
                <a:cs typeface="Poppins"/>
                <a:sym typeface="Poppins"/>
              </a:rPr>
              <a:t>Project Delivery Approach: Agile Scrum + Jira</a:t>
            </a:r>
            <a:endParaRPr b="0" i="0" sz="3450" u="none" cap="none" strike="noStrike">
              <a:solidFill>
                <a:schemeClr val="dk1"/>
              </a:solidFill>
              <a:latin typeface="Calibri"/>
              <a:ea typeface="Calibri"/>
              <a:cs typeface="Calibri"/>
              <a:sym typeface="Calibri"/>
            </a:endParaRPr>
          </a:p>
        </p:txBody>
      </p:sp>
      <p:sp>
        <p:nvSpPr>
          <p:cNvPr id="449" name="Google Shape;449;p16"/>
          <p:cNvSpPr/>
          <p:nvPr/>
        </p:nvSpPr>
        <p:spPr>
          <a:xfrm>
            <a:off x="1143000" y="2089150"/>
            <a:ext cx="16764000" cy="317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800"/>
              <a:buFont typeface="Inter"/>
              <a:buNone/>
            </a:pPr>
            <a:r>
              <a:rPr b="0" i="0" lang="en-US" sz="1800" u="none" cap="none" strike="noStrike">
                <a:solidFill>
                  <a:srgbClr val="2C4A63"/>
                </a:solidFill>
                <a:latin typeface="Inter"/>
                <a:ea typeface="Inter"/>
                <a:cs typeface="Inter"/>
                <a:sym typeface="Inter"/>
              </a:rPr>
              <a:t>The exploratory study runs as 12 one-week sprints with a visible backlog, review, and disciplined scope control.</a:t>
            </a:r>
            <a:endParaRPr b="0" i="0" sz="1800" u="none" cap="none" strike="noStrike">
              <a:solidFill>
                <a:schemeClr val="dk1"/>
              </a:solidFill>
              <a:latin typeface="Calibri"/>
              <a:ea typeface="Calibri"/>
              <a:cs typeface="Calibri"/>
              <a:sym typeface="Calibri"/>
            </a:endParaRPr>
          </a:p>
        </p:txBody>
      </p:sp>
      <p:sp>
        <p:nvSpPr>
          <p:cNvPr id="450" name="Google Shape;450;p16"/>
          <p:cNvSpPr/>
          <p:nvPr/>
        </p:nvSpPr>
        <p:spPr>
          <a:xfrm>
            <a:off x="1659110" y="3357800"/>
            <a:ext cx="1196400" cy="1196400"/>
          </a:xfrm>
          <a:prstGeom prst="ellipse">
            <a:avLst/>
          </a:prstGeom>
          <a:solidFill>
            <a:srgbClr val="9ECAE1"/>
          </a:solidFill>
          <a:ln>
            <a:noFill/>
          </a:ln>
        </p:spPr>
        <p:txBody>
          <a:bodyPr anchorCtr="0" anchor="ctr" bIns="143525" lIns="143525" spcFirstLastPara="1" rIns="143525" wrap="square" tIns="143525">
            <a:noAutofit/>
          </a:bodyPr>
          <a:lstStyle/>
          <a:p>
            <a:pPr indent="0" lvl="0" marL="0" rtl="0" algn="l">
              <a:spcBef>
                <a:spcPts val="0"/>
              </a:spcBef>
              <a:spcAft>
                <a:spcPts val="0"/>
              </a:spcAft>
              <a:buNone/>
            </a:pPr>
            <a:r>
              <a:t/>
            </a:r>
            <a:endParaRPr/>
          </a:p>
        </p:txBody>
      </p:sp>
      <p:sp>
        <p:nvSpPr>
          <p:cNvPr id="451" name="Google Shape;451;p16"/>
          <p:cNvSpPr/>
          <p:nvPr/>
        </p:nvSpPr>
        <p:spPr>
          <a:xfrm>
            <a:off x="1599298" y="3357800"/>
            <a:ext cx="1315800" cy="1256100"/>
          </a:xfrm>
          <a:prstGeom prst="rect">
            <a:avLst/>
          </a:prstGeom>
          <a:noFill/>
          <a:ln>
            <a:noFill/>
          </a:ln>
        </p:spPr>
        <p:txBody>
          <a:bodyPr anchorCtr="0" anchor="ctr" bIns="39875" lIns="39875" spcFirstLastPara="1" rIns="39875" wrap="square" tIns="39875">
            <a:noAutofit/>
          </a:bodyPr>
          <a:lstStyle/>
          <a:p>
            <a:pPr indent="0" lvl="0" marL="0" marR="0" rtl="0" algn="ctr">
              <a:spcBef>
                <a:spcPts val="0"/>
              </a:spcBef>
              <a:spcAft>
                <a:spcPts val="0"/>
              </a:spcAft>
              <a:buClr>
                <a:srgbClr val="084594"/>
              </a:buClr>
              <a:buSzPts val="1884"/>
              <a:buFont typeface="Poppins"/>
              <a:buNone/>
            </a:pPr>
            <a:r>
              <a:rPr b="1" i="0" lang="en-US" sz="1884" u="none" cap="none" strike="noStrike">
                <a:solidFill>
                  <a:srgbClr val="084594"/>
                </a:solidFill>
                <a:latin typeface="Poppins"/>
                <a:ea typeface="Poppins"/>
                <a:cs typeface="Poppins"/>
                <a:sym typeface="Poppins"/>
              </a:rPr>
              <a:t>Backlog</a:t>
            </a:r>
            <a:endParaRPr b="0" i="0" sz="1884" u="none" cap="none" strike="noStrike">
              <a:solidFill>
                <a:schemeClr val="dk1"/>
              </a:solidFill>
              <a:latin typeface="Calibri"/>
              <a:ea typeface="Calibri"/>
              <a:cs typeface="Calibri"/>
              <a:sym typeface="Calibri"/>
            </a:endParaRPr>
          </a:p>
        </p:txBody>
      </p:sp>
      <p:sp>
        <p:nvSpPr>
          <p:cNvPr id="452" name="Google Shape;452;p16"/>
          <p:cNvSpPr/>
          <p:nvPr/>
        </p:nvSpPr>
        <p:spPr>
          <a:xfrm>
            <a:off x="1226474" y="4733453"/>
            <a:ext cx="2061300" cy="388800"/>
          </a:xfrm>
          <a:prstGeom prst="rect">
            <a:avLst/>
          </a:prstGeom>
          <a:noFill/>
          <a:ln>
            <a:noFill/>
          </a:ln>
        </p:spPr>
        <p:txBody>
          <a:bodyPr anchorCtr="0" anchor="t" bIns="39875" lIns="39875" spcFirstLastPara="1" rIns="39875" wrap="square" tIns="39875">
            <a:noAutofit/>
          </a:bodyPr>
          <a:lstStyle/>
          <a:p>
            <a:pPr indent="0" lvl="0" marL="0" marR="0" rtl="0" algn="ctr">
              <a:spcBef>
                <a:spcPts val="0"/>
              </a:spcBef>
              <a:spcAft>
                <a:spcPts val="0"/>
              </a:spcAft>
              <a:buClr>
                <a:srgbClr val="16324A"/>
              </a:buClr>
              <a:buSzPts val="2119"/>
              <a:buFont typeface="Inter"/>
              <a:buNone/>
            </a:pPr>
            <a:r>
              <a:rPr b="0" i="0" lang="en-US" sz="2119" u="none" cap="none" strike="noStrike">
                <a:solidFill>
                  <a:srgbClr val="16324A"/>
                </a:solidFill>
                <a:latin typeface="Inter"/>
                <a:ea typeface="Inter"/>
                <a:cs typeface="Inter"/>
                <a:sym typeface="Inter"/>
              </a:rPr>
              <a:t>Epics + stories</a:t>
            </a:r>
            <a:endParaRPr b="0" i="0" sz="2119" u="none" cap="none" strike="noStrike">
              <a:solidFill>
                <a:schemeClr val="dk1"/>
              </a:solidFill>
              <a:latin typeface="Calibri"/>
              <a:ea typeface="Calibri"/>
              <a:cs typeface="Calibri"/>
              <a:sym typeface="Calibri"/>
            </a:endParaRPr>
          </a:p>
        </p:txBody>
      </p:sp>
      <p:sp>
        <p:nvSpPr>
          <p:cNvPr id="453" name="Google Shape;453;p16"/>
          <p:cNvSpPr/>
          <p:nvPr/>
        </p:nvSpPr>
        <p:spPr>
          <a:xfrm>
            <a:off x="5068359" y="3357800"/>
            <a:ext cx="1196400" cy="1196400"/>
          </a:xfrm>
          <a:prstGeom prst="ellipse">
            <a:avLst/>
          </a:prstGeom>
          <a:solidFill>
            <a:srgbClr val="6BAED6"/>
          </a:solidFill>
          <a:ln>
            <a:noFill/>
          </a:ln>
        </p:spPr>
        <p:txBody>
          <a:bodyPr anchorCtr="0" anchor="ctr" bIns="143525" lIns="143525" spcFirstLastPara="1" rIns="143525" wrap="square" tIns="143525">
            <a:noAutofit/>
          </a:bodyPr>
          <a:lstStyle/>
          <a:p>
            <a:pPr indent="0" lvl="0" marL="0" rtl="0" algn="l">
              <a:spcBef>
                <a:spcPts val="0"/>
              </a:spcBef>
              <a:spcAft>
                <a:spcPts val="0"/>
              </a:spcAft>
              <a:buNone/>
            </a:pPr>
            <a:r>
              <a:t/>
            </a:r>
            <a:endParaRPr/>
          </a:p>
        </p:txBody>
      </p:sp>
      <p:sp>
        <p:nvSpPr>
          <p:cNvPr id="454" name="Google Shape;454;p16"/>
          <p:cNvSpPr/>
          <p:nvPr/>
        </p:nvSpPr>
        <p:spPr>
          <a:xfrm>
            <a:off x="5008548" y="3357800"/>
            <a:ext cx="1315800" cy="1256100"/>
          </a:xfrm>
          <a:prstGeom prst="rect">
            <a:avLst/>
          </a:prstGeom>
          <a:noFill/>
          <a:ln>
            <a:noFill/>
          </a:ln>
        </p:spPr>
        <p:txBody>
          <a:bodyPr anchorCtr="0" anchor="ctr" bIns="39875" lIns="39875" spcFirstLastPara="1" rIns="39875" wrap="square" tIns="39875">
            <a:noAutofit/>
          </a:bodyPr>
          <a:lstStyle/>
          <a:p>
            <a:pPr indent="0" lvl="0" marL="0" marR="0" rtl="0" algn="ctr">
              <a:spcBef>
                <a:spcPts val="0"/>
              </a:spcBef>
              <a:spcAft>
                <a:spcPts val="0"/>
              </a:spcAft>
              <a:buClr>
                <a:srgbClr val="FFFFFF"/>
              </a:buClr>
              <a:buSzPts val="1766"/>
              <a:buFont typeface="Poppins"/>
              <a:buNone/>
            </a:pPr>
            <a:r>
              <a:rPr b="1" i="0" lang="en-US" sz="1766" u="none" cap="none" strike="noStrike">
                <a:solidFill>
                  <a:srgbClr val="FFFFFF"/>
                </a:solidFill>
                <a:latin typeface="Poppins"/>
                <a:ea typeface="Poppins"/>
                <a:cs typeface="Poppins"/>
                <a:sym typeface="Poppins"/>
              </a:rPr>
              <a:t>Sprint Planning</a:t>
            </a:r>
            <a:endParaRPr b="0" i="0" sz="1766" u="none" cap="none" strike="noStrike">
              <a:solidFill>
                <a:schemeClr val="dk1"/>
              </a:solidFill>
              <a:latin typeface="Calibri"/>
              <a:ea typeface="Calibri"/>
              <a:cs typeface="Calibri"/>
              <a:sym typeface="Calibri"/>
            </a:endParaRPr>
          </a:p>
        </p:txBody>
      </p:sp>
      <p:sp>
        <p:nvSpPr>
          <p:cNvPr id="455" name="Google Shape;455;p16"/>
          <p:cNvSpPr/>
          <p:nvPr/>
        </p:nvSpPr>
        <p:spPr>
          <a:xfrm>
            <a:off x="4752013" y="4733453"/>
            <a:ext cx="1828800" cy="388800"/>
          </a:xfrm>
          <a:prstGeom prst="rect">
            <a:avLst/>
          </a:prstGeom>
          <a:noFill/>
          <a:ln>
            <a:noFill/>
          </a:ln>
        </p:spPr>
        <p:txBody>
          <a:bodyPr anchorCtr="0" anchor="t" bIns="39875" lIns="39875" spcFirstLastPara="1" rIns="39875" wrap="square" tIns="39875">
            <a:noAutofit/>
          </a:bodyPr>
          <a:lstStyle/>
          <a:p>
            <a:pPr indent="0" lvl="0" marL="0" marR="0" rtl="0" algn="ctr">
              <a:spcBef>
                <a:spcPts val="0"/>
              </a:spcBef>
              <a:spcAft>
                <a:spcPts val="0"/>
              </a:spcAft>
              <a:buClr>
                <a:srgbClr val="16324A"/>
              </a:buClr>
              <a:buSzPts val="2119"/>
              <a:buFont typeface="Inter"/>
              <a:buNone/>
            </a:pPr>
            <a:r>
              <a:rPr b="0" i="0" lang="en-US" sz="2119" u="none" cap="none" strike="noStrike">
                <a:solidFill>
                  <a:srgbClr val="16324A"/>
                </a:solidFill>
                <a:latin typeface="Inter"/>
                <a:ea typeface="Inter"/>
                <a:cs typeface="Inter"/>
                <a:sym typeface="Inter"/>
              </a:rPr>
              <a:t>1-week sprint</a:t>
            </a:r>
            <a:endParaRPr b="0" i="0" sz="2119" u="none" cap="none" strike="noStrike">
              <a:solidFill>
                <a:schemeClr val="dk1"/>
              </a:solidFill>
              <a:latin typeface="Calibri"/>
              <a:ea typeface="Calibri"/>
              <a:cs typeface="Calibri"/>
              <a:sym typeface="Calibri"/>
            </a:endParaRPr>
          </a:p>
        </p:txBody>
      </p:sp>
      <p:sp>
        <p:nvSpPr>
          <p:cNvPr id="456" name="Google Shape;456;p16"/>
          <p:cNvSpPr/>
          <p:nvPr/>
        </p:nvSpPr>
        <p:spPr>
          <a:xfrm>
            <a:off x="8229772" y="3213350"/>
            <a:ext cx="1545000" cy="1545000"/>
          </a:xfrm>
          <a:prstGeom prst="ellipse">
            <a:avLst/>
          </a:prstGeom>
          <a:solidFill>
            <a:srgbClr val="4292C6"/>
          </a:solidFill>
          <a:ln>
            <a:noFill/>
          </a:ln>
        </p:spPr>
        <p:txBody>
          <a:bodyPr anchorCtr="0" anchor="ctr" bIns="143525" lIns="143525" spcFirstLastPara="1" rIns="143525" wrap="square" tIns="143525">
            <a:noAutofit/>
          </a:bodyPr>
          <a:lstStyle/>
          <a:p>
            <a:pPr indent="0" lvl="0" marL="0" rtl="0" algn="l">
              <a:spcBef>
                <a:spcPts val="0"/>
              </a:spcBef>
              <a:spcAft>
                <a:spcPts val="0"/>
              </a:spcAft>
              <a:buNone/>
            </a:pPr>
            <a:r>
              <a:t/>
            </a:r>
            <a:endParaRPr/>
          </a:p>
        </p:txBody>
      </p:sp>
      <p:sp>
        <p:nvSpPr>
          <p:cNvPr id="457" name="Google Shape;457;p16"/>
          <p:cNvSpPr/>
          <p:nvPr/>
        </p:nvSpPr>
        <p:spPr>
          <a:xfrm>
            <a:off x="8357997" y="3357800"/>
            <a:ext cx="1315800" cy="1256100"/>
          </a:xfrm>
          <a:prstGeom prst="rect">
            <a:avLst/>
          </a:prstGeom>
          <a:noFill/>
          <a:ln>
            <a:noFill/>
          </a:ln>
        </p:spPr>
        <p:txBody>
          <a:bodyPr anchorCtr="0" anchor="ctr" bIns="39875" lIns="39875" spcFirstLastPara="1" rIns="39875" wrap="square" tIns="39875">
            <a:noAutofit/>
          </a:bodyPr>
          <a:lstStyle/>
          <a:p>
            <a:pPr indent="0" lvl="0" marL="0" marR="0" rtl="0" algn="ctr">
              <a:spcBef>
                <a:spcPts val="0"/>
              </a:spcBef>
              <a:spcAft>
                <a:spcPts val="0"/>
              </a:spcAft>
              <a:buClr>
                <a:srgbClr val="FFFFFF"/>
              </a:buClr>
              <a:buSzPts val="1648"/>
              <a:buFont typeface="Poppins"/>
              <a:buNone/>
            </a:pPr>
            <a:r>
              <a:rPr b="1" i="0" lang="en-US" sz="1648" u="none" cap="none" strike="noStrike">
                <a:solidFill>
                  <a:srgbClr val="FFFFFF"/>
                </a:solidFill>
                <a:latin typeface="Poppins"/>
                <a:ea typeface="Poppins"/>
                <a:cs typeface="Poppins"/>
                <a:sym typeface="Poppins"/>
              </a:rPr>
              <a:t>Build / Experiment</a:t>
            </a:r>
            <a:endParaRPr b="0" i="0" sz="1648" u="none" cap="none" strike="noStrike">
              <a:solidFill>
                <a:schemeClr val="dk1"/>
              </a:solidFill>
              <a:latin typeface="Calibri"/>
              <a:ea typeface="Calibri"/>
              <a:cs typeface="Calibri"/>
              <a:sym typeface="Calibri"/>
            </a:endParaRPr>
          </a:p>
        </p:txBody>
      </p:sp>
      <p:sp>
        <p:nvSpPr>
          <p:cNvPr id="458" name="Google Shape;458;p16"/>
          <p:cNvSpPr/>
          <p:nvPr/>
        </p:nvSpPr>
        <p:spPr>
          <a:xfrm>
            <a:off x="7755606" y="4813603"/>
            <a:ext cx="2520600" cy="388800"/>
          </a:xfrm>
          <a:prstGeom prst="rect">
            <a:avLst/>
          </a:prstGeom>
          <a:noFill/>
          <a:ln>
            <a:noFill/>
          </a:ln>
        </p:spPr>
        <p:txBody>
          <a:bodyPr anchorCtr="0" anchor="t" bIns="39875" lIns="39875" spcFirstLastPara="1" rIns="39875" wrap="square" tIns="39875">
            <a:noAutofit/>
          </a:bodyPr>
          <a:lstStyle/>
          <a:p>
            <a:pPr indent="0" lvl="0" marL="0" marR="0" rtl="0" algn="ctr">
              <a:spcBef>
                <a:spcPts val="0"/>
              </a:spcBef>
              <a:spcAft>
                <a:spcPts val="0"/>
              </a:spcAft>
              <a:buClr>
                <a:srgbClr val="16324A"/>
              </a:buClr>
              <a:buSzPts val="2119"/>
              <a:buFont typeface="Inter"/>
              <a:buNone/>
            </a:pPr>
            <a:r>
              <a:rPr b="0" i="0" lang="en-US" sz="2119" u="none" cap="none" strike="noStrike">
                <a:solidFill>
                  <a:srgbClr val="16324A"/>
                </a:solidFill>
                <a:latin typeface="Inter"/>
                <a:ea typeface="Inter"/>
                <a:cs typeface="Inter"/>
                <a:sym typeface="Inter"/>
              </a:rPr>
              <a:t>Daily coordination</a:t>
            </a:r>
            <a:endParaRPr b="0" i="0" sz="2119" u="none" cap="none" strike="noStrike">
              <a:solidFill>
                <a:schemeClr val="dk1"/>
              </a:solidFill>
              <a:latin typeface="Calibri"/>
              <a:ea typeface="Calibri"/>
              <a:cs typeface="Calibri"/>
              <a:sym typeface="Calibri"/>
            </a:endParaRPr>
          </a:p>
        </p:txBody>
      </p:sp>
      <p:sp>
        <p:nvSpPr>
          <p:cNvPr id="459" name="Google Shape;459;p16"/>
          <p:cNvSpPr/>
          <p:nvPr/>
        </p:nvSpPr>
        <p:spPr>
          <a:xfrm>
            <a:off x="11886858" y="3357800"/>
            <a:ext cx="1196400" cy="1196400"/>
          </a:xfrm>
          <a:prstGeom prst="ellipse">
            <a:avLst/>
          </a:prstGeom>
          <a:solidFill>
            <a:srgbClr val="2171B5"/>
          </a:solidFill>
          <a:ln>
            <a:noFill/>
          </a:ln>
        </p:spPr>
        <p:txBody>
          <a:bodyPr anchorCtr="0" anchor="ctr" bIns="143525" lIns="143525" spcFirstLastPara="1" rIns="143525" wrap="square" tIns="143525">
            <a:noAutofit/>
          </a:bodyPr>
          <a:lstStyle/>
          <a:p>
            <a:pPr indent="0" lvl="0" marL="0" rtl="0" algn="l">
              <a:spcBef>
                <a:spcPts val="0"/>
              </a:spcBef>
              <a:spcAft>
                <a:spcPts val="0"/>
              </a:spcAft>
              <a:buNone/>
            </a:pPr>
            <a:r>
              <a:t/>
            </a:r>
            <a:endParaRPr/>
          </a:p>
        </p:txBody>
      </p:sp>
      <p:sp>
        <p:nvSpPr>
          <p:cNvPr id="460" name="Google Shape;460;p16"/>
          <p:cNvSpPr/>
          <p:nvPr/>
        </p:nvSpPr>
        <p:spPr>
          <a:xfrm>
            <a:off x="11827047" y="3357800"/>
            <a:ext cx="1315800" cy="1256100"/>
          </a:xfrm>
          <a:prstGeom prst="rect">
            <a:avLst/>
          </a:prstGeom>
          <a:noFill/>
          <a:ln>
            <a:noFill/>
          </a:ln>
        </p:spPr>
        <p:txBody>
          <a:bodyPr anchorCtr="0" anchor="ctr" bIns="39875" lIns="39875" spcFirstLastPara="1" rIns="39875" wrap="square" tIns="39875">
            <a:noAutofit/>
          </a:bodyPr>
          <a:lstStyle/>
          <a:p>
            <a:pPr indent="0" lvl="0" marL="0" marR="0" rtl="0" algn="ctr">
              <a:spcBef>
                <a:spcPts val="0"/>
              </a:spcBef>
              <a:spcAft>
                <a:spcPts val="0"/>
              </a:spcAft>
              <a:buClr>
                <a:srgbClr val="FFFFFF"/>
              </a:buClr>
              <a:buSzPts val="1884"/>
              <a:buFont typeface="Poppins"/>
              <a:buNone/>
            </a:pPr>
            <a:r>
              <a:rPr b="1" i="0" lang="en-US" sz="1884" u="none" cap="none" strike="noStrike">
                <a:solidFill>
                  <a:srgbClr val="FFFFFF"/>
                </a:solidFill>
                <a:latin typeface="Poppins"/>
                <a:ea typeface="Poppins"/>
                <a:cs typeface="Poppins"/>
                <a:sym typeface="Poppins"/>
              </a:rPr>
              <a:t>Review</a:t>
            </a:r>
            <a:endParaRPr b="0" i="0" sz="1884" u="none" cap="none" strike="noStrike">
              <a:solidFill>
                <a:schemeClr val="dk1"/>
              </a:solidFill>
              <a:latin typeface="Calibri"/>
              <a:ea typeface="Calibri"/>
              <a:cs typeface="Calibri"/>
              <a:sym typeface="Calibri"/>
            </a:endParaRPr>
          </a:p>
        </p:txBody>
      </p:sp>
      <p:sp>
        <p:nvSpPr>
          <p:cNvPr id="461" name="Google Shape;461;p16"/>
          <p:cNvSpPr/>
          <p:nvPr/>
        </p:nvSpPr>
        <p:spPr>
          <a:xfrm>
            <a:off x="11423726" y="4733453"/>
            <a:ext cx="2122800" cy="388800"/>
          </a:xfrm>
          <a:prstGeom prst="rect">
            <a:avLst/>
          </a:prstGeom>
          <a:noFill/>
          <a:ln>
            <a:noFill/>
          </a:ln>
        </p:spPr>
        <p:txBody>
          <a:bodyPr anchorCtr="0" anchor="t" bIns="39875" lIns="39875" spcFirstLastPara="1" rIns="39875" wrap="square" tIns="39875">
            <a:noAutofit/>
          </a:bodyPr>
          <a:lstStyle/>
          <a:p>
            <a:pPr indent="0" lvl="0" marL="0" marR="0" rtl="0" algn="ctr">
              <a:spcBef>
                <a:spcPts val="0"/>
              </a:spcBef>
              <a:spcAft>
                <a:spcPts val="0"/>
              </a:spcAft>
              <a:buClr>
                <a:srgbClr val="16324A"/>
              </a:buClr>
              <a:buSzPts val="2119"/>
              <a:buFont typeface="Inter"/>
              <a:buNone/>
            </a:pPr>
            <a:r>
              <a:rPr b="0" i="0" lang="en-US" sz="2119" u="none" cap="none" strike="noStrike">
                <a:solidFill>
                  <a:srgbClr val="16324A"/>
                </a:solidFill>
                <a:latin typeface="Inter"/>
                <a:ea typeface="Inter"/>
                <a:cs typeface="Inter"/>
                <a:sym typeface="Inter"/>
              </a:rPr>
              <a:t>Demo + results</a:t>
            </a:r>
            <a:endParaRPr b="0" i="0" sz="2119" u="none" cap="none" strike="noStrike">
              <a:solidFill>
                <a:schemeClr val="dk1"/>
              </a:solidFill>
              <a:latin typeface="Calibri"/>
              <a:ea typeface="Calibri"/>
              <a:cs typeface="Calibri"/>
              <a:sym typeface="Calibri"/>
            </a:endParaRPr>
          </a:p>
        </p:txBody>
      </p:sp>
      <p:sp>
        <p:nvSpPr>
          <p:cNvPr id="462" name="Google Shape;462;p16"/>
          <p:cNvSpPr/>
          <p:nvPr/>
        </p:nvSpPr>
        <p:spPr>
          <a:xfrm>
            <a:off x="15296107" y="3357800"/>
            <a:ext cx="1196400" cy="1196400"/>
          </a:xfrm>
          <a:prstGeom prst="ellipse">
            <a:avLst/>
          </a:prstGeom>
          <a:solidFill>
            <a:srgbClr val="084594"/>
          </a:solidFill>
          <a:ln>
            <a:noFill/>
          </a:ln>
        </p:spPr>
        <p:txBody>
          <a:bodyPr anchorCtr="0" anchor="ctr" bIns="143525" lIns="143525" spcFirstLastPara="1" rIns="143525" wrap="square" tIns="143525">
            <a:noAutofit/>
          </a:bodyPr>
          <a:lstStyle/>
          <a:p>
            <a:pPr indent="0" lvl="0" marL="0" rtl="0" algn="l">
              <a:spcBef>
                <a:spcPts val="0"/>
              </a:spcBef>
              <a:spcAft>
                <a:spcPts val="0"/>
              </a:spcAft>
              <a:buNone/>
            </a:pPr>
            <a:r>
              <a:t/>
            </a:r>
            <a:endParaRPr/>
          </a:p>
        </p:txBody>
      </p:sp>
      <p:sp>
        <p:nvSpPr>
          <p:cNvPr id="463" name="Google Shape;463;p16"/>
          <p:cNvSpPr/>
          <p:nvPr/>
        </p:nvSpPr>
        <p:spPr>
          <a:xfrm>
            <a:off x="15236296" y="3357800"/>
            <a:ext cx="1315800" cy="1256100"/>
          </a:xfrm>
          <a:prstGeom prst="rect">
            <a:avLst/>
          </a:prstGeom>
          <a:noFill/>
          <a:ln>
            <a:noFill/>
          </a:ln>
        </p:spPr>
        <p:txBody>
          <a:bodyPr anchorCtr="0" anchor="ctr" bIns="39875" lIns="39875" spcFirstLastPara="1" rIns="39875" wrap="square" tIns="39875">
            <a:noAutofit/>
          </a:bodyPr>
          <a:lstStyle/>
          <a:p>
            <a:pPr indent="0" lvl="0" marL="0" marR="0" rtl="0" algn="ctr">
              <a:spcBef>
                <a:spcPts val="0"/>
              </a:spcBef>
              <a:spcAft>
                <a:spcPts val="0"/>
              </a:spcAft>
              <a:buClr>
                <a:srgbClr val="FFFFFF"/>
              </a:buClr>
              <a:buSzPts val="1884"/>
              <a:buFont typeface="Poppins"/>
              <a:buNone/>
            </a:pPr>
            <a:r>
              <a:rPr b="1" i="0" lang="en-US" sz="1884" u="none" cap="none" strike="noStrike">
                <a:solidFill>
                  <a:srgbClr val="FFFFFF"/>
                </a:solidFill>
                <a:latin typeface="Poppins"/>
                <a:ea typeface="Poppins"/>
                <a:cs typeface="Poppins"/>
                <a:sym typeface="Poppins"/>
              </a:rPr>
              <a:t>Retro</a:t>
            </a:r>
            <a:endParaRPr b="0" i="0" sz="1884" u="none" cap="none" strike="noStrike">
              <a:solidFill>
                <a:schemeClr val="dk1"/>
              </a:solidFill>
              <a:latin typeface="Calibri"/>
              <a:ea typeface="Calibri"/>
              <a:cs typeface="Calibri"/>
              <a:sym typeface="Calibri"/>
            </a:endParaRPr>
          </a:p>
        </p:txBody>
      </p:sp>
      <p:sp>
        <p:nvSpPr>
          <p:cNvPr id="464" name="Google Shape;464;p16"/>
          <p:cNvSpPr/>
          <p:nvPr/>
        </p:nvSpPr>
        <p:spPr>
          <a:xfrm>
            <a:off x="14726918" y="4733453"/>
            <a:ext cx="2334600" cy="388800"/>
          </a:xfrm>
          <a:prstGeom prst="rect">
            <a:avLst/>
          </a:prstGeom>
          <a:noFill/>
          <a:ln>
            <a:noFill/>
          </a:ln>
        </p:spPr>
        <p:txBody>
          <a:bodyPr anchorCtr="0" anchor="t" bIns="39875" lIns="39875" spcFirstLastPara="1" rIns="39875" wrap="square" tIns="39875">
            <a:noAutofit/>
          </a:bodyPr>
          <a:lstStyle/>
          <a:p>
            <a:pPr indent="0" lvl="0" marL="0" marR="0" rtl="0" algn="ctr">
              <a:spcBef>
                <a:spcPts val="0"/>
              </a:spcBef>
              <a:spcAft>
                <a:spcPts val="0"/>
              </a:spcAft>
              <a:buClr>
                <a:srgbClr val="16324A"/>
              </a:buClr>
              <a:buSzPts val="2119"/>
              <a:buFont typeface="Inter"/>
              <a:buNone/>
            </a:pPr>
            <a:r>
              <a:rPr b="0" i="0" lang="en-US" sz="2119" u="none" cap="none" strike="noStrike">
                <a:solidFill>
                  <a:srgbClr val="16324A"/>
                </a:solidFill>
                <a:latin typeface="Inter"/>
                <a:ea typeface="Inter"/>
                <a:cs typeface="Inter"/>
                <a:sym typeface="Inter"/>
              </a:rPr>
              <a:t>Improve process</a:t>
            </a:r>
            <a:endParaRPr b="0" i="0" sz="2119" u="none" cap="none" strike="noStrike">
              <a:solidFill>
                <a:schemeClr val="dk1"/>
              </a:solidFill>
              <a:latin typeface="Calibri"/>
              <a:ea typeface="Calibri"/>
              <a:cs typeface="Calibri"/>
              <a:sym typeface="Calibri"/>
            </a:endParaRPr>
          </a:p>
        </p:txBody>
      </p:sp>
      <p:sp>
        <p:nvSpPr>
          <p:cNvPr id="465" name="Google Shape;465;p16"/>
          <p:cNvSpPr/>
          <p:nvPr/>
        </p:nvSpPr>
        <p:spPr>
          <a:xfrm>
            <a:off x="1353066" y="6465999"/>
            <a:ext cx="2349900" cy="5361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2171B5"/>
              </a:buClr>
              <a:buSzPts val="2435"/>
              <a:buFont typeface="Poppins"/>
              <a:buNone/>
            </a:pPr>
            <a:r>
              <a:rPr b="1" lang="en-US" sz="2435">
                <a:solidFill>
                  <a:srgbClr val="2171B5"/>
                </a:solidFill>
                <a:latin typeface="Poppins"/>
                <a:ea typeface="Poppins"/>
                <a:cs typeface="Poppins"/>
                <a:sym typeface="Poppins"/>
              </a:rPr>
              <a:t>MAIN EPICS</a:t>
            </a:r>
            <a:endParaRPr b="0" i="0" sz="2435" u="none" cap="none" strike="noStrike">
              <a:solidFill>
                <a:schemeClr val="dk1"/>
              </a:solidFill>
              <a:latin typeface="Calibri"/>
              <a:ea typeface="Calibri"/>
              <a:cs typeface="Calibri"/>
              <a:sym typeface="Calibri"/>
            </a:endParaRPr>
          </a:p>
        </p:txBody>
      </p:sp>
      <p:sp>
        <p:nvSpPr>
          <p:cNvPr id="466" name="Google Shape;466;p16"/>
          <p:cNvSpPr/>
          <p:nvPr/>
        </p:nvSpPr>
        <p:spPr>
          <a:xfrm>
            <a:off x="1143000" y="7156528"/>
            <a:ext cx="34098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67" name="Google Shape;467;p16"/>
          <p:cNvSpPr/>
          <p:nvPr/>
        </p:nvSpPr>
        <p:spPr>
          <a:xfrm>
            <a:off x="1483150" y="7342063"/>
            <a:ext cx="28530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Research &amp; literature</a:t>
            </a:r>
            <a:endParaRPr b="0" i="0" sz="2191" u="none" cap="none" strike="noStrike">
              <a:solidFill>
                <a:schemeClr val="dk1"/>
              </a:solidFill>
              <a:latin typeface="Calibri"/>
              <a:ea typeface="Calibri"/>
              <a:cs typeface="Calibri"/>
              <a:sym typeface="Calibri"/>
            </a:endParaRPr>
          </a:p>
        </p:txBody>
      </p:sp>
      <p:sp>
        <p:nvSpPr>
          <p:cNvPr id="468" name="Google Shape;468;p16"/>
          <p:cNvSpPr/>
          <p:nvPr/>
        </p:nvSpPr>
        <p:spPr>
          <a:xfrm>
            <a:off x="4707328" y="7156528"/>
            <a:ext cx="29070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69" name="Google Shape;469;p16"/>
          <p:cNvSpPr/>
          <p:nvPr/>
        </p:nvSpPr>
        <p:spPr>
          <a:xfrm>
            <a:off x="5047478" y="7342063"/>
            <a:ext cx="23499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Data + validators</a:t>
            </a:r>
            <a:endParaRPr b="0" i="0" sz="2191" u="none" cap="none" strike="noStrike">
              <a:solidFill>
                <a:schemeClr val="dk1"/>
              </a:solidFill>
              <a:latin typeface="Calibri"/>
              <a:ea typeface="Calibri"/>
              <a:cs typeface="Calibri"/>
              <a:sym typeface="Calibri"/>
            </a:endParaRPr>
          </a:p>
        </p:txBody>
      </p:sp>
      <p:sp>
        <p:nvSpPr>
          <p:cNvPr id="470" name="Google Shape;470;p16"/>
          <p:cNvSpPr/>
          <p:nvPr/>
        </p:nvSpPr>
        <p:spPr>
          <a:xfrm>
            <a:off x="7768518" y="7156528"/>
            <a:ext cx="42900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71" name="Google Shape;471;p16"/>
          <p:cNvSpPr/>
          <p:nvPr/>
        </p:nvSpPr>
        <p:spPr>
          <a:xfrm>
            <a:off x="8108668" y="7342063"/>
            <a:ext cx="37380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Action-outcome generation</a:t>
            </a:r>
            <a:endParaRPr b="0" i="0" sz="2191" u="none" cap="none" strike="noStrike">
              <a:solidFill>
                <a:schemeClr val="dk1"/>
              </a:solidFill>
              <a:latin typeface="Calibri"/>
              <a:ea typeface="Calibri"/>
              <a:cs typeface="Calibri"/>
              <a:sym typeface="Calibri"/>
            </a:endParaRPr>
          </a:p>
        </p:txBody>
      </p:sp>
      <p:sp>
        <p:nvSpPr>
          <p:cNvPr id="472" name="Google Shape;472;p16"/>
          <p:cNvSpPr/>
          <p:nvPr/>
        </p:nvSpPr>
        <p:spPr>
          <a:xfrm>
            <a:off x="6926696" y="8022153"/>
            <a:ext cx="23016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73" name="Google Shape;473;p16"/>
          <p:cNvSpPr/>
          <p:nvPr/>
        </p:nvSpPr>
        <p:spPr>
          <a:xfrm>
            <a:off x="7266846" y="8207688"/>
            <a:ext cx="17454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ACRE model</a:t>
            </a:r>
            <a:endParaRPr b="0" i="0" sz="2191" u="none" cap="none" strike="noStrike">
              <a:solidFill>
                <a:schemeClr val="dk1"/>
              </a:solidFill>
              <a:latin typeface="Calibri"/>
              <a:ea typeface="Calibri"/>
              <a:cs typeface="Calibri"/>
              <a:sym typeface="Calibri"/>
            </a:endParaRPr>
          </a:p>
        </p:txBody>
      </p:sp>
      <p:sp>
        <p:nvSpPr>
          <p:cNvPr id="474" name="Google Shape;474;p16"/>
          <p:cNvSpPr/>
          <p:nvPr/>
        </p:nvSpPr>
        <p:spPr>
          <a:xfrm>
            <a:off x="1143000" y="8022360"/>
            <a:ext cx="20367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75" name="Google Shape;475;p16"/>
          <p:cNvSpPr/>
          <p:nvPr/>
        </p:nvSpPr>
        <p:spPr>
          <a:xfrm>
            <a:off x="1483150" y="8207895"/>
            <a:ext cx="14805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Evaluation</a:t>
            </a:r>
            <a:endParaRPr b="0" i="0" sz="2191" u="none" cap="none" strike="noStrike">
              <a:solidFill>
                <a:schemeClr val="dk1"/>
              </a:solidFill>
              <a:latin typeface="Calibri"/>
              <a:ea typeface="Calibri"/>
              <a:cs typeface="Calibri"/>
              <a:sym typeface="Calibri"/>
            </a:endParaRPr>
          </a:p>
        </p:txBody>
      </p:sp>
      <p:sp>
        <p:nvSpPr>
          <p:cNvPr id="476" name="Google Shape;476;p16"/>
          <p:cNvSpPr/>
          <p:nvPr/>
        </p:nvSpPr>
        <p:spPr>
          <a:xfrm>
            <a:off x="3334649" y="8022360"/>
            <a:ext cx="3437100" cy="711600"/>
          </a:xfrm>
          <a:prstGeom prst="roundRect">
            <a:avLst>
              <a:gd fmla="val 50000" name="adj"/>
            </a:avLst>
          </a:prstGeom>
          <a:solidFill>
            <a:srgbClr val="FFFFFF"/>
          </a:solidFill>
          <a:ln>
            <a:noFill/>
          </a:ln>
        </p:spPr>
        <p:txBody>
          <a:bodyPr anchorCtr="0" anchor="ctr" bIns="148425" lIns="148425" spcFirstLastPara="1" rIns="148425" wrap="square" tIns="148425">
            <a:noAutofit/>
          </a:bodyPr>
          <a:lstStyle/>
          <a:p>
            <a:pPr indent="0" lvl="0" marL="0" rtl="0" algn="l">
              <a:spcBef>
                <a:spcPts val="0"/>
              </a:spcBef>
              <a:spcAft>
                <a:spcPts val="0"/>
              </a:spcAft>
              <a:buNone/>
            </a:pPr>
            <a:r>
              <a:t/>
            </a:r>
            <a:endParaRPr/>
          </a:p>
        </p:txBody>
      </p:sp>
      <p:sp>
        <p:nvSpPr>
          <p:cNvPr id="477" name="Google Shape;477;p16"/>
          <p:cNvSpPr/>
          <p:nvPr/>
        </p:nvSpPr>
        <p:spPr>
          <a:xfrm>
            <a:off x="3674799" y="8207895"/>
            <a:ext cx="2880600" cy="4023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16324A"/>
              </a:buClr>
              <a:buSzPts val="2191"/>
              <a:buFont typeface="Inter"/>
              <a:buNone/>
            </a:pPr>
            <a:r>
              <a:rPr b="0" i="0" lang="en-US" sz="2191" u="none" cap="none" strike="noStrike">
                <a:solidFill>
                  <a:srgbClr val="16324A"/>
                </a:solidFill>
                <a:latin typeface="Inter"/>
                <a:ea typeface="Inter"/>
                <a:cs typeface="Inter"/>
                <a:sym typeface="Inter"/>
              </a:rPr>
              <a:t>Paper + presentation</a:t>
            </a:r>
            <a:endParaRPr b="0" i="0" sz="2191" u="none" cap="none" strike="noStrike">
              <a:solidFill>
                <a:schemeClr val="dk1"/>
              </a:solidFill>
              <a:latin typeface="Calibri"/>
              <a:ea typeface="Calibri"/>
              <a:cs typeface="Calibri"/>
              <a:sym typeface="Calibri"/>
            </a:endParaRPr>
          </a:p>
        </p:txBody>
      </p:sp>
      <p:sp>
        <p:nvSpPr>
          <p:cNvPr id="478" name="Google Shape;478;p16"/>
          <p:cNvSpPr/>
          <p:nvPr/>
        </p:nvSpPr>
        <p:spPr>
          <a:xfrm>
            <a:off x="1143000" y="9556750"/>
            <a:ext cx="5783700" cy="23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275"/>
              <a:buFont typeface="Inter"/>
              <a:buNone/>
            </a:pPr>
            <a:r>
              <a:rPr b="0" i="0" lang="en-US" sz="1275" u="none" cap="none" strike="noStrike">
                <a:solidFill>
                  <a:srgbClr val="4A6785"/>
                </a:solidFill>
                <a:latin typeface="Inter"/>
                <a:ea typeface="Inter"/>
                <a:cs typeface="Inter"/>
                <a:sym typeface="Inter"/>
              </a:rPr>
              <a:t>Sources: Schwaber &amp; Sutherland, The Scrum Guide (2020)</a:t>
            </a:r>
            <a:endParaRPr b="0" i="0" sz="1275" u="none" cap="none" strike="noStrike">
              <a:solidFill>
                <a:schemeClr val="dk1"/>
              </a:solidFill>
              <a:latin typeface="Calibri"/>
              <a:ea typeface="Calibri"/>
              <a:cs typeface="Calibri"/>
              <a:sym typeface="Calibri"/>
            </a:endParaRPr>
          </a:p>
        </p:txBody>
      </p:sp>
      <p:pic>
        <p:nvPicPr>
          <p:cNvPr id="479" name="Google Shape;479;p16"/>
          <p:cNvPicPr preferRelativeResize="0"/>
          <p:nvPr/>
        </p:nvPicPr>
        <p:blipFill>
          <a:blip r:embed="rId3">
            <a:alphaModFix/>
          </a:blip>
          <a:stretch>
            <a:fillRect/>
          </a:stretch>
        </p:blipFill>
        <p:spPr>
          <a:xfrm>
            <a:off x="14514274" y="256251"/>
            <a:ext cx="3489799" cy="614350"/>
          </a:xfrm>
          <a:prstGeom prst="rect">
            <a:avLst/>
          </a:prstGeom>
          <a:noFill/>
          <a:ln>
            <a:noFill/>
          </a:ln>
        </p:spPr>
      </p:pic>
      <p:cxnSp>
        <p:nvCxnSpPr>
          <p:cNvPr id="480" name="Google Shape;480;p16"/>
          <p:cNvCxnSpPr/>
          <p:nvPr/>
        </p:nvCxnSpPr>
        <p:spPr>
          <a:xfrm>
            <a:off x="3179700" y="4048125"/>
            <a:ext cx="1333500" cy="0"/>
          </a:xfrm>
          <a:prstGeom prst="straightConnector1">
            <a:avLst/>
          </a:prstGeom>
          <a:noFill/>
          <a:ln cap="flat" cmpd="sng" w="28575">
            <a:solidFill>
              <a:schemeClr val="dk1"/>
            </a:solidFill>
            <a:prstDash val="solid"/>
            <a:round/>
            <a:headEnd len="med" w="med" type="none"/>
            <a:tailEnd len="med" w="med" type="triangle"/>
          </a:ln>
        </p:spPr>
      </p:cxnSp>
      <p:cxnSp>
        <p:nvCxnSpPr>
          <p:cNvPr id="481" name="Google Shape;481;p16"/>
          <p:cNvCxnSpPr/>
          <p:nvPr/>
        </p:nvCxnSpPr>
        <p:spPr>
          <a:xfrm>
            <a:off x="6555400" y="4017575"/>
            <a:ext cx="1333500" cy="0"/>
          </a:xfrm>
          <a:prstGeom prst="straightConnector1">
            <a:avLst/>
          </a:prstGeom>
          <a:noFill/>
          <a:ln cap="flat" cmpd="sng" w="28575">
            <a:solidFill>
              <a:schemeClr val="dk1"/>
            </a:solidFill>
            <a:prstDash val="solid"/>
            <a:round/>
            <a:headEnd len="med" w="med" type="none"/>
            <a:tailEnd len="med" w="med" type="triangle"/>
          </a:ln>
        </p:spPr>
      </p:cxnSp>
      <p:cxnSp>
        <p:nvCxnSpPr>
          <p:cNvPr id="482" name="Google Shape;482;p16"/>
          <p:cNvCxnSpPr/>
          <p:nvPr/>
        </p:nvCxnSpPr>
        <p:spPr>
          <a:xfrm>
            <a:off x="10083675" y="4029575"/>
            <a:ext cx="1333500" cy="0"/>
          </a:xfrm>
          <a:prstGeom prst="straightConnector1">
            <a:avLst/>
          </a:prstGeom>
          <a:noFill/>
          <a:ln cap="flat" cmpd="sng" w="28575">
            <a:solidFill>
              <a:schemeClr val="dk1"/>
            </a:solidFill>
            <a:prstDash val="solid"/>
            <a:round/>
            <a:headEnd len="med" w="med" type="none"/>
            <a:tailEnd len="med" w="med" type="triangle"/>
          </a:ln>
        </p:spPr>
      </p:cxnSp>
      <p:cxnSp>
        <p:nvCxnSpPr>
          <p:cNvPr id="483" name="Google Shape;483;p16"/>
          <p:cNvCxnSpPr/>
          <p:nvPr/>
        </p:nvCxnSpPr>
        <p:spPr>
          <a:xfrm>
            <a:off x="13493025" y="3967650"/>
            <a:ext cx="1333500" cy="0"/>
          </a:xfrm>
          <a:prstGeom prst="straightConnector1">
            <a:avLst/>
          </a:prstGeom>
          <a:noFill/>
          <a:ln cap="flat" cmpd="sng" w="28575">
            <a:solidFill>
              <a:schemeClr val="dk1"/>
            </a:solidFill>
            <a:prstDash val="solid"/>
            <a:round/>
            <a:headEnd len="med" w="med" type="none"/>
            <a:tailEnd len="med" w="med" type="triangle"/>
          </a:ln>
        </p:spPr>
      </p:cxnSp>
      <p:sp>
        <p:nvSpPr>
          <p:cNvPr id="484" name="Google Shape;484;p16"/>
          <p:cNvSpPr/>
          <p:nvPr/>
        </p:nvSpPr>
        <p:spPr>
          <a:xfrm>
            <a:off x="13083241" y="6465999"/>
            <a:ext cx="2349900" cy="536100"/>
          </a:xfrm>
          <a:prstGeom prst="rect">
            <a:avLst/>
          </a:prstGeom>
          <a:noFill/>
          <a:ln>
            <a:noFill/>
          </a:ln>
        </p:spPr>
        <p:txBody>
          <a:bodyPr anchorCtr="0" anchor="t" bIns="41225" lIns="41225" spcFirstLastPara="1" rIns="41225" wrap="square" tIns="41225">
            <a:noAutofit/>
          </a:bodyPr>
          <a:lstStyle/>
          <a:p>
            <a:pPr indent="0" lvl="0" marL="0" marR="0" rtl="0" algn="l">
              <a:spcBef>
                <a:spcPts val="0"/>
              </a:spcBef>
              <a:spcAft>
                <a:spcPts val="0"/>
              </a:spcAft>
              <a:buClr>
                <a:srgbClr val="2171B5"/>
              </a:buClr>
              <a:buSzPts val="2435"/>
              <a:buFont typeface="Poppins"/>
              <a:buNone/>
            </a:pPr>
            <a:r>
              <a:rPr b="1" lang="en-US" sz="2435">
                <a:solidFill>
                  <a:srgbClr val="2171B5"/>
                </a:solidFill>
                <a:latin typeface="Poppins"/>
                <a:ea typeface="Poppins"/>
                <a:cs typeface="Poppins"/>
                <a:sym typeface="Poppins"/>
              </a:rPr>
              <a:t>SCRUM ROLES</a:t>
            </a:r>
            <a:endParaRPr b="0" i="0" sz="2435" u="none" cap="none" strike="noStrike">
              <a:solidFill>
                <a:schemeClr val="dk1"/>
              </a:solidFill>
              <a:latin typeface="Calibri"/>
              <a:ea typeface="Calibri"/>
              <a:cs typeface="Calibri"/>
              <a:sym typeface="Calibri"/>
            </a:endParaRPr>
          </a:p>
        </p:txBody>
      </p:sp>
      <p:sp>
        <p:nvSpPr>
          <p:cNvPr id="485" name="Google Shape;485;p16"/>
          <p:cNvSpPr txBox="1"/>
          <p:nvPr/>
        </p:nvSpPr>
        <p:spPr>
          <a:xfrm>
            <a:off x="13191350" y="7101100"/>
            <a:ext cx="47157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latin typeface="Inter"/>
                <a:ea typeface="Inter"/>
                <a:cs typeface="Inter"/>
                <a:sym typeface="Inter"/>
              </a:rPr>
              <a:t>Product Owner</a:t>
            </a:r>
            <a:r>
              <a:rPr lang="en-US" sz="2000">
                <a:latin typeface="Inter"/>
                <a:ea typeface="Inter"/>
                <a:cs typeface="Inter"/>
                <a:sym typeface="Inter"/>
              </a:rPr>
              <a:t> - Sayuru</a:t>
            </a:r>
            <a:endParaRPr sz="2000">
              <a:latin typeface="Inter"/>
              <a:ea typeface="Inter"/>
              <a:cs typeface="Inter"/>
              <a:sym typeface="Inter"/>
            </a:endParaRPr>
          </a:p>
          <a:p>
            <a:pPr indent="0" lvl="0" marL="0" rtl="0" algn="l">
              <a:spcBef>
                <a:spcPts val="0"/>
              </a:spcBef>
              <a:spcAft>
                <a:spcPts val="0"/>
              </a:spcAft>
              <a:buNone/>
            </a:pPr>
            <a:r>
              <a:rPr b="1" lang="en-US" sz="2000">
                <a:latin typeface="Inter"/>
                <a:ea typeface="Inter"/>
                <a:cs typeface="Inter"/>
                <a:sym typeface="Inter"/>
              </a:rPr>
              <a:t>Scrum Master</a:t>
            </a:r>
            <a:r>
              <a:rPr lang="en-US" sz="2000">
                <a:latin typeface="Inter"/>
                <a:ea typeface="Inter"/>
                <a:cs typeface="Inter"/>
                <a:sym typeface="Inter"/>
              </a:rPr>
              <a:t> - Rotates </a:t>
            </a:r>
            <a:r>
              <a:rPr lang="en-US" sz="2000">
                <a:latin typeface="Inter"/>
                <a:ea typeface="Inter"/>
                <a:cs typeface="Inter"/>
                <a:sym typeface="Inter"/>
              </a:rPr>
              <a:t>among</a:t>
            </a:r>
            <a:r>
              <a:rPr lang="en-US" sz="2000">
                <a:latin typeface="Inter"/>
                <a:ea typeface="Inter"/>
                <a:cs typeface="Inter"/>
                <a:sym typeface="Inter"/>
              </a:rPr>
              <a:t> members every 3 sprints</a:t>
            </a:r>
            <a:endParaRPr sz="2000">
              <a:latin typeface="Inter"/>
              <a:ea typeface="Inter"/>
              <a:cs typeface="Inter"/>
              <a:sym typeface="Inter"/>
            </a:endParaRPr>
          </a:p>
          <a:p>
            <a:pPr indent="0" lvl="0" marL="0" rtl="0" algn="l">
              <a:spcBef>
                <a:spcPts val="0"/>
              </a:spcBef>
              <a:spcAft>
                <a:spcPts val="0"/>
              </a:spcAft>
              <a:buNone/>
            </a:pPr>
            <a:r>
              <a:rPr b="1" lang="en-US" sz="2000">
                <a:latin typeface="Inter"/>
                <a:ea typeface="Inter"/>
                <a:cs typeface="Inter"/>
                <a:sym typeface="Inter"/>
              </a:rPr>
              <a:t>Researchers</a:t>
            </a:r>
            <a:r>
              <a:rPr lang="en-US" sz="2000">
                <a:latin typeface="Inter"/>
                <a:ea typeface="Inter"/>
                <a:cs typeface="Inter"/>
                <a:sym typeface="Inter"/>
              </a:rPr>
              <a:t> - Lithma, Sulakna, Sayuru</a:t>
            </a:r>
            <a:endParaRPr sz="2000">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17"/>
          <p:cNvSpPr/>
          <p:nvPr/>
        </p:nvSpPr>
        <p:spPr>
          <a:xfrm>
            <a:off x="1143000" y="969483"/>
            <a:ext cx="17602200" cy="75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750"/>
              <a:buFont typeface="Poppins"/>
              <a:buNone/>
            </a:pPr>
            <a:r>
              <a:rPr b="1" i="0" lang="en-US" sz="3750" u="none" cap="none" strike="noStrike">
                <a:solidFill>
                  <a:srgbClr val="084594"/>
                </a:solidFill>
                <a:latin typeface="Poppins"/>
                <a:ea typeface="Poppins"/>
                <a:cs typeface="Poppins"/>
                <a:sym typeface="Poppins"/>
              </a:rPr>
              <a:t>Stakeholders &amp; Team Management</a:t>
            </a:r>
            <a:endParaRPr b="0" i="0" sz="3750" u="none" cap="none" strike="noStrike">
              <a:solidFill>
                <a:schemeClr val="dk1"/>
              </a:solidFill>
              <a:latin typeface="Calibri"/>
              <a:ea typeface="Calibri"/>
              <a:cs typeface="Calibri"/>
              <a:sym typeface="Calibri"/>
            </a:endParaRPr>
          </a:p>
        </p:txBody>
      </p:sp>
      <p:sp>
        <p:nvSpPr>
          <p:cNvPr id="492" name="Google Shape;492;p17"/>
          <p:cNvSpPr/>
          <p:nvPr/>
        </p:nvSpPr>
        <p:spPr>
          <a:xfrm>
            <a:off x="2536200" y="1909762"/>
            <a:ext cx="13215600" cy="2535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2171B5"/>
              </a:buClr>
              <a:buSzPts val="1307"/>
              <a:buFont typeface="Poppins"/>
              <a:buNone/>
            </a:pPr>
            <a:r>
              <a:rPr b="1" i="0" lang="en-US" sz="1830" u="none" cap="none" strike="noStrike">
                <a:solidFill>
                  <a:srgbClr val="2171B5"/>
                </a:solidFill>
                <a:latin typeface="Poppins"/>
                <a:ea typeface="Poppins"/>
                <a:cs typeface="Poppins"/>
                <a:sym typeface="Poppins"/>
              </a:rPr>
              <a:t>STAKEHOLDER MAP</a:t>
            </a:r>
            <a:endParaRPr b="0" i="0" sz="1830" u="none" cap="none" strike="noStrike">
              <a:solidFill>
                <a:schemeClr val="dk1"/>
              </a:solidFill>
              <a:latin typeface="Calibri"/>
              <a:ea typeface="Calibri"/>
              <a:cs typeface="Calibri"/>
              <a:sym typeface="Calibri"/>
            </a:endParaRPr>
          </a:p>
        </p:txBody>
      </p:sp>
      <p:sp>
        <p:nvSpPr>
          <p:cNvPr id="493" name="Google Shape;493;p17"/>
          <p:cNvSpPr/>
          <p:nvPr/>
        </p:nvSpPr>
        <p:spPr>
          <a:xfrm>
            <a:off x="2536200" y="2236256"/>
            <a:ext cx="5890200" cy="1403400"/>
          </a:xfrm>
          <a:prstGeom prst="roundRect">
            <a:avLst>
              <a:gd fmla="val 8333" name="adj"/>
            </a:avLst>
          </a:prstGeom>
          <a:solidFill>
            <a:srgbClr val="084594"/>
          </a:solidFill>
          <a:ln>
            <a:noFill/>
          </a:ln>
        </p:spPr>
        <p:txBody>
          <a:bodyPr anchorCtr="0" anchor="ctr" bIns="79675" lIns="79675" spcFirstLastPara="1" rIns="79675" wrap="square" tIns="79675">
            <a:noAutofit/>
          </a:bodyPr>
          <a:lstStyle/>
          <a:p>
            <a:pPr indent="0" lvl="0" marL="0" rtl="0" algn="l">
              <a:spcBef>
                <a:spcPts val="0"/>
              </a:spcBef>
              <a:spcAft>
                <a:spcPts val="0"/>
              </a:spcAft>
              <a:buNone/>
            </a:pPr>
            <a:r>
              <a:t/>
            </a:r>
            <a:endParaRPr sz="2092"/>
          </a:p>
        </p:txBody>
      </p:sp>
      <p:sp>
        <p:nvSpPr>
          <p:cNvPr id="494" name="Google Shape;494;p17"/>
          <p:cNvSpPr/>
          <p:nvPr/>
        </p:nvSpPr>
        <p:spPr>
          <a:xfrm>
            <a:off x="2829231" y="2745491"/>
            <a:ext cx="5834400" cy="1950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9ECAE1"/>
              </a:buClr>
              <a:buSzPts val="981"/>
              <a:buFont typeface="Poppins"/>
              <a:buNone/>
            </a:pPr>
            <a:r>
              <a:rPr b="1" i="0" lang="en-US" sz="1852" u="none" cap="none" strike="noStrike">
                <a:solidFill>
                  <a:srgbClr val="9ECAE1"/>
                </a:solidFill>
                <a:latin typeface="Poppins"/>
                <a:ea typeface="Poppins"/>
                <a:cs typeface="Poppins"/>
                <a:sym typeface="Poppins"/>
              </a:rPr>
              <a:t>MANAGE CLOSELY</a:t>
            </a:r>
            <a:endParaRPr b="0" i="0" sz="1852" u="none" cap="none" strike="noStrike">
              <a:solidFill>
                <a:schemeClr val="dk1"/>
              </a:solidFill>
              <a:latin typeface="Calibri"/>
              <a:ea typeface="Calibri"/>
              <a:cs typeface="Calibri"/>
              <a:sym typeface="Calibri"/>
            </a:endParaRPr>
          </a:p>
        </p:txBody>
      </p:sp>
      <p:sp>
        <p:nvSpPr>
          <p:cNvPr id="495" name="Google Shape;495;p17"/>
          <p:cNvSpPr/>
          <p:nvPr/>
        </p:nvSpPr>
        <p:spPr>
          <a:xfrm>
            <a:off x="2829231" y="2969651"/>
            <a:ext cx="5834400" cy="1902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FFFFFF"/>
              </a:buClr>
              <a:buSzPts val="1177"/>
              <a:buFont typeface="Inter"/>
              <a:buNone/>
            </a:pPr>
            <a:r>
              <a:rPr b="0" i="0" lang="en-US" sz="2048" u="none" cap="none" strike="noStrike">
                <a:solidFill>
                  <a:srgbClr val="FFFFFF"/>
                </a:solidFill>
                <a:latin typeface="Inter"/>
                <a:ea typeface="Inter"/>
                <a:cs typeface="Inter"/>
                <a:sym typeface="Inter"/>
              </a:rPr>
              <a:t>Supervisor • 3-person research team</a:t>
            </a:r>
            <a:endParaRPr b="0" i="0" sz="2048" u="none" cap="none" strike="noStrike">
              <a:solidFill>
                <a:schemeClr val="dk1"/>
              </a:solidFill>
              <a:latin typeface="Calibri"/>
              <a:ea typeface="Calibri"/>
              <a:cs typeface="Calibri"/>
              <a:sym typeface="Calibri"/>
            </a:endParaRPr>
          </a:p>
        </p:txBody>
      </p:sp>
      <p:sp>
        <p:nvSpPr>
          <p:cNvPr id="496" name="Google Shape;496;p17"/>
          <p:cNvSpPr/>
          <p:nvPr/>
        </p:nvSpPr>
        <p:spPr>
          <a:xfrm>
            <a:off x="8660551" y="2236256"/>
            <a:ext cx="5890200" cy="1403400"/>
          </a:xfrm>
          <a:prstGeom prst="roundRect">
            <a:avLst>
              <a:gd fmla="val 8333" name="adj"/>
            </a:avLst>
          </a:prstGeom>
          <a:solidFill>
            <a:srgbClr val="4292C6"/>
          </a:solidFill>
          <a:ln>
            <a:noFill/>
          </a:ln>
        </p:spPr>
        <p:txBody>
          <a:bodyPr anchorCtr="0" anchor="ctr" bIns="79675" lIns="79675" spcFirstLastPara="1" rIns="79675" wrap="square" tIns="79675">
            <a:noAutofit/>
          </a:bodyPr>
          <a:lstStyle/>
          <a:p>
            <a:pPr indent="0" lvl="0" marL="0" rtl="0" algn="l">
              <a:spcBef>
                <a:spcPts val="0"/>
              </a:spcBef>
              <a:spcAft>
                <a:spcPts val="0"/>
              </a:spcAft>
              <a:buNone/>
            </a:pPr>
            <a:r>
              <a:t/>
            </a:r>
            <a:endParaRPr sz="2092"/>
          </a:p>
        </p:txBody>
      </p:sp>
      <p:sp>
        <p:nvSpPr>
          <p:cNvPr id="497" name="Google Shape;497;p17"/>
          <p:cNvSpPr/>
          <p:nvPr/>
        </p:nvSpPr>
        <p:spPr>
          <a:xfrm>
            <a:off x="8953582" y="2745491"/>
            <a:ext cx="5834400" cy="1950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DEEBF7"/>
              </a:buClr>
              <a:buSzPts val="981"/>
              <a:buFont typeface="Poppins"/>
              <a:buNone/>
            </a:pPr>
            <a:r>
              <a:rPr b="1" i="0" lang="en-US" sz="1852" u="none" cap="none" strike="noStrike">
                <a:solidFill>
                  <a:srgbClr val="DEEBF7"/>
                </a:solidFill>
                <a:latin typeface="Poppins"/>
                <a:ea typeface="Poppins"/>
                <a:cs typeface="Poppins"/>
                <a:sym typeface="Poppins"/>
              </a:rPr>
              <a:t>KEEP SATISFIED</a:t>
            </a:r>
            <a:endParaRPr b="0" i="0" sz="1852" u="none" cap="none" strike="noStrike">
              <a:solidFill>
                <a:schemeClr val="dk1"/>
              </a:solidFill>
              <a:latin typeface="Calibri"/>
              <a:ea typeface="Calibri"/>
              <a:cs typeface="Calibri"/>
              <a:sym typeface="Calibri"/>
            </a:endParaRPr>
          </a:p>
        </p:txBody>
      </p:sp>
      <p:sp>
        <p:nvSpPr>
          <p:cNvPr id="498" name="Google Shape;498;p17"/>
          <p:cNvSpPr/>
          <p:nvPr/>
        </p:nvSpPr>
        <p:spPr>
          <a:xfrm>
            <a:off x="8953582" y="2969651"/>
            <a:ext cx="5834400" cy="1902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FFFFFF"/>
              </a:buClr>
              <a:buSzPts val="1177"/>
              <a:buFont typeface="Inter"/>
              <a:buNone/>
            </a:pPr>
            <a:r>
              <a:rPr b="0" i="0" lang="en-US" sz="2048" u="none" cap="none" strike="noStrike">
                <a:solidFill>
                  <a:srgbClr val="FFFFFF"/>
                </a:solidFill>
                <a:latin typeface="Inter"/>
                <a:ea typeface="Inter"/>
                <a:cs typeface="Inter"/>
                <a:sym typeface="Inter"/>
              </a:rPr>
              <a:t>Module lecturer / examiner</a:t>
            </a:r>
            <a:endParaRPr b="0" i="0" sz="2048" u="none" cap="none" strike="noStrike">
              <a:solidFill>
                <a:schemeClr val="dk1"/>
              </a:solidFill>
              <a:latin typeface="Calibri"/>
              <a:ea typeface="Calibri"/>
              <a:cs typeface="Calibri"/>
              <a:sym typeface="Calibri"/>
            </a:endParaRPr>
          </a:p>
        </p:txBody>
      </p:sp>
      <p:sp>
        <p:nvSpPr>
          <p:cNvPr id="499" name="Google Shape;499;p17"/>
          <p:cNvSpPr/>
          <p:nvPr/>
        </p:nvSpPr>
        <p:spPr>
          <a:xfrm>
            <a:off x="2536200" y="3756650"/>
            <a:ext cx="5890200" cy="1403400"/>
          </a:xfrm>
          <a:prstGeom prst="roundRect">
            <a:avLst>
              <a:gd fmla="val 8333" name="adj"/>
            </a:avLst>
          </a:prstGeom>
          <a:solidFill>
            <a:srgbClr val="6BAED6"/>
          </a:solidFill>
          <a:ln>
            <a:noFill/>
          </a:ln>
        </p:spPr>
        <p:txBody>
          <a:bodyPr anchorCtr="0" anchor="ctr" bIns="79675" lIns="79675" spcFirstLastPara="1" rIns="79675" wrap="square" tIns="79675">
            <a:noAutofit/>
          </a:bodyPr>
          <a:lstStyle/>
          <a:p>
            <a:pPr indent="0" lvl="0" marL="0" rtl="0" algn="l">
              <a:spcBef>
                <a:spcPts val="0"/>
              </a:spcBef>
              <a:spcAft>
                <a:spcPts val="0"/>
              </a:spcAft>
              <a:buNone/>
            </a:pPr>
            <a:r>
              <a:t/>
            </a:r>
            <a:endParaRPr sz="2092"/>
          </a:p>
        </p:txBody>
      </p:sp>
      <p:sp>
        <p:nvSpPr>
          <p:cNvPr id="500" name="Google Shape;500;p17"/>
          <p:cNvSpPr/>
          <p:nvPr/>
        </p:nvSpPr>
        <p:spPr>
          <a:xfrm>
            <a:off x="2829231" y="4261011"/>
            <a:ext cx="5834400" cy="1950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084594"/>
              </a:buClr>
              <a:buSzPts val="981"/>
              <a:buFont typeface="Poppins"/>
              <a:buNone/>
            </a:pPr>
            <a:r>
              <a:rPr b="1" i="0" lang="en-US" sz="1852" u="none" cap="none" strike="noStrike">
                <a:solidFill>
                  <a:srgbClr val="084594"/>
                </a:solidFill>
                <a:latin typeface="Poppins"/>
                <a:ea typeface="Poppins"/>
                <a:cs typeface="Poppins"/>
                <a:sym typeface="Poppins"/>
              </a:rPr>
              <a:t>KEEP INFORMED</a:t>
            </a:r>
            <a:endParaRPr b="0" i="0" sz="1852" u="none" cap="none" strike="noStrike">
              <a:solidFill>
                <a:schemeClr val="dk1"/>
              </a:solidFill>
              <a:latin typeface="Calibri"/>
              <a:ea typeface="Calibri"/>
              <a:cs typeface="Calibri"/>
              <a:sym typeface="Calibri"/>
            </a:endParaRPr>
          </a:p>
        </p:txBody>
      </p:sp>
      <p:sp>
        <p:nvSpPr>
          <p:cNvPr id="501" name="Google Shape;501;p17"/>
          <p:cNvSpPr/>
          <p:nvPr/>
        </p:nvSpPr>
        <p:spPr>
          <a:xfrm>
            <a:off x="2829231" y="4485172"/>
            <a:ext cx="5834400" cy="1998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16324A"/>
              </a:buClr>
              <a:buSzPts val="1242"/>
              <a:buFont typeface="Inter"/>
              <a:buNone/>
            </a:pPr>
            <a:r>
              <a:rPr b="0" i="0" lang="en-US" sz="2114" u="none" cap="none" strike="noStrike">
                <a:solidFill>
                  <a:srgbClr val="16324A"/>
                </a:solidFill>
                <a:latin typeface="Inter"/>
                <a:ea typeface="Inter"/>
                <a:cs typeface="Inter"/>
                <a:sym typeface="Inter"/>
              </a:rPr>
              <a:t>Research peers / future users</a:t>
            </a:r>
            <a:endParaRPr b="0" i="0" sz="2114" u="none" cap="none" strike="noStrike">
              <a:solidFill>
                <a:schemeClr val="dk1"/>
              </a:solidFill>
              <a:latin typeface="Calibri"/>
              <a:ea typeface="Calibri"/>
              <a:cs typeface="Calibri"/>
              <a:sym typeface="Calibri"/>
            </a:endParaRPr>
          </a:p>
        </p:txBody>
      </p:sp>
      <p:sp>
        <p:nvSpPr>
          <p:cNvPr id="502" name="Google Shape;502;p17"/>
          <p:cNvSpPr/>
          <p:nvPr/>
        </p:nvSpPr>
        <p:spPr>
          <a:xfrm>
            <a:off x="8660551" y="3756650"/>
            <a:ext cx="5890200" cy="1403400"/>
          </a:xfrm>
          <a:prstGeom prst="roundRect">
            <a:avLst>
              <a:gd fmla="val 8333" name="adj"/>
            </a:avLst>
          </a:prstGeom>
          <a:solidFill>
            <a:srgbClr val="C6DBEF"/>
          </a:solidFill>
          <a:ln>
            <a:noFill/>
          </a:ln>
        </p:spPr>
        <p:txBody>
          <a:bodyPr anchorCtr="0" anchor="ctr" bIns="79675" lIns="79675" spcFirstLastPara="1" rIns="79675" wrap="square" tIns="79675">
            <a:noAutofit/>
          </a:bodyPr>
          <a:lstStyle/>
          <a:p>
            <a:pPr indent="0" lvl="0" marL="0" rtl="0" algn="l">
              <a:spcBef>
                <a:spcPts val="0"/>
              </a:spcBef>
              <a:spcAft>
                <a:spcPts val="0"/>
              </a:spcAft>
              <a:buNone/>
            </a:pPr>
            <a:r>
              <a:t/>
            </a:r>
            <a:endParaRPr sz="2092"/>
          </a:p>
        </p:txBody>
      </p:sp>
      <p:sp>
        <p:nvSpPr>
          <p:cNvPr id="503" name="Google Shape;503;p17"/>
          <p:cNvSpPr/>
          <p:nvPr/>
        </p:nvSpPr>
        <p:spPr>
          <a:xfrm>
            <a:off x="8953582" y="4261011"/>
            <a:ext cx="5834400" cy="1950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2171B5"/>
              </a:buClr>
              <a:buSzPts val="981"/>
              <a:buFont typeface="Poppins"/>
              <a:buNone/>
            </a:pPr>
            <a:r>
              <a:rPr b="1" i="0" lang="en-US" sz="1852" u="none" cap="none" strike="noStrike">
                <a:solidFill>
                  <a:srgbClr val="2171B5"/>
                </a:solidFill>
                <a:latin typeface="Poppins"/>
                <a:ea typeface="Poppins"/>
                <a:cs typeface="Poppins"/>
                <a:sym typeface="Poppins"/>
              </a:rPr>
              <a:t>MONITOR</a:t>
            </a:r>
            <a:endParaRPr b="0" i="0" sz="1852" u="none" cap="none" strike="noStrike">
              <a:solidFill>
                <a:schemeClr val="dk1"/>
              </a:solidFill>
              <a:latin typeface="Calibri"/>
              <a:ea typeface="Calibri"/>
              <a:cs typeface="Calibri"/>
              <a:sym typeface="Calibri"/>
            </a:endParaRPr>
          </a:p>
        </p:txBody>
      </p:sp>
      <p:sp>
        <p:nvSpPr>
          <p:cNvPr id="504" name="Google Shape;504;p17"/>
          <p:cNvSpPr/>
          <p:nvPr/>
        </p:nvSpPr>
        <p:spPr>
          <a:xfrm>
            <a:off x="8953582" y="4485172"/>
            <a:ext cx="5834400" cy="199800"/>
          </a:xfrm>
          <a:prstGeom prst="rect">
            <a:avLst/>
          </a:prstGeom>
          <a:noFill/>
          <a:ln>
            <a:noFill/>
          </a:ln>
        </p:spPr>
        <p:txBody>
          <a:bodyPr anchorCtr="0" anchor="t" bIns="22150" lIns="22150" spcFirstLastPara="1" rIns="22150" wrap="square" tIns="22150">
            <a:noAutofit/>
          </a:bodyPr>
          <a:lstStyle/>
          <a:p>
            <a:pPr indent="0" lvl="0" marL="0" marR="0" rtl="0" algn="l">
              <a:spcBef>
                <a:spcPts val="0"/>
              </a:spcBef>
              <a:spcAft>
                <a:spcPts val="0"/>
              </a:spcAft>
              <a:buClr>
                <a:srgbClr val="16324A"/>
              </a:buClr>
              <a:buSzPts val="1242"/>
              <a:buFont typeface="Inter"/>
              <a:buNone/>
            </a:pPr>
            <a:r>
              <a:rPr b="0" i="0" lang="en-US" sz="2114" u="none" cap="none" strike="noStrike">
                <a:solidFill>
                  <a:srgbClr val="16324A"/>
                </a:solidFill>
                <a:latin typeface="Inter"/>
                <a:ea typeface="Inter"/>
                <a:cs typeface="Inter"/>
                <a:sym typeface="Inter"/>
              </a:rPr>
              <a:t>External model / API providers</a:t>
            </a:r>
            <a:endParaRPr b="0" i="0" sz="2114" u="none" cap="none" strike="noStrike">
              <a:solidFill>
                <a:schemeClr val="dk1"/>
              </a:solidFill>
              <a:latin typeface="Calibri"/>
              <a:ea typeface="Calibri"/>
              <a:cs typeface="Calibri"/>
              <a:sym typeface="Calibri"/>
            </a:endParaRPr>
          </a:p>
        </p:txBody>
      </p:sp>
      <p:sp>
        <p:nvSpPr>
          <p:cNvPr id="505" name="Google Shape;505;p17"/>
          <p:cNvSpPr/>
          <p:nvPr/>
        </p:nvSpPr>
        <p:spPr>
          <a:xfrm>
            <a:off x="10393397" y="6318244"/>
            <a:ext cx="4447800" cy="2547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2171B5"/>
              </a:buClr>
              <a:buSzPts val="1156"/>
              <a:buFont typeface="Poppins"/>
              <a:buNone/>
            </a:pPr>
            <a:r>
              <a:rPr b="1" i="0" lang="en-US" sz="1819" u="none" cap="none" strike="noStrike">
                <a:solidFill>
                  <a:srgbClr val="2171B5"/>
                </a:solidFill>
                <a:latin typeface="Poppins"/>
                <a:ea typeface="Poppins"/>
                <a:cs typeface="Poppins"/>
                <a:sym typeface="Poppins"/>
              </a:rPr>
              <a:t>THREE-PERSON WORK ALLOCATION</a:t>
            </a:r>
            <a:endParaRPr b="0" i="0" sz="1819" u="none" cap="none" strike="noStrike">
              <a:solidFill>
                <a:schemeClr val="dk1"/>
              </a:solidFill>
              <a:latin typeface="Calibri"/>
              <a:ea typeface="Calibri"/>
              <a:cs typeface="Calibri"/>
              <a:sym typeface="Calibri"/>
            </a:endParaRPr>
          </a:p>
        </p:txBody>
      </p:sp>
      <p:sp>
        <p:nvSpPr>
          <p:cNvPr id="506" name="Google Shape;506;p17"/>
          <p:cNvSpPr/>
          <p:nvPr/>
        </p:nvSpPr>
        <p:spPr>
          <a:xfrm>
            <a:off x="10459849" y="6823475"/>
            <a:ext cx="7178100" cy="426000"/>
          </a:xfrm>
          <a:prstGeom prst="roundRect">
            <a:avLst>
              <a:gd fmla="val 24138" name="adj"/>
            </a:avLst>
          </a:prstGeom>
          <a:solidFill>
            <a:srgbClr val="F7FBFF"/>
          </a:solidFill>
          <a:ln>
            <a:noFill/>
          </a:ln>
        </p:spPr>
        <p:txBody>
          <a:bodyPr anchorCtr="0" anchor="ctr" bIns="70500" lIns="70500" spcFirstLastPara="1" rIns="70500" wrap="square" tIns="70500">
            <a:noAutofit/>
          </a:bodyPr>
          <a:lstStyle/>
          <a:p>
            <a:pPr indent="0" lvl="0" marL="0" rtl="0" algn="l">
              <a:spcBef>
                <a:spcPts val="0"/>
              </a:spcBef>
              <a:spcAft>
                <a:spcPts val="0"/>
              </a:spcAft>
              <a:buNone/>
            </a:pPr>
            <a:r>
              <a:t/>
            </a:r>
            <a:endParaRPr sz="1542"/>
          </a:p>
        </p:txBody>
      </p:sp>
      <p:sp>
        <p:nvSpPr>
          <p:cNvPr id="507" name="Google Shape;507;p17"/>
          <p:cNvSpPr/>
          <p:nvPr/>
        </p:nvSpPr>
        <p:spPr>
          <a:xfrm>
            <a:off x="10671638" y="6940968"/>
            <a:ext cx="13554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084594"/>
              </a:buClr>
              <a:buSzPts val="983"/>
              <a:buFont typeface="Poppins"/>
              <a:buNone/>
            </a:pPr>
            <a:r>
              <a:rPr b="1" i="0" lang="en-US" sz="1446" u="none" cap="none" strike="noStrike">
                <a:solidFill>
                  <a:srgbClr val="084594"/>
                </a:solidFill>
                <a:latin typeface="Poppins"/>
                <a:ea typeface="Poppins"/>
                <a:cs typeface="Poppins"/>
                <a:sym typeface="Poppins"/>
              </a:rPr>
              <a:t>Researcher A</a:t>
            </a:r>
            <a:endParaRPr b="0" i="0" sz="1446" u="none" cap="none" strike="noStrike">
              <a:solidFill>
                <a:schemeClr val="dk1"/>
              </a:solidFill>
              <a:latin typeface="Calibri"/>
              <a:ea typeface="Calibri"/>
              <a:cs typeface="Calibri"/>
              <a:sym typeface="Calibri"/>
            </a:endParaRPr>
          </a:p>
        </p:txBody>
      </p:sp>
      <p:sp>
        <p:nvSpPr>
          <p:cNvPr id="508" name="Google Shape;508;p17"/>
          <p:cNvSpPr/>
          <p:nvPr/>
        </p:nvSpPr>
        <p:spPr>
          <a:xfrm>
            <a:off x="12111835" y="6940968"/>
            <a:ext cx="49404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16324A"/>
              </a:buClr>
              <a:buSzPts val="983"/>
              <a:buFont typeface="Inter"/>
              <a:buNone/>
            </a:pPr>
            <a:r>
              <a:rPr b="0" i="0" lang="en-US" sz="1446" u="none" cap="none" strike="noStrike">
                <a:solidFill>
                  <a:srgbClr val="16324A"/>
                </a:solidFill>
                <a:latin typeface="Inter"/>
                <a:ea typeface="Inter"/>
                <a:cs typeface="Inter"/>
                <a:sym typeface="Inter"/>
              </a:rPr>
              <a:t>Datasets, SLM inference, action-outcome generation</a:t>
            </a:r>
            <a:endParaRPr b="0" i="0" sz="1446" u="none" cap="none" strike="noStrike">
              <a:solidFill>
                <a:schemeClr val="dk1"/>
              </a:solidFill>
              <a:latin typeface="Calibri"/>
              <a:ea typeface="Calibri"/>
              <a:cs typeface="Calibri"/>
              <a:sym typeface="Calibri"/>
            </a:endParaRPr>
          </a:p>
        </p:txBody>
      </p:sp>
      <p:sp>
        <p:nvSpPr>
          <p:cNvPr id="509" name="Google Shape;509;p17"/>
          <p:cNvSpPr/>
          <p:nvPr/>
        </p:nvSpPr>
        <p:spPr>
          <a:xfrm>
            <a:off x="10459849" y="7337533"/>
            <a:ext cx="7178100" cy="426000"/>
          </a:xfrm>
          <a:prstGeom prst="roundRect">
            <a:avLst>
              <a:gd fmla="val 24138" name="adj"/>
            </a:avLst>
          </a:prstGeom>
          <a:solidFill>
            <a:srgbClr val="F7FBFF"/>
          </a:solidFill>
          <a:ln>
            <a:noFill/>
          </a:ln>
        </p:spPr>
        <p:txBody>
          <a:bodyPr anchorCtr="0" anchor="ctr" bIns="70500" lIns="70500" spcFirstLastPara="1" rIns="70500" wrap="square" tIns="70500">
            <a:noAutofit/>
          </a:bodyPr>
          <a:lstStyle/>
          <a:p>
            <a:pPr indent="0" lvl="0" marL="0" rtl="0" algn="l">
              <a:spcBef>
                <a:spcPts val="0"/>
              </a:spcBef>
              <a:spcAft>
                <a:spcPts val="0"/>
              </a:spcAft>
              <a:buNone/>
            </a:pPr>
            <a:r>
              <a:t/>
            </a:r>
            <a:endParaRPr sz="1542"/>
          </a:p>
        </p:txBody>
      </p:sp>
      <p:sp>
        <p:nvSpPr>
          <p:cNvPr id="510" name="Google Shape;510;p17"/>
          <p:cNvSpPr/>
          <p:nvPr/>
        </p:nvSpPr>
        <p:spPr>
          <a:xfrm>
            <a:off x="10671638" y="7455026"/>
            <a:ext cx="13554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084594"/>
              </a:buClr>
              <a:buSzPts val="983"/>
              <a:buFont typeface="Poppins"/>
              <a:buNone/>
            </a:pPr>
            <a:r>
              <a:rPr b="1" i="0" lang="en-US" sz="1446" u="none" cap="none" strike="noStrike">
                <a:solidFill>
                  <a:srgbClr val="084594"/>
                </a:solidFill>
                <a:latin typeface="Poppins"/>
                <a:ea typeface="Poppins"/>
                <a:cs typeface="Poppins"/>
                <a:sym typeface="Poppins"/>
              </a:rPr>
              <a:t>Researcher B</a:t>
            </a:r>
            <a:endParaRPr b="0" i="0" sz="1446" u="none" cap="none" strike="noStrike">
              <a:solidFill>
                <a:schemeClr val="dk1"/>
              </a:solidFill>
              <a:latin typeface="Calibri"/>
              <a:ea typeface="Calibri"/>
              <a:cs typeface="Calibri"/>
              <a:sym typeface="Calibri"/>
            </a:endParaRPr>
          </a:p>
        </p:txBody>
      </p:sp>
      <p:sp>
        <p:nvSpPr>
          <p:cNvPr id="511" name="Google Shape;511;p17"/>
          <p:cNvSpPr/>
          <p:nvPr/>
        </p:nvSpPr>
        <p:spPr>
          <a:xfrm>
            <a:off x="12111835" y="7455026"/>
            <a:ext cx="40170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16324A"/>
              </a:buClr>
              <a:buSzPts val="983"/>
              <a:buFont typeface="Inter"/>
              <a:buNone/>
            </a:pPr>
            <a:r>
              <a:rPr b="0" i="0" lang="en-US" sz="1446" u="none" cap="none" strike="noStrike">
                <a:solidFill>
                  <a:srgbClr val="16324A"/>
                </a:solidFill>
                <a:latin typeface="Inter"/>
                <a:ea typeface="Inter"/>
                <a:cs typeface="Inter"/>
                <a:sym typeface="Inter"/>
              </a:rPr>
              <a:t>Validators, uncertainty features, calibration</a:t>
            </a:r>
            <a:endParaRPr b="0" i="0" sz="1446" u="none" cap="none" strike="noStrike">
              <a:solidFill>
                <a:schemeClr val="dk1"/>
              </a:solidFill>
              <a:latin typeface="Calibri"/>
              <a:ea typeface="Calibri"/>
              <a:cs typeface="Calibri"/>
              <a:sym typeface="Calibri"/>
            </a:endParaRPr>
          </a:p>
        </p:txBody>
      </p:sp>
      <p:sp>
        <p:nvSpPr>
          <p:cNvPr id="512" name="Google Shape;512;p17"/>
          <p:cNvSpPr/>
          <p:nvPr/>
        </p:nvSpPr>
        <p:spPr>
          <a:xfrm>
            <a:off x="10459849" y="7851592"/>
            <a:ext cx="7178100" cy="426000"/>
          </a:xfrm>
          <a:prstGeom prst="roundRect">
            <a:avLst>
              <a:gd fmla="val 24138" name="adj"/>
            </a:avLst>
          </a:prstGeom>
          <a:solidFill>
            <a:srgbClr val="F7FBFF"/>
          </a:solidFill>
          <a:ln>
            <a:noFill/>
          </a:ln>
        </p:spPr>
        <p:txBody>
          <a:bodyPr anchorCtr="0" anchor="ctr" bIns="70500" lIns="70500" spcFirstLastPara="1" rIns="70500" wrap="square" tIns="70500">
            <a:noAutofit/>
          </a:bodyPr>
          <a:lstStyle/>
          <a:p>
            <a:pPr indent="0" lvl="0" marL="0" rtl="0" algn="l">
              <a:spcBef>
                <a:spcPts val="0"/>
              </a:spcBef>
              <a:spcAft>
                <a:spcPts val="0"/>
              </a:spcAft>
              <a:buNone/>
            </a:pPr>
            <a:r>
              <a:t/>
            </a:r>
            <a:endParaRPr sz="1542"/>
          </a:p>
        </p:txBody>
      </p:sp>
      <p:sp>
        <p:nvSpPr>
          <p:cNvPr id="513" name="Google Shape;513;p17"/>
          <p:cNvSpPr/>
          <p:nvPr/>
        </p:nvSpPr>
        <p:spPr>
          <a:xfrm>
            <a:off x="10671638" y="7969085"/>
            <a:ext cx="13554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084594"/>
              </a:buClr>
              <a:buSzPts val="983"/>
              <a:buFont typeface="Poppins"/>
              <a:buNone/>
            </a:pPr>
            <a:r>
              <a:rPr b="1" i="0" lang="en-US" sz="1446" u="none" cap="none" strike="noStrike">
                <a:solidFill>
                  <a:srgbClr val="084594"/>
                </a:solidFill>
                <a:latin typeface="Poppins"/>
                <a:ea typeface="Poppins"/>
                <a:cs typeface="Poppins"/>
                <a:sym typeface="Poppins"/>
              </a:rPr>
              <a:t>Researcher C</a:t>
            </a:r>
            <a:endParaRPr b="0" i="0" sz="1446" u="none" cap="none" strike="noStrike">
              <a:solidFill>
                <a:schemeClr val="dk1"/>
              </a:solidFill>
              <a:latin typeface="Calibri"/>
              <a:ea typeface="Calibri"/>
              <a:cs typeface="Calibri"/>
              <a:sym typeface="Calibri"/>
            </a:endParaRPr>
          </a:p>
        </p:txBody>
      </p:sp>
      <p:sp>
        <p:nvSpPr>
          <p:cNvPr id="514" name="Google Shape;514;p17"/>
          <p:cNvSpPr/>
          <p:nvPr/>
        </p:nvSpPr>
        <p:spPr>
          <a:xfrm>
            <a:off x="12111835" y="7969085"/>
            <a:ext cx="50130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16324A"/>
              </a:buClr>
              <a:buSzPts val="983"/>
              <a:buFont typeface="Inter"/>
              <a:buNone/>
            </a:pPr>
            <a:r>
              <a:rPr b="0" i="0" lang="en-US" sz="1446" u="none" cap="none" strike="noStrike">
                <a:solidFill>
                  <a:srgbClr val="16324A"/>
                </a:solidFill>
                <a:latin typeface="Inter"/>
                <a:ea typeface="Inter"/>
                <a:cs typeface="Inter"/>
                <a:sym typeface="Inter"/>
              </a:rPr>
              <a:t>ACRE model, routing evaluation, experiment reporting</a:t>
            </a:r>
            <a:endParaRPr b="0" i="0" sz="1446" u="none" cap="none" strike="noStrike">
              <a:solidFill>
                <a:schemeClr val="dk1"/>
              </a:solidFill>
              <a:latin typeface="Calibri"/>
              <a:ea typeface="Calibri"/>
              <a:cs typeface="Calibri"/>
              <a:sym typeface="Calibri"/>
            </a:endParaRPr>
          </a:p>
        </p:txBody>
      </p:sp>
      <p:sp>
        <p:nvSpPr>
          <p:cNvPr id="515" name="Google Shape;515;p17"/>
          <p:cNvSpPr/>
          <p:nvPr/>
        </p:nvSpPr>
        <p:spPr>
          <a:xfrm>
            <a:off x="10459849" y="8365650"/>
            <a:ext cx="7178100" cy="426000"/>
          </a:xfrm>
          <a:prstGeom prst="roundRect">
            <a:avLst>
              <a:gd fmla="val 24138" name="adj"/>
            </a:avLst>
          </a:prstGeom>
          <a:solidFill>
            <a:srgbClr val="DEEBF7"/>
          </a:solidFill>
          <a:ln>
            <a:noFill/>
          </a:ln>
        </p:spPr>
        <p:txBody>
          <a:bodyPr anchorCtr="0" anchor="ctr" bIns="70500" lIns="70500" spcFirstLastPara="1" rIns="70500" wrap="square" tIns="70500">
            <a:noAutofit/>
          </a:bodyPr>
          <a:lstStyle/>
          <a:p>
            <a:pPr indent="0" lvl="0" marL="0" rtl="0" algn="l">
              <a:spcBef>
                <a:spcPts val="0"/>
              </a:spcBef>
              <a:spcAft>
                <a:spcPts val="0"/>
              </a:spcAft>
              <a:buNone/>
            </a:pPr>
            <a:r>
              <a:t/>
            </a:r>
            <a:endParaRPr sz="1542"/>
          </a:p>
        </p:txBody>
      </p:sp>
      <p:sp>
        <p:nvSpPr>
          <p:cNvPr id="516" name="Google Shape;516;p17"/>
          <p:cNvSpPr/>
          <p:nvPr/>
        </p:nvSpPr>
        <p:spPr>
          <a:xfrm>
            <a:off x="10671638" y="8483144"/>
            <a:ext cx="13554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084594"/>
              </a:buClr>
              <a:buSzPts val="983"/>
              <a:buFont typeface="Poppins"/>
              <a:buNone/>
            </a:pPr>
            <a:r>
              <a:rPr b="1" i="0" lang="en-US" sz="1446" u="none" cap="none" strike="noStrike">
                <a:solidFill>
                  <a:srgbClr val="084594"/>
                </a:solidFill>
                <a:latin typeface="Poppins"/>
                <a:ea typeface="Poppins"/>
                <a:cs typeface="Poppins"/>
                <a:sym typeface="Poppins"/>
              </a:rPr>
              <a:t>All members</a:t>
            </a:r>
            <a:endParaRPr b="0" i="0" sz="1446" u="none" cap="none" strike="noStrike">
              <a:solidFill>
                <a:schemeClr val="dk1"/>
              </a:solidFill>
              <a:latin typeface="Calibri"/>
              <a:ea typeface="Calibri"/>
              <a:cs typeface="Calibri"/>
              <a:sym typeface="Calibri"/>
            </a:endParaRPr>
          </a:p>
        </p:txBody>
      </p:sp>
      <p:sp>
        <p:nvSpPr>
          <p:cNvPr id="517" name="Google Shape;517;p17"/>
          <p:cNvSpPr/>
          <p:nvPr/>
        </p:nvSpPr>
        <p:spPr>
          <a:xfrm>
            <a:off x="12111835" y="8483144"/>
            <a:ext cx="5526000" cy="220500"/>
          </a:xfrm>
          <a:prstGeom prst="rect">
            <a:avLst/>
          </a:prstGeom>
          <a:noFill/>
          <a:ln>
            <a:noFill/>
          </a:ln>
        </p:spPr>
        <p:txBody>
          <a:bodyPr anchorCtr="0" anchor="t" bIns="19600" lIns="19600" spcFirstLastPara="1" rIns="19600" wrap="square" tIns="19600">
            <a:noAutofit/>
          </a:bodyPr>
          <a:lstStyle/>
          <a:p>
            <a:pPr indent="0" lvl="0" marL="0" marR="0" rtl="0" algn="l">
              <a:spcBef>
                <a:spcPts val="0"/>
              </a:spcBef>
              <a:spcAft>
                <a:spcPts val="0"/>
              </a:spcAft>
              <a:buClr>
                <a:srgbClr val="16324A"/>
              </a:buClr>
              <a:buSzPts val="983"/>
              <a:buFont typeface="Inter"/>
              <a:buNone/>
            </a:pPr>
            <a:r>
              <a:rPr b="0" i="0" lang="en-US" sz="1446" u="none" cap="none" strike="noStrike">
                <a:solidFill>
                  <a:srgbClr val="16324A"/>
                </a:solidFill>
                <a:latin typeface="Inter"/>
                <a:ea typeface="Inter"/>
                <a:cs typeface="Inter"/>
                <a:sym typeface="Inter"/>
              </a:rPr>
              <a:t>Literature review, sprint review, paper writing, final analysis</a:t>
            </a:r>
            <a:endParaRPr b="0" i="0" sz="1446" u="none" cap="none" strike="noStrike">
              <a:solidFill>
                <a:schemeClr val="dk1"/>
              </a:solidFill>
              <a:latin typeface="Calibri"/>
              <a:ea typeface="Calibri"/>
              <a:cs typeface="Calibri"/>
              <a:sym typeface="Calibri"/>
            </a:endParaRPr>
          </a:p>
        </p:txBody>
      </p:sp>
      <p:pic>
        <p:nvPicPr>
          <p:cNvPr id="518" name="Google Shape;518;p17"/>
          <p:cNvPicPr preferRelativeResize="0"/>
          <p:nvPr/>
        </p:nvPicPr>
        <p:blipFill>
          <a:blip r:embed="rId3">
            <a:alphaModFix/>
          </a:blip>
          <a:stretch>
            <a:fillRect/>
          </a:stretch>
        </p:blipFill>
        <p:spPr>
          <a:xfrm>
            <a:off x="14514274" y="256251"/>
            <a:ext cx="3489799" cy="614350"/>
          </a:xfrm>
          <a:prstGeom prst="rect">
            <a:avLst/>
          </a:prstGeom>
          <a:noFill/>
          <a:ln>
            <a:noFill/>
          </a:ln>
        </p:spPr>
      </p:pic>
      <p:sp>
        <p:nvSpPr>
          <p:cNvPr id="519" name="Google Shape;519;p17"/>
          <p:cNvSpPr/>
          <p:nvPr/>
        </p:nvSpPr>
        <p:spPr>
          <a:xfrm>
            <a:off x="1026375" y="5559450"/>
            <a:ext cx="2938800" cy="567300"/>
          </a:xfrm>
          <a:prstGeom prst="rect">
            <a:avLst/>
          </a:prstGeom>
          <a:noFill/>
          <a:ln>
            <a:noFill/>
          </a:ln>
        </p:spPr>
        <p:txBody>
          <a:bodyPr anchorCtr="0" anchor="t" bIns="43625" lIns="43625" spcFirstLastPara="1" rIns="43625" wrap="square" tIns="43625">
            <a:noAutofit/>
          </a:bodyPr>
          <a:lstStyle/>
          <a:p>
            <a:pPr indent="0" lvl="0" marL="0" rtl="0" algn="l">
              <a:spcBef>
                <a:spcPts val="0"/>
              </a:spcBef>
              <a:spcAft>
                <a:spcPts val="0"/>
              </a:spcAft>
              <a:buClr>
                <a:srgbClr val="2171B5"/>
              </a:buClr>
              <a:buSzPts val="1587"/>
              <a:buFont typeface="Poppins"/>
              <a:buNone/>
            </a:pPr>
            <a:r>
              <a:rPr b="1" lang="en-US" sz="2622">
                <a:solidFill>
                  <a:srgbClr val="2171B5"/>
                </a:solidFill>
                <a:latin typeface="Poppins"/>
                <a:ea typeface="Poppins"/>
                <a:cs typeface="Poppins"/>
                <a:sym typeface="Poppins"/>
              </a:rPr>
              <a:t>STAKEHOLDERS</a:t>
            </a:r>
            <a:endParaRPr b="0" i="0" sz="2977" u="none" cap="none" strike="noStrike">
              <a:solidFill>
                <a:schemeClr val="dk1"/>
              </a:solidFill>
              <a:latin typeface="Calibri"/>
              <a:ea typeface="Calibri"/>
              <a:cs typeface="Calibri"/>
              <a:sym typeface="Calibri"/>
            </a:endParaRPr>
          </a:p>
        </p:txBody>
      </p:sp>
      <p:sp>
        <p:nvSpPr>
          <p:cNvPr id="520" name="Google Shape;520;p17"/>
          <p:cNvSpPr txBox="1"/>
          <p:nvPr/>
        </p:nvSpPr>
        <p:spPr>
          <a:xfrm>
            <a:off x="1143002" y="6121017"/>
            <a:ext cx="8714400" cy="3610800"/>
          </a:xfrm>
          <a:prstGeom prst="rect">
            <a:avLst/>
          </a:prstGeom>
          <a:noFill/>
          <a:ln>
            <a:noFill/>
          </a:ln>
        </p:spPr>
        <p:txBody>
          <a:bodyPr anchorCtr="0" anchor="t" bIns="96750" lIns="96750" spcFirstLastPara="1" rIns="96750" wrap="square" tIns="96750">
            <a:spAutoFit/>
          </a:bodyPr>
          <a:lstStyle/>
          <a:p>
            <a:pPr indent="0" lvl="0" marL="0" rtl="0" algn="l">
              <a:lnSpc>
                <a:spcPct val="115000"/>
              </a:lnSpc>
              <a:spcBef>
                <a:spcPts val="1270"/>
              </a:spcBef>
              <a:spcAft>
                <a:spcPts val="0"/>
              </a:spcAft>
              <a:buClr>
                <a:schemeClr val="dk1"/>
              </a:buClr>
              <a:buSzPts val="1100"/>
              <a:buFont typeface="Arial"/>
              <a:buNone/>
            </a:pPr>
            <a:r>
              <a:rPr b="1" lang="en-US" sz="1864">
                <a:solidFill>
                  <a:schemeClr val="dk2"/>
                </a:solidFill>
              </a:rPr>
              <a:t>Internal Stakeholders</a:t>
            </a:r>
            <a:r>
              <a:rPr lang="en-US" sz="1864">
                <a:solidFill>
                  <a:schemeClr val="dk2"/>
                </a:solidFill>
              </a:rPr>
              <a:t> </a:t>
            </a:r>
            <a:endParaRPr sz="1864">
              <a:solidFill>
                <a:schemeClr val="dk2"/>
              </a:solidFill>
            </a:endParaRPr>
          </a:p>
          <a:p>
            <a:pPr indent="-360290" lvl="0" marL="483841" rtl="0" algn="l">
              <a:lnSpc>
                <a:spcPct val="115000"/>
              </a:lnSpc>
              <a:spcBef>
                <a:spcPts val="1270"/>
              </a:spcBef>
              <a:spcAft>
                <a:spcPts val="0"/>
              </a:spcAft>
              <a:buClr>
                <a:schemeClr val="dk2"/>
              </a:buClr>
              <a:buSzPts val="1864"/>
              <a:buChar char="●"/>
            </a:pPr>
            <a:r>
              <a:rPr lang="en-US" sz="1864">
                <a:solidFill>
                  <a:schemeClr val="dk2"/>
                </a:solidFill>
              </a:rPr>
              <a:t>The 3-person </a:t>
            </a:r>
            <a:r>
              <a:rPr b="1" lang="en-US" sz="1864">
                <a:solidFill>
                  <a:schemeClr val="dk2"/>
                </a:solidFill>
              </a:rPr>
              <a:t>research team</a:t>
            </a:r>
            <a:r>
              <a:rPr lang="en-US" sz="1864">
                <a:solidFill>
                  <a:schemeClr val="dk2"/>
                </a:solidFill>
              </a:rPr>
              <a:t> (Lithma, Sulakna, Sayuru)</a:t>
            </a:r>
            <a:endParaRPr sz="1864">
              <a:solidFill>
                <a:schemeClr val="dk2"/>
              </a:solidFill>
            </a:endParaRPr>
          </a:p>
          <a:p>
            <a:pPr indent="-360290" lvl="0" marL="483841" rtl="0" algn="l">
              <a:lnSpc>
                <a:spcPct val="115000"/>
              </a:lnSpc>
              <a:spcBef>
                <a:spcPts val="0"/>
              </a:spcBef>
              <a:spcAft>
                <a:spcPts val="0"/>
              </a:spcAft>
              <a:buClr>
                <a:schemeClr val="dk2"/>
              </a:buClr>
              <a:buSzPts val="1864"/>
              <a:buChar char="●"/>
            </a:pPr>
            <a:r>
              <a:rPr b="1" lang="en-US" sz="1864">
                <a:solidFill>
                  <a:schemeClr val="dk2"/>
                </a:solidFill>
              </a:rPr>
              <a:t>Supervisor</a:t>
            </a:r>
            <a:r>
              <a:rPr lang="en-US" sz="1864">
                <a:solidFill>
                  <a:schemeClr val="dk2"/>
                </a:solidFill>
              </a:rPr>
              <a:t> - directly guides and oversees the project</a:t>
            </a:r>
            <a:endParaRPr sz="1864">
              <a:solidFill>
                <a:schemeClr val="dk2"/>
              </a:solidFill>
            </a:endParaRPr>
          </a:p>
          <a:p>
            <a:pPr indent="0" lvl="0" marL="0" rtl="0" algn="l">
              <a:lnSpc>
                <a:spcPct val="115000"/>
              </a:lnSpc>
              <a:spcBef>
                <a:spcPts val="1270"/>
              </a:spcBef>
              <a:spcAft>
                <a:spcPts val="0"/>
              </a:spcAft>
              <a:buNone/>
            </a:pPr>
            <a:r>
              <a:rPr b="1" lang="en-US" sz="1864">
                <a:solidFill>
                  <a:schemeClr val="dk2"/>
                </a:solidFill>
              </a:rPr>
              <a:t>External Stakeholders</a:t>
            </a:r>
            <a:r>
              <a:rPr lang="en-US" sz="1864">
                <a:solidFill>
                  <a:schemeClr val="dk2"/>
                </a:solidFill>
              </a:rPr>
              <a:t> </a:t>
            </a:r>
            <a:endParaRPr sz="1864">
              <a:solidFill>
                <a:schemeClr val="dk2"/>
              </a:solidFill>
            </a:endParaRPr>
          </a:p>
          <a:p>
            <a:pPr indent="-360290" lvl="0" marL="483841" rtl="0" algn="l">
              <a:lnSpc>
                <a:spcPct val="115000"/>
              </a:lnSpc>
              <a:spcBef>
                <a:spcPts val="1270"/>
              </a:spcBef>
              <a:spcAft>
                <a:spcPts val="0"/>
              </a:spcAft>
              <a:buClr>
                <a:schemeClr val="dk2"/>
              </a:buClr>
              <a:buSzPts val="1864"/>
              <a:buChar char="●"/>
            </a:pPr>
            <a:r>
              <a:rPr b="1" lang="en-US" sz="1864">
                <a:solidFill>
                  <a:schemeClr val="dk2"/>
                </a:solidFill>
              </a:rPr>
              <a:t>Module lecturer</a:t>
            </a:r>
            <a:r>
              <a:rPr lang="en-US" sz="1864">
                <a:solidFill>
                  <a:schemeClr val="dk2"/>
                </a:solidFill>
              </a:rPr>
              <a:t>- assesses the project, but isn't involved in doing the work</a:t>
            </a:r>
            <a:endParaRPr sz="1864">
              <a:solidFill>
                <a:schemeClr val="dk2"/>
              </a:solidFill>
            </a:endParaRPr>
          </a:p>
          <a:p>
            <a:pPr indent="-360290" lvl="0" marL="483841" rtl="0" algn="l">
              <a:lnSpc>
                <a:spcPct val="115000"/>
              </a:lnSpc>
              <a:spcBef>
                <a:spcPts val="0"/>
              </a:spcBef>
              <a:spcAft>
                <a:spcPts val="0"/>
              </a:spcAft>
              <a:buClr>
                <a:schemeClr val="dk2"/>
              </a:buClr>
              <a:buSzPts val="1864"/>
              <a:buChar char="●"/>
            </a:pPr>
            <a:r>
              <a:rPr b="1" lang="en-US" sz="1864">
                <a:solidFill>
                  <a:schemeClr val="dk2"/>
                </a:solidFill>
              </a:rPr>
              <a:t>Research peers</a:t>
            </a:r>
            <a:r>
              <a:rPr lang="en-US" sz="1864">
                <a:solidFill>
                  <a:schemeClr val="dk2"/>
                </a:solidFill>
              </a:rPr>
              <a:t> - benefit from or are interested in the outcome, not involved in delivery</a:t>
            </a:r>
            <a:endParaRPr sz="1864">
              <a:solidFill>
                <a:schemeClr val="dk2"/>
              </a:solidFill>
            </a:endParaRPr>
          </a:p>
          <a:p>
            <a:pPr indent="-360290" lvl="0" marL="483841" rtl="0" algn="l">
              <a:lnSpc>
                <a:spcPct val="115000"/>
              </a:lnSpc>
              <a:spcBef>
                <a:spcPts val="0"/>
              </a:spcBef>
              <a:spcAft>
                <a:spcPts val="0"/>
              </a:spcAft>
              <a:buClr>
                <a:schemeClr val="dk2"/>
              </a:buClr>
              <a:buSzPts val="1864"/>
              <a:buChar char="●"/>
            </a:pPr>
            <a:r>
              <a:rPr b="1" lang="en-US" sz="1864">
                <a:solidFill>
                  <a:schemeClr val="dk2"/>
                </a:solidFill>
              </a:rPr>
              <a:t>External model / API providers</a:t>
            </a:r>
            <a:r>
              <a:rPr lang="en-US" sz="1864">
                <a:solidFill>
                  <a:schemeClr val="dk2"/>
                </a:solidFill>
              </a:rPr>
              <a:t> - third-party services the project depends on, but has no control over</a:t>
            </a:r>
            <a:endParaRPr b="1" sz="2817">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525" name="Shape 525"/>
        <p:cNvGrpSpPr/>
        <p:nvPr/>
      </p:nvGrpSpPr>
      <p:grpSpPr>
        <a:xfrm>
          <a:off x="0" y="0"/>
          <a:ext cx="0" cy="0"/>
          <a:chOff x="0" y="0"/>
          <a:chExt cx="0" cy="0"/>
        </a:xfrm>
      </p:grpSpPr>
      <p:sp>
        <p:nvSpPr>
          <p:cNvPr id="526" name="Google Shape;526;p18"/>
          <p:cNvSpPr/>
          <p:nvPr/>
        </p:nvSpPr>
        <p:spPr>
          <a:xfrm>
            <a:off x="1143000" y="1174750"/>
            <a:ext cx="17602200" cy="69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450"/>
              <a:buFont typeface="Poppins"/>
              <a:buNone/>
            </a:pPr>
            <a:r>
              <a:rPr b="1" i="0" lang="en-US" sz="3450" u="none" cap="none" strike="noStrike">
                <a:solidFill>
                  <a:srgbClr val="084594"/>
                </a:solidFill>
                <a:latin typeface="Poppins"/>
                <a:ea typeface="Poppins"/>
                <a:cs typeface="Poppins"/>
                <a:sym typeface="Poppins"/>
              </a:rPr>
              <a:t>Work Breakdown Structure (WBS)</a:t>
            </a:r>
            <a:endParaRPr b="0" i="0" sz="3450" u="none" cap="none" strike="noStrike">
              <a:solidFill>
                <a:schemeClr val="dk1"/>
              </a:solidFill>
              <a:latin typeface="Calibri"/>
              <a:ea typeface="Calibri"/>
              <a:cs typeface="Calibri"/>
              <a:sym typeface="Calibri"/>
            </a:endParaRPr>
          </a:p>
        </p:txBody>
      </p:sp>
      <p:sp>
        <p:nvSpPr>
          <p:cNvPr id="527" name="Google Shape;527;p18"/>
          <p:cNvSpPr/>
          <p:nvPr/>
        </p:nvSpPr>
        <p:spPr>
          <a:xfrm>
            <a:off x="1143000" y="1924050"/>
            <a:ext cx="17602200" cy="29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650"/>
              <a:buFont typeface="Inter"/>
              <a:buNone/>
            </a:pPr>
            <a:r>
              <a:rPr b="0" i="0" lang="en-US" sz="1650" u="none" cap="none" strike="noStrike">
                <a:solidFill>
                  <a:srgbClr val="2C4A63"/>
                </a:solidFill>
                <a:latin typeface="Inter"/>
                <a:ea typeface="Inter"/>
                <a:cs typeface="Inter"/>
                <a:sym typeface="Inter"/>
              </a:rPr>
              <a:t>Level 1 work packages map directly to Jira epics</a:t>
            </a:r>
            <a:endParaRPr b="0" i="0" sz="1650" u="none" cap="none" strike="noStrike">
              <a:solidFill>
                <a:schemeClr val="dk1"/>
              </a:solidFill>
              <a:latin typeface="Calibri"/>
              <a:ea typeface="Calibri"/>
              <a:cs typeface="Calibri"/>
              <a:sym typeface="Calibri"/>
            </a:endParaRPr>
          </a:p>
        </p:txBody>
      </p:sp>
      <p:sp>
        <p:nvSpPr>
          <p:cNvPr id="528" name="Google Shape;528;p18"/>
          <p:cNvSpPr/>
          <p:nvPr/>
        </p:nvSpPr>
        <p:spPr>
          <a:xfrm>
            <a:off x="1037025" y="9642600"/>
            <a:ext cx="6193500" cy="21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050"/>
              <a:buFont typeface="Inter"/>
              <a:buNone/>
            </a:pPr>
            <a:r>
              <a:rPr b="0" i="0" lang="en-US" sz="1050" u="none" cap="none" strike="noStrike">
                <a:solidFill>
                  <a:srgbClr val="4A6785"/>
                </a:solidFill>
                <a:latin typeface="Inter"/>
                <a:ea typeface="Inter"/>
                <a:cs typeface="Inter"/>
                <a:sym typeface="Inter"/>
              </a:rPr>
              <a:t>Sources: PMI, WBS guidance / PMBOK 7th ed. </a:t>
            </a:r>
            <a:endParaRPr b="0" i="0" sz="1050" u="none" cap="none" strike="noStrike">
              <a:solidFill>
                <a:schemeClr val="dk1"/>
              </a:solidFill>
              <a:latin typeface="Calibri"/>
              <a:ea typeface="Calibri"/>
              <a:cs typeface="Calibri"/>
              <a:sym typeface="Calibri"/>
            </a:endParaRPr>
          </a:p>
        </p:txBody>
      </p:sp>
      <p:sp>
        <p:nvSpPr>
          <p:cNvPr id="529" name="Google Shape;529;p18"/>
          <p:cNvSpPr/>
          <p:nvPr/>
        </p:nvSpPr>
        <p:spPr>
          <a:xfrm>
            <a:off x="7533285" y="2704750"/>
            <a:ext cx="3221100" cy="1089000"/>
          </a:xfrm>
          <a:prstGeom prst="roundRect">
            <a:avLst>
              <a:gd fmla="val 19780" name="adj"/>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0" name="Google Shape;530;p18"/>
          <p:cNvSpPr/>
          <p:nvPr/>
        </p:nvSpPr>
        <p:spPr>
          <a:xfrm>
            <a:off x="7886873" y="2973992"/>
            <a:ext cx="2610600" cy="622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Poppins"/>
              <a:buNone/>
            </a:pPr>
            <a:r>
              <a:rPr b="1" i="0" lang="en-US" sz="2100" u="none" cap="none" strike="noStrike">
                <a:solidFill>
                  <a:srgbClr val="FFFFFF"/>
                </a:solidFill>
                <a:latin typeface="Poppins"/>
                <a:ea typeface="Poppins"/>
                <a:cs typeface="Poppins"/>
                <a:sym typeface="Poppins"/>
              </a:rPr>
              <a:t>TRACER</a:t>
            </a:r>
            <a:endParaRPr b="0" i="0" sz="2100" u="none" cap="none" strike="noStrike">
              <a:solidFill>
                <a:schemeClr val="dk1"/>
              </a:solidFill>
              <a:latin typeface="Calibri"/>
              <a:ea typeface="Calibri"/>
              <a:cs typeface="Calibri"/>
              <a:sym typeface="Calibri"/>
            </a:endParaRPr>
          </a:p>
        </p:txBody>
      </p:sp>
      <p:sp>
        <p:nvSpPr>
          <p:cNvPr id="531" name="Google Shape;531;p18"/>
          <p:cNvSpPr/>
          <p:nvPr/>
        </p:nvSpPr>
        <p:spPr>
          <a:xfrm>
            <a:off x="9134049" y="3793686"/>
            <a:ext cx="19800" cy="359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2" name="Google Shape;532;p18"/>
          <p:cNvSpPr/>
          <p:nvPr/>
        </p:nvSpPr>
        <p:spPr>
          <a:xfrm>
            <a:off x="2201425" y="4152675"/>
            <a:ext cx="13884900" cy="36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3" name="Google Shape;533;p18"/>
          <p:cNvSpPr/>
          <p:nvPr/>
        </p:nvSpPr>
        <p:spPr>
          <a:xfrm>
            <a:off x="220142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4" name="Google Shape;534;p18"/>
          <p:cNvSpPr/>
          <p:nvPr/>
        </p:nvSpPr>
        <p:spPr>
          <a:xfrm>
            <a:off x="893475" y="4475767"/>
            <a:ext cx="2635800" cy="969300"/>
          </a:xfrm>
          <a:prstGeom prst="roundRect">
            <a:avLst>
              <a:gd fmla="val 18519" name="adj"/>
            </a:avLst>
          </a:prstGeom>
          <a:solidFill>
            <a:srgbClr val="FFFFFF"/>
          </a:solidFill>
          <a:ln cap="flat" cmpd="sng" w="19050">
            <a:solidFill>
              <a:srgbClr val="2171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5" name="Google Shape;535;p18"/>
          <p:cNvSpPr/>
          <p:nvPr/>
        </p:nvSpPr>
        <p:spPr>
          <a:xfrm>
            <a:off x="952161" y="472706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275"/>
              <a:buFont typeface="Poppins"/>
              <a:buNone/>
            </a:pPr>
            <a:r>
              <a:rPr b="1" i="0" lang="en-US" sz="1875" u="none" cap="none" strike="noStrike">
                <a:solidFill>
                  <a:srgbClr val="084594"/>
                </a:solidFill>
                <a:latin typeface="Poppins"/>
                <a:ea typeface="Poppins"/>
                <a:cs typeface="Poppins"/>
                <a:sym typeface="Poppins"/>
              </a:rPr>
              <a:t>1. Research &amp; Design</a:t>
            </a:r>
            <a:endParaRPr b="0" i="0" sz="1875" u="none" cap="none" strike="noStrike">
              <a:solidFill>
                <a:schemeClr val="dk1"/>
              </a:solidFill>
              <a:latin typeface="Calibri"/>
              <a:ea typeface="Calibri"/>
              <a:cs typeface="Calibri"/>
              <a:sym typeface="Calibri"/>
            </a:endParaRPr>
          </a:p>
        </p:txBody>
      </p:sp>
      <p:sp>
        <p:nvSpPr>
          <p:cNvPr id="536" name="Google Shape;536;p18"/>
          <p:cNvSpPr/>
          <p:nvPr/>
        </p:nvSpPr>
        <p:spPr>
          <a:xfrm>
            <a:off x="220142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7" name="Google Shape;537;p18"/>
          <p:cNvSpPr/>
          <p:nvPr/>
        </p:nvSpPr>
        <p:spPr>
          <a:xfrm>
            <a:off x="893475" y="5660434"/>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38" name="Google Shape;538;p18"/>
          <p:cNvSpPr/>
          <p:nvPr/>
        </p:nvSpPr>
        <p:spPr>
          <a:xfrm>
            <a:off x="932517"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Literature review</a:t>
            </a:r>
            <a:endParaRPr b="0" i="0" sz="1800" u="none" cap="none" strike="noStrike">
              <a:solidFill>
                <a:schemeClr val="dk1"/>
              </a:solidFill>
              <a:latin typeface="Calibri"/>
              <a:ea typeface="Calibri"/>
              <a:cs typeface="Calibri"/>
              <a:sym typeface="Calibri"/>
            </a:endParaRPr>
          </a:p>
        </p:txBody>
      </p:sp>
      <p:sp>
        <p:nvSpPr>
          <p:cNvPr id="539" name="Google Shape;539;p18"/>
          <p:cNvSpPr/>
          <p:nvPr/>
        </p:nvSpPr>
        <p:spPr>
          <a:xfrm>
            <a:off x="893475" y="6438245"/>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0" name="Google Shape;540;p18"/>
          <p:cNvSpPr/>
          <p:nvPr/>
        </p:nvSpPr>
        <p:spPr>
          <a:xfrm>
            <a:off x="932517"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Scope + RQ</a:t>
            </a:r>
            <a:endParaRPr b="0" i="0" sz="1800" u="none" cap="none" strike="noStrike">
              <a:solidFill>
                <a:schemeClr val="dk1"/>
              </a:solidFill>
              <a:latin typeface="Calibri"/>
              <a:ea typeface="Calibri"/>
              <a:cs typeface="Calibri"/>
              <a:sym typeface="Calibri"/>
            </a:endParaRPr>
          </a:p>
        </p:txBody>
      </p:sp>
      <p:sp>
        <p:nvSpPr>
          <p:cNvPr id="541" name="Google Shape;541;p18"/>
          <p:cNvSpPr/>
          <p:nvPr/>
        </p:nvSpPr>
        <p:spPr>
          <a:xfrm>
            <a:off x="893475" y="7216057"/>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2" name="Google Shape;542;p18"/>
          <p:cNvSpPr/>
          <p:nvPr/>
        </p:nvSpPr>
        <p:spPr>
          <a:xfrm>
            <a:off x="932517"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Experiment protocol</a:t>
            </a:r>
            <a:endParaRPr b="0" i="0" sz="1800" u="none" cap="none" strike="noStrike">
              <a:solidFill>
                <a:schemeClr val="dk1"/>
              </a:solidFill>
              <a:latin typeface="Calibri"/>
              <a:ea typeface="Calibri"/>
              <a:cs typeface="Calibri"/>
              <a:sym typeface="Calibri"/>
            </a:endParaRPr>
          </a:p>
        </p:txBody>
      </p:sp>
      <p:sp>
        <p:nvSpPr>
          <p:cNvPr id="543" name="Google Shape;543;p18"/>
          <p:cNvSpPr/>
          <p:nvPr/>
        </p:nvSpPr>
        <p:spPr>
          <a:xfrm>
            <a:off x="497447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4" name="Google Shape;544;p18"/>
          <p:cNvSpPr/>
          <p:nvPr/>
        </p:nvSpPr>
        <p:spPr>
          <a:xfrm>
            <a:off x="3666525" y="4475767"/>
            <a:ext cx="2635800" cy="969300"/>
          </a:xfrm>
          <a:prstGeom prst="roundRect">
            <a:avLst>
              <a:gd fmla="val 18519" name="adj"/>
            </a:avLst>
          </a:prstGeom>
          <a:solidFill>
            <a:srgbClr val="FFFFFF"/>
          </a:solidFill>
          <a:ln cap="flat" cmpd="sng" w="19050">
            <a:solidFill>
              <a:srgbClr val="2171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5" name="Google Shape;545;p18"/>
          <p:cNvSpPr/>
          <p:nvPr/>
        </p:nvSpPr>
        <p:spPr>
          <a:xfrm>
            <a:off x="3725211" y="472706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275"/>
              <a:buFont typeface="Poppins"/>
              <a:buNone/>
            </a:pPr>
            <a:r>
              <a:rPr b="1" i="0" lang="en-US" sz="1875" u="none" cap="none" strike="noStrike">
                <a:solidFill>
                  <a:srgbClr val="084594"/>
                </a:solidFill>
                <a:latin typeface="Poppins"/>
                <a:ea typeface="Poppins"/>
                <a:cs typeface="Poppins"/>
                <a:sym typeface="Poppins"/>
              </a:rPr>
              <a:t>2. Data &amp; Infrastructure</a:t>
            </a:r>
            <a:endParaRPr b="0" i="0" sz="1875" u="none" cap="none" strike="noStrike">
              <a:solidFill>
                <a:schemeClr val="dk1"/>
              </a:solidFill>
              <a:latin typeface="Calibri"/>
              <a:ea typeface="Calibri"/>
              <a:cs typeface="Calibri"/>
              <a:sym typeface="Calibri"/>
            </a:endParaRPr>
          </a:p>
        </p:txBody>
      </p:sp>
      <p:sp>
        <p:nvSpPr>
          <p:cNvPr id="546" name="Google Shape;546;p18"/>
          <p:cNvSpPr/>
          <p:nvPr/>
        </p:nvSpPr>
        <p:spPr>
          <a:xfrm>
            <a:off x="497447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7" name="Google Shape;547;p18"/>
          <p:cNvSpPr/>
          <p:nvPr/>
        </p:nvSpPr>
        <p:spPr>
          <a:xfrm>
            <a:off x="3666525" y="5660434"/>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48" name="Google Shape;548;p18"/>
          <p:cNvSpPr/>
          <p:nvPr/>
        </p:nvSpPr>
        <p:spPr>
          <a:xfrm>
            <a:off x="3705567"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Datasets</a:t>
            </a:r>
            <a:endParaRPr b="0" i="0" sz="1800" u="none" cap="none" strike="noStrike">
              <a:solidFill>
                <a:schemeClr val="dk1"/>
              </a:solidFill>
              <a:latin typeface="Calibri"/>
              <a:ea typeface="Calibri"/>
              <a:cs typeface="Calibri"/>
              <a:sym typeface="Calibri"/>
            </a:endParaRPr>
          </a:p>
        </p:txBody>
      </p:sp>
      <p:sp>
        <p:nvSpPr>
          <p:cNvPr id="549" name="Google Shape;549;p18"/>
          <p:cNvSpPr/>
          <p:nvPr/>
        </p:nvSpPr>
        <p:spPr>
          <a:xfrm>
            <a:off x="3666525" y="6438245"/>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0" name="Google Shape;550;p18"/>
          <p:cNvSpPr/>
          <p:nvPr/>
        </p:nvSpPr>
        <p:spPr>
          <a:xfrm>
            <a:off x="3705567"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Validators</a:t>
            </a:r>
            <a:endParaRPr b="0" i="0" sz="1800" u="none" cap="none" strike="noStrike">
              <a:solidFill>
                <a:schemeClr val="dk1"/>
              </a:solidFill>
              <a:latin typeface="Calibri"/>
              <a:ea typeface="Calibri"/>
              <a:cs typeface="Calibri"/>
              <a:sym typeface="Calibri"/>
            </a:endParaRPr>
          </a:p>
        </p:txBody>
      </p:sp>
      <p:sp>
        <p:nvSpPr>
          <p:cNvPr id="551" name="Google Shape;551;p18"/>
          <p:cNvSpPr/>
          <p:nvPr/>
        </p:nvSpPr>
        <p:spPr>
          <a:xfrm>
            <a:off x="3666525" y="7216057"/>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2" name="Google Shape;552;p18"/>
          <p:cNvSpPr/>
          <p:nvPr/>
        </p:nvSpPr>
        <p:spPr>
          <a:xfrm>
            <a:off x="3705567"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Model serving</a:t>
            </a:r>
            <a:endParaRPr b="0" i="0" sz="1800" u="none" cap="none" strike="noStrike">
              <a:solidFill>
                <a:schemeClr val="dk1"/>
              </a:solidFill>
              <a:latin typeface="Calibri"/>
              <a:ea typeface="Calibri"/>
              <a:cs typeface="Calibri"/>
              <a:sym typeface="Calibri"/>
            </a:endParaRPr>
          </a:p>
        </p:txBody>
      </p:sp>
      <p:sp>
        <p:nvSpPr>
          <p:cNvPr id="553" name="Google Shape;553;p18"/>
          <p:cNvSpPr/>
          <p:nvPr/>
        </p:nvSpPr>
        <p:spPr>
          <a:xfrm>
            <a:off x="774752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4" name="Google Shape;554;p18"/>
          <p:cNvSpPr/>
          <p:nvPr/>
        </p:nvSpPr>
        <p:spPr>
          <a:xfrm>
            <a:off x="6439575" y="4475767"/>
            <a:ext cx="2635800" cy="969300"/>
          </a:xfrm>
          <a:prstGeom prst="roundRect">
            <a:avLst>
              <a:gd fmla="val 18519" name="adj"/>
            </a:avLst>
          </a:prstGeom>
          <a:solidFill>
            <a:srgbClr val="FFFFFF"/>
          </a:solidFill>
          <a:ln cap="flat" cmpd="sng" w="19050">
            <a:solidFill>
              <a:srgbClr val="2171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5" name="Google Shape;555;p18"/>
          <p:cNvSpPr/>
          <p:nvPr/>
        </p:nvSpPr>
        <p:spPr>
          <a:xfrm>
            <a:off x="6498261" y="472706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275"/>
              <a:buFont typeface="Poppins"/>
              <a:buNone/>
            </a:pPr>
            <a:r>
              <a:rPr b="1" i="0" lang="en-US" sz="1875" u="none" cap="none" strike="noStrike">
                <a:solidFill>
                  <a:srgbClr val="084594"/>
                </a:solidFill>
                <a:latin typeface="Poppins"/>
                <a:ea typeface="Poppins"/>
                <a:cs typeface="Poppins"/>
                <a:sym typeface="Poppins"/>
              </a:rPr>
              <a:t>3. Outcome Generation</a:t>
            </a:r>
            <a:endParaRPr b="0" i="0" sz="1875" u="none" cap="none" strike="noStrike">
              <a:solidFill>
                <a:schemeClr val="dk1"/>
              </a:solidFill>
              <a:latin typeface="Calibri"/>
              <a:ea typeface="Calibri"/>
              <a:cs typeface="Calibri"/>
              <a:sym typeface="Calibri"/>
            </a:endParaRPr>
          </a:p>
        </p:txBody>
      </p:sp>
      <p:sp>
        <p:nvSpPr>
          <p:cNvPr id="556" name="Google Shape;556;p18"/>
          <p:cNvSpPr/>
          <p:nvPr/>
        </p:nvSpPr>
        <p:spPr>
          <a:xfrm>
            <a:off x="774752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7" name="Google Shape;557;p18"/>
          <p:cNvSpPr/>
          <p:nvPr/>
        </p:nvSpPr>
        <p:spPr>
          <a:xfrm>
            <a:off x="6439575" y="5660434"/>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58" name="Google Shape;558;p18"/>
          <p:cNvSpPr/>
          <p:nvPr/>
        </p:nvSpPr>
        <p:spPr>
          <a:xfrm>
            <a:off x="6478617"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SLM outputs</a:t>
            </a:r>
            <a:endParaRPr b="0" i="0" sz="1800" u="none" cap="none" strike="noStrike">
              <a:solidFill>
                <a:schemeClr val="dk1"/>
              </a:solidFill>
              <a:latin typeface="Calibri"/>
              <a:ea typeface="Calibri"/>
              <a:cs typeface="Calibri"/>
              <a:sym typeface="Calibri"/>
            </a:endParaRPr>
          </a:p>
        </p:txBody>
      </p:sp>
      <p:sp>
        <p:nvSpPr>
          <p:cNvPr id="559" name="Google Shape;559;p18"/>
          <p:cNvSpPr/>
          <p:nvPr/>
        </p:nvSpPr>
        <p:spPr>
          <a:xfrm>
            <a:off x="6439575" y="6438245"/>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0" name="Google Shape;560;p18"/>
          <p:cNvSpPr/>
          <p:nvPr/>
        </p:nvSpPr>
        <p:spPr>
          <a:xfrm>
            <a:off x="6478617"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Repair outputs</a:t>
            </a:r>
            <a:endParaRPr b="0" i="0" sz="1800" u="none" cap="none" strike="noStrike">
              <a:solidFill>
                <a:schemeClr val="dk1"/>
              </a:solidFill>
              <a:latin typeface="Calibri"/>
              <a:ea typeface="Calibri"/>
              <a:cs typeface="Calibri"/>
              <a:sym typeface="Calibri"/>
            </a:endParaRPr>
          </a:p>
        </p:txBody>
      </p:sp>
      <p:sp>
        <p:nvSpPr>
          <p:cNvPr id="561" name="Google Shape;561;p18"/>
          <p:cNvSpPr/>
          <p:nvPr/>
        </p:nvSpPr>
        <p:spPr>
          <a:xfrm>
            <a:off x="6439575" y="7216057"/>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2" name="Google Shape;562;p18"/>
          <p:cNvSpPr/>
          <p:nvPr/>
        </p:nvSpPr>
        <p:spPr>
          <a:xfrm>
            <a:off x="6478617"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Regenerate outputs</a:t>
            </a:r>
            <a:endParaRPr b="0" i="0" sz="1800" u="none" cap="none" strike="noStrike">
              <a:solidFill>
                <a:schemeClr val="dk1"/>
              </a:solidFill>
              <a:latin typeface="Calibri"/>
              <a:ea typeface="Calibri"/>
              <a:cs typeface="Calibri"/>
              <a:sym typeface="Calibri"/>
            </a:endParaRPr>
          </a:p>
        </p:txBody>
      </p:sp>
      <p:sp>
        <p:nvSpPr>
          <p:cNvPr id="563" name="Google Shape;563;p18"/>
          <p:cNvSpPr/>
          <p:nvPr/>
        </p:nvSpPr>
        <p:spPr>
          <a:xfrm>
            <a:off x="1052057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4" name="Google Shape;564;p18"/>
          <p:cNvSpPr/>
          <p:nvPr/>
        </p:nvSpPr>
        <p:spPr>
          <a:xfrm>
            <a:off x="9212625" y="4475767"/>
            <a:ext cx="2635800" cy="969300"/>
          </a:xfrm>
          <a:prstGeom prst="roundRect">
            <a:avLst>
              <a:gd fmla="val 18519" name="adj"/>
            </a:avLst>
          </a:prstGeom>
          <a:solidFill>
            <a:srgbClr val="FFFFFF"/>
          </a:solidFill>
          <a:ln cap="flat" cmpd="sng" w="19050">
            <a:solidFill>
              <a:srgbClr val="2171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5" name="Google Shape;565;p18"/>
          <p:cNvSpPr/>
          <p:nvPr/>
        </p:nvSpPr>
        <p:spPr>
          <a:xfrm>
            <a:off x="9271311" y="472706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275"/>
              <a:buFont typeface="Poppins"/>
              <a:buNone/>
            </a:pPr>
            <a:r>
              <a:rPr b="1" i="0" lang="en-US" sz="1875" u="none" cap="none" strike="noStrike">
                <a:solidFill>
                  <a:srgbClr val="084594"/>
                </a:solidFill>
                <a:latin typeface="Poppins"/>
                <a:ea typeface="Poppins"/>
                <a:cs typeface="Poppins"/>
                <a:sym typeface="Poppins"/>
              </a:rPr>
              <a:t>4. ACRE Development</a:t>
            </a:r>
            <a:endParaRPr b="0" i="0" sz="1875" u="none" cap="none" strike="noStrike">
              <a:solidFill>
                <a:schemeClr val="dk1"/>
              </a:solidFill>
              <a:latin typeface="Calibri"/>
              <a:ea typeface="Calibri"/>
              <a:cs typeface="Calibri"/>
              <a:sym typeface="Calibri"/>
            </a:endParaRPr>
          </a:p>
        </p:txBody>
      </p:sp>
      <p:sp>
        <p:nvSpPr>
          <p:cNvPr id="566" name="Google Shape;566;p18"/>
          <p:cNvSpPr/>
          <p:nvPr/>
        </p:nvSpPr>
        <p:spPr>
          <a:xfrm>
            <a:off x="1052057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7" name="Google Shape;567;p18"/>
          <p:cNvSpPr/>
          <p:nvPr/>
        </p:nvSpPr>
        <p:spPr>
          <a:xfrm>
            <a:off x="9212625" y="5660434"/>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68" name="Google Shape;568;p18"/>
          <p:cNvSpPr/>
          <p:nvPr/>
        </p:nvSpPr>
        <p:spPr>
          <a:xfrm>
            <a:off x="9251667"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Feature extraction</a:t>
            </a:r>
            <a:endParaRPr b="0" i="0" sz="1800" u="none" cap="none" strike="noStrike">
              <a:solidFill>
                <a:schemeClr val="dk1"/>
              </a:solidFill>
              <a:latin typeface="Calibri"/>
              <a:ea typeface="Calibri"/>
              <a:cs typeface="Calibri"/>
              <a:sym typeface="Calibri"/>
            </a:endParaRPr>
          </a:p>
        </p:txBody>
      </p:sp>
      <p:sp>
        <p:nvSpPr>
          <p:cNvPr id="569" name="Google Shape;569;p18"/>
          <p:cNvSpPr/>
          <p:nvPr/>
        </p:nvSpPr>
        <p:spPr>
          <a:xfrm>
            <a:off x="9212625" y="6438245"/>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0" name="Google Shape;570;p18"/>
          <p:cNvSpPr/>
          <p:nvPr/>
        </p:nvSpPr>
        <p:spPr>
          <a:xfrm>
            <a:off x="9251667"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Risk heads</a:t>
            </a:r>
            <a:endParaRPr b="0" i="0" sz="1800" u="none" cap="none" strike="noStrike">
              <a:solidFill>
                <a:schemeClr val="dk1"/>
              </a:solidFill>
              <a:latin typeface="Calibri"/>
              <a:ea typeface="Calibri"/>
              <a:cs typeface="Calibri"/>
              <a:sym typeface="Calibri"/>
            </a:endParaRPr>
          </a:p>
        </p:txBody>
      </p:sp>
      <p:sp>
        <p:nvSpPr>
          <p:cNvPr id="571" name="Google Shape;571;p18"/>
          <p:cNvSpPr/>
          <p:nvPr/>
        </p:nvSpPr>
        <p:spPr>
          <a:xfrm>
            <a:off x="9212625" y="7216057"/>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2" name="Google Shape;572;p18"/>
          <p:cNvSpPr/>
          <p:nvPr/>
        </p:nvSpPr>
        <p:spPr>
          <a:xfrm>
            <a:off x="9251667"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Calibration</a:t>
            </a:r>
            <a:endParaRPr b="0" i="0" sz="1800" u="none" cap="none" strike="noStrike">
              <a:solidFill>
                <a:schemeClr val="dk1"/>
              </a:solidFill>
              <a:latin typeface="Calibri"/>
              <a:ea typeface="Calibri"/>
              <a:cs typeface="Calibri"/>
              <a:sym typeface="Calibri"/>
            </a:endParaRPr>
          </a:p>
        </p:txBody>
      </p:sp>
      <p:sp>
        <p:nvSpPr>
          <p:cNvPr id="573" name="Google Shape;573;p18"/>
          <p:cNvSpPr/>
          <p:nvPr/>
        </p:nvSpPr>
        <p:spPr>
          <a:xfrm>
            <a:off x="1329362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4" name="Google Shape;574;p18"/>
          <p:cNvSpPr/>
          <p:nvPr/>
        </p:nvSpPr>
        <p:spPr>
          <a:xfrm>
            <a:off x="11985674" y="4475767"/>
            <a:ext cx="2635800" cy="969300"/>
          </a:xfrm>
          <a:prstGeom prst="roundRect">
            <a:avLst>
              <a:gd fmla="val 18519" name="adj"/>
            </a:avLst>
          </a:prstGeom>
          <a:solidFill>
            <a:srgbClr val="FFFFFF"/>
          </a:solidFill>
          <a:ln cap="flat" cmpd="sng" w="19050">
            <a:solidFill>
              <a:srgbClr val="2171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5" name="Google Shape;575;p18"/>
          <p:cNvSpPr/>
          <p:nvPr/>
        </p:nvSpPr>
        <p:spPr>
          <a:xfrm>
            <a:off x="12044360" y="472706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275"/>
              <a:buFont typeface="Poppins"/>
              <a:buNone/>
            </a:pPr>
            <a:r>
              <a:rPr b="1" i="0" lang="en-US" sz="1875" u="none" cap="none" strike="noStrike">
                <a:solidFill>
                  <a:srgbClr val="084594"/>
                </a:solidFill>
                <a:latin typeface="Poppins"/>
                <a:ea typeface="Poppins"/>
                <a:cs typeface="Poppins"/>
                <a:sym typeface="Poppins"/>
              </a:rPr>
              <a:t>5. Evaluation</a:t>
            </a:r>
            <a:endParaRPr b="0" i="0" sz="1875" u="none" cap="none" strike="noStrike">
              <a:solidFill>
                <a:schemeClr val="dk1"/>
              </a:solidFill>
              <a:latin typeface="Calibri"/>
              <a:ea typeface="Calibri"/>
              <a:cs typeface="Calibri"/>
              <a:sym typeface="Calibri"/>
            </a:endParaRPr>
          </a:p>
        </p:txBody>
      </p:sp>
      <p:sp>
        <p:nvSpPr>
          <p:cNvPr id="576" name="Google Shape;576;p18"/>
          <p:cNvSpPr/>
          <p:nvPr/>
        </p:nvSpPr>
        <p:spPr>
          <a:xfrm>
            <a:off x="1329362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7" name="Google Shape;577;p18"/>
          <p:cNvSpPr/>
          <p:nvPr/>
        </p:nvSpPr>
        <p:spPr>
          <a:xfrm>
            <a:off x="11985674" y="5660434"/>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78" name="Google Shape;578;p18"/>
          <p:cNvSpPr/>
          <p:nvPr/>
        </p:nvSpPr>
        <p:spPr>
          <a:xfrm>
            <a:off x="12024717"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Baselines</a:t>
            </a:r>
            <a:endParaRPr b="0" i="0" sz="1800" u="none" cap="none" strike="noStrike">
              <a:solidFill>
                <a:schemeClr val="dk1"/>
              </a:solidFill>
              <a:latin typeface="Calibri"/>
              <a:ea typeface="Calibri"/>
              <a:cs typeface="Calibri"/>
              <a:sym typeface="Calibri"/>
            </a:endParaRPr>
          </a:p>
        </p:txBody>
      </p:sp>
      <p:sp>
        <p:nvSpPr>
          <p:cNvPr id="579" name="Google Shape;579;p18"/>
          <p:cNvSpPr/>
          <p:nvPr/>
        </p:nvSpPr>
        <p:spPr>
          <a:xfrm>
            <a:off x="11985674" y="6438245"/>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0" name="Google Shape;580;p18"/>
          <p:cNvSpPr/>
          <p:nvPr/>
        </p:nvSpPr>
        <p:spPr>
          <a:xfrm>
            <a:off x="12024717"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Ablations</a:t>
            </a:r>
            <a:endParaRPr b="0" i="0" sz="1800" u="none" cap="none" strike="noStrike">
              <a:solidFill>
                <a:schemeClr val="dk1"/>
              </a:solidFill>
              <a:latin typeface="Calibri"/>
              <a:ea typeface="Calibri"/>
              <a:cs typeface="Calibri"/>
              <a:sym typeface="Calibri"/>
            </a:endParaRPr>
          </a:p>
        </p:txBody>
      </p:sp>
      <p:sp>
        <p:nvSpPr>
          <p:cNvPr id="581" name="Google Shape;581;p18"/>
          <p:cNvSpPr/>
          <p:nvPr/>
        </p:nvSpPr>
        <p:spPr>
          <a:xfrm>
            <a:off x="11985674" y="7216057"/>
            <a:ext cx="2635800" cy="634200"/>
          </a:xfrm>
          <a:prstGeom prst="roundRect">
            <a:avLst>
              <a:gd fmla="val 22642"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2" name="Google Shape;582;p18"/>
          <p:cNvSpPr/>
          <p:nvPr/>
        </p:nvSpPr>
        <p:spPr>
          <a:xfrm>
            <a:off x="12024717"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Risk analysis</a:t>
            </a:r>
            <a:endParaRPr b="0" i="0" sz="1800" u="none" cap="none" strike="noStrike">
              <a:solidFill>
                <a:schemeClr val="dk1"/>
              </a:solidFill>
              <a:latin typeface="Calibri"/>
              <a:ea typeface="Calibri"/>
              <a:cs typeface="Calibri"/>
              <a:sym typeface="Calibri"/>
            </a:endParaRPr>
          </a:p>
        </p:txBody>
      </p:sp>
      <p:sp>
        <p:nvSpPr>
          <p:cNvPr id="583" name="Google Shape;583;p18"/>
          <p:cNvSpPr/>
          <p:nvPr/>
        </p:nvSpPr>
        <p:spPr>
          <a:xfrm>
            <a:off x="16066675" y="4188575"/>
            <a:ext cx="19800" cy="2871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4" name="Google Shape;584;p18"/>
          <p:cNvSpPr/>
          <p:nvPr/>
        </p:nvSpPr>
        <p:spPr>
          <a:xfrm>
            <a:off x="14758725" y="4475767"/>
            <a:ext cx="2635800" cy="969300"/>
          </a:xfrm>
          <a:prstGeom prst="roundRect">
            <a:avLst>
              <a:gd fmla="val 18519" name="adj"/>
            </a:avLst>
          </a:prstGeom>
          <a:solidFill>
            <a:srgbClr val="084594"/>
          </a:solidFill>
          <a:ln cap="flat" cmpd="sng" w="19050">
            <a:solidFill>
              <a:srgbClr val="0845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5" name="Google Shape;585;p18"/>
          <p:cNvSpPr/>
          <p:nvPr/>
        </p:nvSpPr>
        <p:spPr>
          <a:xfrm>
            <a:off x="14817661" y="4690810"/>
            <a:ext cx="2518200" cy="53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275"/>
              <a:buFont typeface="Poppins"/>
              <a:buNone/>
            </a:pPr>
            <a:r>
              <a:rPr b="1" i="0" lang="en-US" sz="1875" u="none" cap="none" strike="noStrike">
                <a:solidFill>
                  <a:srgbClr val="FFFFFF"/>
                </a:solidFill>
                <a:latin typeface="Poppins"/>
                <a:ea typeface="Poppins"/>
                <a:cs typeface="Poppins"/>
                <a:sym typeface="Poppins"/>
              </a:rPr>
              <a:t>6. </a:t>
            </a:r>
            <a:r>
              <a:rPr b="1" lang="en-US" sz="1675">
                <a:solidFill>
                  <a:srgbClr val="FFFFFF"/>
                </a:solidFill>
                <a:latin typeface="Poppins"/>
                <a:ea typeface="Poppins"/>
                <a:cs typeface="Poppins"/>
                <a:sym typeface="Poppins"/>
              </a:rPr>
              <a:t>Reporting &amp; Project Management</a:t>
            </a:r>
            <a:endParaRPr b="0" i="0" sz="1675" u="none" cap="none" strike="noStrike">
              <a:solidFill>
                <a:schemeClr val="dk1"/>
              </a:solidFill>
              <a:latin typeface="Calibri"/>
              <a:ea typeface="Calibri"/>
              <a:cs typeface="Calibri"/>
              <a:sym typeface="Calibri"/>
            </a:endParaRPr>
          </a:p>
        </p:txBody>
      </p:sp>
      <p:sp>
        <p:nvSpPr>
          <p:cNvPr id="586" name="Google Shape;586;p18"/>
          <p:cNvSpPr/>
          <p:nvPr/>
        </p:nvSpPr>
        <p:spPr>
          <a:xfrm>
            <a:off x="16066675" y="5445040"/>
            <a:ext cx="19800" cy="2154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7" name="Google Shape;587;p18"/>
          <p:cNvSpPr/>
          <p:nvPr/>
        </p:nvSpPr>
        <p:spPr>
          <a:xfrm>
            <a:off x="14758725" y="5660434"/>
            <a:ext cx="2635800" cy="634200"/>
          </a:xfrm>
          <a:prstGeom prst="roundRect">
            <a:avLst>
              <a:gd fmla="val 22642"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88" name="Google Shape;588;p18"/>
          <p:cNvSpPr/>
          <p:nvPr/>
        </p:nvSpPr>
        <p:spPr>
          <a:xfrm>
            <a:off x="14797768" y="5804030"/>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Jira tracking</a:t>
            </a:r>
            <a:endParaRPr b="0" i="0" sz="1800" u="none" cap="none" strike="noStrike">
              <a:solidFill>
                <a:schemeClr val="dk1"/>
              </a:solidFill>
              <a:latin typeface="Calibri"/>
              <a:ea typeface="Calibri"/>
              <a:cs typeface="Calibri"/>
              <a:sym typeface="Calibri"/>
            </a:endParaRPr>
          </a:p>
        </p:txBody>
      </p:sp>
      <p:sp>
        <p:nvSpPr>
          <p:cNvPr id="589" name="Google Shape;589;p18"/>
          <p:cNvSpPr/>
          <p:nvPr/>
        </p:nvSpPr>
        <p:spPr>
          <a:xfrm>
            <a:off x="14758725" y="6438245"/>
            <a:ext cx="2635800" cy="634200"/>
          </a:xfrm>
          <a:prstGeom prst="roundRect">
            <a:avLst>
              <a:gd fmla="val 22642"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90" name="Google Shape;590;p18"/>
          <p:cNvSpPr/>
          <p:nvPr/>
        </p:nvSpPr>
        <p:spPr>
          <a:xfrm>
            <a:off x="14797768" y="6581841"/>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Paper / report</a:t>
            </a:r>
            <a:endParaRPr b="0" i="0" sz="1800" u="none" cap="none" strike="noStrike">
              <a:solidFill>
                <a:schemeClr val="dk1"/>
              </a:solidFill>
              <a:latin typeface="Calibri"/>
              <a:ea typeface="Calibri"/>
              <a:cs typeface="Calibri"/>
              <a:sym typeface="Calibri"/>
            </a:endParaRPr>
          </a:p>
        </p:txBody>
      </p:sp>
      <p:sp>
        <p:nvSpPr>
          <p:cNvPr id="591" name="Google Shape;591;p18"/>
          <p:cNvSpPr/>
          <p:nvPr/>
        </p:nvSpPr>
        <p:spPr>
          <a:xfrm>
            <a:off x="14758725" y="7216057"/>
            <a:ext cx="2635800" cy="634200"/>
          </a:xfrm>
          <a:prstGeom prst="roundRect">
            <a:avLst>
              <a:gd fmla="val 22642"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92" name="Google Shape;592;p18"/>
          <p:cNvSpPr/>
          <p:nvPr/>
        </p:nvSpPr>
        <p:spPr>
          <a:xfrm>
            <a:off x="14797768" y="7359653"/>
            <a:ext cx="2557500" cy="418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324A"/>
              </a:buClr>
              <a:buSzPts val="1200"/>
              <a:buFont typeface="Inter"/>
              <a:buNone/>
            </a:pPr>
            <a:r>
              <a:rPr b="0" i="0" lang="en-US" sz="1800" u="none" cap="none" strike="noStrike">
                <a:solidFill>
                  <a:srgbClr val="16324A"/>
                </a:solidFill>
                <a:latin typeface="Inter"/>
                <a:ea typeface="Inter"/>
                <a:cs typeface="Inter"/>
                <a:sym typeface="Inter"/>
              </a:rPr>
              <a:t>Presentation</a:t>
            </a:r>
            <a:endParaRPr b="0" i="0" sz="1800" u="none" cap="none" strike="noStrike">
              <a:solidFill>
                <a:schemeClr val="dk1"/>
              </a:solidFill>
              <a:latin typeface="Calibri"/>
              <a:ea typeface="Calibri"/>
              <a:cs typeface="Calibri"/>
              <a:sym typeface="Calibri"/>
            </a:endParaRPr>
          </a:p>
        </p:txBody>
      </p:sp>
      <p:pic>
        <p:nvPicPr>
          <p:cNvPr id="593" name="Google Shape;593;p18"/>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p19"/>
          <p:cNvSpPr/>
          <p:nvPr/>
        </p:nvSpPr>
        <p:spPr>
          <a:xfrm>
            <a:off x="952500" y="1098550"/>
            <a:ext cx="92076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300"/>
              <a:buFont typeface="Poppins"/>
              <a:buNone/>
            </a:pPr>
            <a:r>
              <a:rPr b="1" i="0" lang="en-US" sz="3300" u="none" cap="none" strike="noStrike">
                <a:solidFill>
                  <a:srgbClr val="084594"/>
                </a:solidFill>
                <a:latin typeface="Poppins"/>
                <a:ea typeface="Poppins"/>
                <a:cs typeface="Poppins"/>
                <a:sym typeface="Poppins"/>
              </a:rPr>
              <a:t>12 One-Week Sprints </a:t>
            </a:r>
            <a:r>
              <a:rPr b="1" lang="en-US" sz="3300">
                <a:solidFill>
                  <a:srgbClr val="084594"/>
                </a:solidFill>
                <a:latin typeface="Poppins"/>
                <a:ea typeface="Poppins"/>
                <a:cs typeface="Poppins"/>
                <a:sym typeface="Poppins"/>
              </a:rPr>
              <a:t>&amp;</a:t>
            </a:r>
            <a:r>
              <a:rPr b="1" i="0" lang="en-US" sz="3300" u="none" cap="none" strike="noStrike">
                <a:solidFill>
                  <a:srgbClr val="084594"/>
                </a:solidFill>
                <a:latin typeface="Poppins"/>
                <a:ea typeface="Poppins"/>
                <a:cs typeface="Poppins"/>
                <a:sym typeface="Poppins"/>
              </a:rPr>
              <a:t> Milestones</a:t>
            </a:r>
            <a:endParaRPr b="0" i="0" sz="3300" u="none" cap="none" strike="noStrike">
              <a:solidFill>
                <a:schemeClr val="dk1"/>
              </a:solidFill>
              <a:latin typeface="Calibri"/>
              <a:ea typeface="Calibri"/>
              <a:cs typeface="Calibri"/>
              <a:sym typeface="Calibri"/>
            </a:endParaRPr>
          </a:p>
        </p:txBody>
      </p:sp>
      <p:grpSp>
        <p:nvGrpSpPr>
          <p:cNvPr id="600" name="Google Shape;600;p19"/>
          <p:cNvGrpSpPr/>
          <p:nvPr/>
        </p:nvGrpSpPr>
        <p:grpSpPr>
          <a:xfrm>
            <a:off x="608306" y="3060207"/>
            <a:ext cx="17071376" cy="3485519"/>
            <a:chOff x="952500" y="2317750"/>
            <a:chExt cx="16421100" cy="3352750"/>
          </a:xfrm>
        </p:grpSpPr>
        <p:sp>
          <p:nvSpPr>
            <p:cNvPr id="601" name="Google Shape;601;p19"/>
            <p:cNvSpPr/>
            <p:nvPr/>
          </p:nvSpPr>
          <p:spPr>
            <a:xfrm>
              <a:off x="3619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1</a:t>
              </a:r>
              <a:endParaRPr b="0" i="0" sz="1247" u="none" cap="none" strike="noStrike">
                <a:solidFill>
                  <a:schemeClr val="dk1"/>
                </a:solidFill>
                <a:latin typeface="Calibri"/>
                <a:ea typeface="Calibri"/>
                <a:cs typeface="Calibri"/>
                <a:sym typeface="Calibri"/>
              </a:endParaRPr>
            </a:p>
          </p:txBody>
        </p:sp>
        <p:sp>
          <p:nvSpPr>
            <p:cNvPr id="602" name="Google Shape;602;p19"/>
            <p:cNvSpPr/>
            <p:nvPr/>
          </p:nvSpPr>
          <p:spPr>
            <a:xfrm>
              <a:off x="4762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2</a:t>
              </a:r>
              <a:endParaRPr b="0" i="0" sz="1247" u="none" cap="none" strike="noStrike">
                <a:solidFill>
                  <a:schemeClr val="dk1"/>
                </a:solidFill>
                <a:latin typeface="Calibri"/>
                <a:ea typeface="Calibri"/>
                <a:cs typeface="Calibri"/>
                <a:sym typeface="Calibri"/>
              </a:endParaRPr>
            </a:p>
          </p:txBody>
        </p:sp>
        <p:sp>
          <p:nvSpPr>
            <p:cNvPr id="603" name="Google Shape;603;p19"/>
            <p:cNvSpPr/>
            <p:nvPr/>
          </p:nvSpPr>
          <p:spPr>
            <a:xfrm>
              <a:off x="5905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3</a:t>
              </a:r>
              <a:endParaRPr b="0" i="0" sz="1247" u="none" cap="none" strike="noStrike">
                <a:solidFill>
                  <a:schemeClr val="dk1"/>
                </a:solidFill>
                <a:latin typeface="Calibri"/>
                <a:ea typeface="Calibri"/>
                <a:cs typeface="Calibri"/>
                <a:sym typeface="Calibri"/>
              </a:endParaRPr>
            </a:p>
          </p:txBody>
        </p:sp>
        <p:sp>
          <p:nvSpPr>
            <p:cNvPr id="604" name="Google Shape;604;p19"/>
            <p:cNvSpPr/>
            <p:nvPr/>
          </p:nvSpPr>
          <p:spPr>
            <a:xfrm>
              <a:off x="7048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4</a:t>
              </a:r>
              <a:endParaRPr b="0" i="0" sz="1247" u="none" cap="none" strike="noStrike">
                <a:solidFill>
                  <a:schemeClr val="dk1"/>
                </a:solidFill>
                <a:latin typeface="Calibri"/>
                <a:ea typeface="Calibri"/>
                <a:cs typeface="Calibri"/>
                <a:sym typeface="Calibri"/>
              </a:endParaRPr>
            </a:p>
          </p:txBody>
        </p:sp>
        <p:sp>
          <p:nvSpPr>
            <p:cNvPr id="605" name="Google Shape;605;p19"/>
            <p:cNvSpPr/>
            <p:nvPr/>
          </p:nvSpPr>
          <p:spPr>
            <a:xfrm>
              <a:off x="8191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5</a:t>
              </a:r>
              <a:endParaRPr b="0" i="0" sz="1247" u="none" cap="none" strike="noStrike">
                <a:solidFill>
                  <a:schemeClr val="dk1"/>
                </a:solidFill>
                <a:latin typeface="Calibri"/>
                <a:ea typeface="Calibri"/>
                <a:cs typeface="Calibri"/>
                <a:sym typeface="Calibri"/>
              </a:endParaRPr>
            </a:p>
          </p:txBody>
        </p:sp>
        <p:sp>
          <p:nvSpPr>
            <p:cNvPr id="606" name="Google Shape;606;p19"/>
            <p:cNvSpPr/>
            <p:nvPr/>
          </p:nvSpPr>
          <p:spPr>
            <a:xfrm>
              <a:off x="9334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6</a:t>
              </a:r>
              <a:endParaRPr b="0" i="0" sz="1247" u="none" cap="none" strike="noStrike">
                <a:solidFill>
                  <a:schemeClr val="dk1"/>
                </a:solidFill>
                <a:latin typeface="Calibri"/>
                <a:ea typeface="Calibri"/>
                <a:cs typeface="Calibri"/>
                <a:sym typeface="Calibri"/>
              </a:endParaRPr>
            </a:p>
          </p:txBody>
        </p:sp>
        <p:sp>
          <p:nvSpPr>
            <p:cNvPr id="607" name="Google Shape;607;p19"/>
            <p:cNvSpPr/>
            <p:nvPr/>
          </p:nvSpPr>
          <p:spPr>
            <a:xfrm>
              <a:off x="10477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7</a:t>
              </a:r>
              <a:endParaRPr b="0" i="0" sz="1247" u="none" cap="none" strike="noStrike">
                <a:solidFill>
                  <a:schemeClr val="dk1"/>
                </a:solidFill>
                <a:latin typeface="Calibri"/>
                <a:ea typeface="Calibri"/>
                <a:cs typeface="Calibri"/>
                <a:sym typeface="Calibri"/>
              </a:endParaRPr>
            </a:p>
          </p:txBody>
        </p:sp>
        <p:sp>
          <p:nvSpPr>
            <p:cNvPr id="608" name="Google Shape;608;p19"/>
            <p:cNvSpPr/>
            <p:nvPr/>
          </p:nvSpPr>
          <p:spPr>
            <a:xfrm>
              <a:off x="11620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8</a:t>
              </a:r>
              <a:endParaRPr b="0" i="0" sz="1247" u="none" cap="none" strike="noStrike">
                <a:solidFill>
                  <a:schemeClr val="dk1"/>
                </a:solidFill>
                <a:latin typeface="Calibri"/>
                <a:ea typeface="Calibri"/>
                <a:cs typeface="Calibri"/>
                <a:sym typeface="Calibri"/>
              </a:endParaRPr>
            </a:p>
          </p:txBody>
        </p:sp>
        <p:sp>
          <p:nvSpPr>
            <p:cNvPr id="609" name="Google Shape;609;p19"/>
            <p:cNvSpPr/>
            <p:nvPr/>
          </p:nvSpPr>
          <p:spPr>
            <a:xfrm>
              <a:off x="12763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9</a:t>
              </a:r>
              <a:endParaRPr b="0" i="0" sz="1247" u="none" cap="none" strike="noStrike">
                <a:solidFill>
                  <a:schemeClr val="dk1"/>
                </a:solidFill>
                <a:latin typeface="Calibri"/>
                <a:ea typeface="Calibri"/>
                <a:cs typeface="Calibri"/>
                <a:sym typeface="Calibri"/>
              </a:endParaRPr>
            </a:p>
          </p:txBody>
        </p:sp>
        <p:sp>
          <p:nvSpPr>
            <p:cNvPr id="610" name="Google Shape;610;p19"/>
            <p:cNvSpPr/>
            <p:nvPr/>
          </p:nvSpPr>
          <p:spPr>
            <a:xfrm>
              <a:off x="13906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10</a:t>
              </a:r>
              <a:endParaRPr b="0" i="0" sz="1247" u="none" cap="none" strike="noStrike">
                <a:solidFill>
                  <a:schemeClr val="dk1"/>
                </a:solidFill>
                <a:latin typeface="Calibri"/>
                <a:ea typeface="Calibri"/>
                <a:cs typeface="Calibri"/>
                <a:sym typeface="Calibri"/>
              </a:endParaRPr>
            </a:p>
          </p:txBody>
        </p:sp>
        <p:sp>
          <p:nvSpPr>
            <p:cNvPr id="611" name="Google Shape;611;p19"/>
            <p:cNvSpPr/>
            <p:nvPr/>
          </p:nvSpPr>
          <p:spPr>
            <a:xfrm>
              <a:off x="15049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11</a:t>
              </a:r>
              <a:endParaRPr b="0" i="0" sz="1247" u="none" cap="none" strike="noStrike">
                <a:solidFill>
                  <a:schemeClr val="dk1"/>
                </a:solidFill>
                <a:latin typeface="Calibri"/>
                <a:ea typeface="Calibri"/>
                <a:cs typeface="Calibri"/>
                <a:sym typeface="Calibri"/>
              </a:endParaRPr>
            </a:p>
          </p:txBody>
        </p:sp>
        <p:sp>
          <p:nvSpPr>
            <p:cNvPr id="612" name="Google Shape;612;p19"/>
            <p:cNvSpPr/>
            <p:nvPr/>
          </p:nvSpPr>
          <p:spPr>
            <a:xfrm>
              <a:off x="16192500" y="2317750"/>
              <a:ext cx="1181100" cy="2604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4A6785"/>
                </a:buClr>
                <a:buSzPts val="1247"/>
                <a:buFont typeface="Poppins"/>
                <a:buNone/>
              </a:pPr>
              <a:r>
                <a:rPr b="1" i="0" lang="en-US" sz="1247" u="none" cap="none" strike="noStrike">
                  <a:solidFill>
                    <a:srgbClr val="4A6785"/>
                  </a:solidFill>
                  <a:latin typeface="Poppins"/>
                  <a:ea typeface="Poppins"/>
                  <a:cs typeface="Poppins"/>
                  <a:sym typeface="Poppins"/>
                </a:rPr>
                <a:t>12</a:t>
              </a:r>
              <a:endParaRPr b="0" i="0" sz="1247" u="none" cap="none" strike="noStrike">
                <a:solidFill>
                  <a:schemeClr val="dk1"/>
                </a:solidFill>
                <a:latin typeface="Calibri"/>
                <a:ea typeface="Calibri"/>
                <a:cs typeface="Calibri"/>
                <a:sym typeface="Calibri"/>
              </a:endParaRPr>
            </a:p>
          </p:txBody>
        </p:sp>
        <p:sp>
          <p:nvSpPr>
            <p:cNvPr id="613" name="Google Shape;613;p19"/>
            <p:cNvSpPr/>
            <p:nvPr/>
          </p:nvSpPr>
          <p:spPr>
            <a:xfrm>
              <a:off x="952500" y="26606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Literature + scope</a:t>
              </a:r>
              <a:endParaRPr b="0" i="0" sz="1533" u="none" cap="none" strike="noStrike">
                <a:solidFill>
                  <a:schemeClr val="dk1"/>
                </a:solidFill>
                <a:latin typeface="Calibri"/>
                <a:ea typeface="Calibri"/>
                <a:cs typeface="Calibri"/>
                <a:sym typeface="Calibri"/>
              </a:endParaRPr>
            </a:p>
          </p:txBody>
        </p:sp>
        <p:sp>
          <p:nvSpPr>
            <p:cNvPr id="614" name="Google Shape;614;p19"/>
            <p:cNvSpPr/>
            <p:nvPr/>
          </p:nvSpPr>
          <p:spPr>
            <a:xfrm>
              <a:off x="3657600" y="2616200"/>
              <a:ext cx="1104900" cy="285900"/>
            </a:xfrm>
            <a:prstGeom prst="roundRect">
              <a:avLst>
                <a:gd fmla="val 20000" name="adj"/>
              </a:avLst>
            </a:prstGeom>
            <a:solidFill>
              <a:srgbClr val="2171B5"/>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15" name="Google Shape;615;p19"/>
            <p:cNvSpPr/>
            <p:nvPr/>
          </p:nvSpPr>
          <p:spPr>
            <a:xfrm>
              <a:off x="4800600" y="2616200"/>
              <a:ext cx="1104900" cy="285900"/>
            </a:xfrm>
            <a:prstGeom prst="roundRect">
              <a:avLst>
                <a:gd fmla="val 20000" name="adj"/>
              </a:avLst>
            </a:prstGeom>
            <a:solidFill>
              <a:srgbClr val="2171B5"/>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16" name="Google Shape;616;p19"/>
            <p:cNvSpPr/>
            <p:nvPr/>
          </p:nvSpPr>
          <p:spPr>
            <a:xfrm>
              <a:off x="5943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17" name="Google Shape;617;p19"/>
            <p:cNvSpPr/>
            <p:nvPr/>
          </p:nvSpPr>
          <p:spPr>
            <a:xfrm>
              <a:off x="7086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18" name="Google Shape;618;p19"/>
            <p:cNvSpPr/>
            <p:nvPr/>
          </p:nvSpPr>
          <p:spPr>
            <a:xfrm>
              <a:off x="8229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19" name="Google Shape;619;p19"/>
            <p:cNvSpPr/>
            <p:nvPr/>
          </p:nvSpPr>
          <p:spPr>
            <a:xfrm>
              <a:off x="9372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0" name="Google Shape;620;p19"/>
            <p:cNvSpPr/>
            <p:nvPr/>
          </p:nvSpPr>
          <p:spPr>
            <a:xfrm>
              <a:off x="10515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1" name="Google Shape;621;p19"/>
            <p:cNvSpPr/>
            <p:nvPr/>
          </p:nvSpPr>
          <p:spPr>
            <a:xfrm>
              <a:off x="11658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2" name="Google Shape;622;p19"/>
            <p:cNvSpPr/>
            <p:nvPr/>
          </p:nvSpPr>
          <p:spPr>
            <a:xfrm>
              <a:off x="12801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3" name="Google Shape;623;p19"/>
            <p:cNvSpPr/>
            <p:nvPr/>
          </p:nvSpPr>
          <p:spPr>
            <a:xfrm>
              <a:off x="13944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4" name="Google Shape;624;p19"/>
            <p:cNvSpPr/>
            <p:nvPr/>
          </p:nvSpPr>
          <p:spPr>
            <a:xfrm>
              <a:off x="15087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5" name="Google Shape;625;p19"/>
            <p:cNvSpPr/>
            <p:nvPr/>
          </p:nvSpPr>
          <p:spPr>
            <a:xfrm>
              <a:off x="16230600" y="26162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6" name="Google Shape;626;p19"/>
            <p:cNvSpPr/>
            <p:nvPr/>
          </p:nvSpPr>
          <p:spPr>
            <a:xfrm>
              <a:off x="952500" y="30035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Datasets + validators</a:t>
              </a:r>
              <a:endParaRPr b="0" i="0" sz="1533" u="none" cap="none" strike="noStrike">
                <a:solidFill>
                  <a:schemeClr val="dk1"/>
                </a:solidFill>
                <a:latin typeface="Calibri"/>
                <a:ea typeface="Calibri"/>
                <a:cs typeface="Calibri"/>
                <a:sym typeface="Calibri"/>
              </a:endParaRPr>
            </a:p>
          </p:txBody>
        </p:sp>
        <p:sp>
          <p:nvSpPr>
            <p:cNvPr id="627" name="Google Shape;627;p19"/>
            <p:cNvSpPr/>
            <p:nvPr/>
          </p:nvSpPr>
          <p:spPr>
            <a:xfrm>
              <a:off x="3657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8" name="Google Shape;628;p19"/>
            <p:cNvSpPr/>
            <p:nvPr/>
          </p:nvSpPr>
          <p:spPr>
            <a:xfrm>
              <a:off x="4800600" y="29591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29" name="Google Shape;629;p19"/>
            <p:cNvSpPr/>
            <p:nvPr/>
          </p:nvSpPr>
          <p:spPr>
            <a:xfrm>
              <a:off x="5943600" y="29591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0" name="Google Shape;630;p19"/>
            <p:cNvSpPr/>
            <p:nvPr/>
          </p:nvSpPr>
          <p:spPr>
            <a:xfrm>
              <a:off x="7086600" y="29591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1" name="Google Shape;631;p19"/>
            <p:cNvSpPr/>
            <p:nvPr/>
          </p:nvSpPr>
          <p:spPr>
            <a:xfrm>
              <a:off x="8229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2" name="Google Shape;632;p19"/>
            <p:cNvSpPr/>
            <p:nvPr/>
          </p:nvSpPr>
          <p:spPr>
            <a:xfrm>
              <a:off x="9372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3" name="Google Shape;633;p19"/>
            <p:cNvSpPr/>
            <p:nvPr/>
          </p:nvSpPr>
          <p:spPr>
            <a:xfrm>
              <a:off x="10515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4" name="Google Shape;634;p19"/>
            <p:cNvSpPr/>
            <p:nvPr/>
          </p:nvSpPr>
          <p:spPr>
            <a:xfrm>
              <a:off x="11658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5" name="Google Shape;635;p19"/>
            <p:cNvSpPr/>
            <p:nvPr/>
          </p:nvSpPr>
          <p:spPr>
            <a:xfrm>
              <a:off x="12801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6" name="Google Shape;636;p19"/>
            <p:cNvSpPr/>
            <p:nvPr/>
          </p:nvSpPr>
          <p:spPr>
            <a:xfrm>
              <a:off x="13944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7" name="Google Shape;637;p19"/>
            <p:cNvSpPr/>
            <p:nvPr/>
          </p:nvSpPr>
          <p:spPr>
            <a:xfrm>
              <a:off x="15087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8" name="Google Shape;638;p19"/>
            <p:cNvSpPr/>
            <p:nvPr/>
          </p:nvSpPr>
          <p:spPr>
            <a:xfrm>
              <a:off x="16230600" y="29591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39" name="Google Shape;639;p19"/>
            <p:cNvSpPr/>
            <p:nvPr/>
          </p:nvSpPr>
          <p:spPr>
            <a:xfrm>
              <a:off x="952500" y="33464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SLM baselines + logging</a:t>
              </a:r>
              <a:endParaRPr b="0" i="0" sz="1533" u="none" cap="none" strike="noStrike">
                <a:solidFill>
                  <a:schemeClr val="dk1"/>
                </a:solidFill>
                <a:latin typeface="Calibri"/>
                <a:ea typeface="Calibri"/>
                <a:cs typeface="Calibri"/>
                <a:sym typeface="Calibri"/>
              </a:endParaRPr>
            </a:p>
          </p:txBody>
        </p:sp>
        <p:sp>
          <p:nvSpPr>
            <p:cNvPr id="640" name="Google Shape;640;p19"/>
            <p:cNvSpPr/>
            <p:nvPr/>
          </p:nvSpPr>
          <p:spPr>
            <a:xfrm>
              <a:off x="3657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1" name="Google Shape;641;p19"/>
            <p:cNvSpPr/>
            <p:nvPr/>
          </p:nvSpPr>
          <p:spPr>
            <a:xfrm>
              <a:off x="4800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2" name="Google Shape;642;p19"/>
            <p:cNvSpPr/>
            <p:nvPr/>
          </p:nvSpPr>
          <p:spPr>
            <a:xfrm>
              <a:off x="5943600" y="33020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3" name="Google Shape;643;p19"/>
            <p:cNvSpPr/>
            <p:nvPr/>
          </p:nvSpPr>
          <p:spPr>
            <a:xfrm>
              <a:off x="7086600" y="33020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4" name="Google Shape;644;p19"/>
            <p:cNvSpPr/>
            <p:nvPr/>
          </p:nvSpPr>
          <p:spPr>
            <a:xfrm>
              <a:off x="8229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5" name="Google Shape;645;p19"/>
            <p:cNvSpPr/>
            <p:nvPr/>
          </p:nvSpPr>
          <p:spPr>
            <a:xfrm>
              <a:off x="9372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6" name="Google Shape;646;p19"/>
            <p:cNvSpPr/>
            <p:nvPr/>
          </p:nvSpPr>
          <p:spPr>
            <a:xfrm>
              <a:off x="10515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7" name="Google Shape;647;p19"/>
            <p:cNvSpPr/>
            <p:nvPr/>
          </p:nvSpPr>
          <p:spPr>
            <a:xfrm>
              <a:off x="11658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8" name="Google Shape;648;p19"/>
            <p:cNvSpPr/>
            <p:nvPr/>
          </p:nvSpPr>
          <p:spPr>
            <a:xfrm>
              <a:off x="12801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49" name="Google Shape;649;p19"/>
            <p:cNvSpPr/>
            <p:nvPr/>
          </p:nvSpPr>
          <p:spPr>
            <a:xfrm>
              <a:off x="13944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0" name="Google Shape;650;p19"/>
            <p:cNvSpPr/>
            <p:nvPr/>
          </p:nvSpPr>
          <p:spPr>
            <a:xfrm>
              <a:off x="15087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1" name="Google Shape;651;p19"/>
            <p:cNvSpPr/>
            <p:nvPr/>
          </p:nvSpPr>
          <p:spPr>
            <a:xfrm>
              <a:off x="16230600" y="33020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2" name="Google Shape;652;p19"/>
            <p:cNvSpPr/>
            <p:nvPr/>
          </p:nvSpPr>
          <p:spPr>
            <a:xfrm>
              <a:off x="952500" y="36893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Action-outcome generation</a:t>
              </a:r>
              <a:endParaRPr b="0" i="0" sz="1533" u="none" cap="none" strike="noStrike">
                <a:solidFill>
                  <a:schemeClr val="dk1"/>
                </a:solidFill>
                <a:latin typeface="Calibri"/>
                <a:ea typeface="Calibri"/>
                <a:cs typeface="Calibri"/>
                <a:sym typeface="Calibri"/>
              </a:endParaRPr>
            </a:p>
          </p:txBody>
        </p:sp>
        <p:sp>
          <p:nvSpPr>
            <p:cNvPr id="653" name="Google Shape;653;p19"/>
            <p:cNvSpPr/>
            <p:nvPr/>
          </p:nvSpPr>
          <p:spPr>
            <a:xfrm>
              <a:off x="3657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4" name="Google Shape;654;p19"/>
            <p:cNvSpPr/>
            <p:nvPr/>
          </p:nvSpPr>
          <p:spPr>
            <a:xfrm>
              <a:off x="4800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5" name="Google Shape;655;p19"/>
            <p:cNvSpPr/>
            <p:nvPr/>
          </p:nvSpPr>
          <p:spPr>
            <a:xfrm>
              <a:off x="5943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6" name="Google Shape;656;p19"/>
            <p:cNvSpPr/>
            <p:nvPr/>
          </p:nvSpPr>
          <p:spPr>
            <a:xfrm>
              <a:off x="7086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7" name="Google Shape;657;p19"/>
            <p:cNvSpPr/>
            <p:nvPr/>
          </p:nvSpPr>
          <p:spPr>
            <a:xfrm>
              <a:off x="8229600" y="3644900"/>
              <a:ext cx="1104900" cy="285900"/>
            </a:xfrm>
            <a:prstGeom prst="roundRect">
              <a:avLst>
                <a:gd fmla="val 20000" name="adj"/>
              </a:avLst>
            </a:prstGeom>
            <a:solidFill>
              <a:srgbClr val="4292C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8" name="Google Shape;658;p19"/>
            <p:cNvSpPr/>
            <p:nvPr/>
          </p:nvSpPr>
          <p:spPr>
            <a:xfrm>
              <a:off x="9372600" y="3644900"/>
              <a:ext cx="1104900" cy="285900"/>
            </a:xfrm>
            <a:prstGeom prst="roundRect">
              <a:avLst>
                <a:gd fmla="val 20000" name="adj"/>
              </a:avLst>
            </a:prstGeom>
            <a:solidFill>
              <a:srgbClr val="4292C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59" name="Google Shape;659;p19"/>
            <p:cNvSpPr/>
            <p:nvPr/>
          </p:nvSpPr>
          <p:spPr>
            <a:xfrm>
              <a:off x="10515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0" name="Google Shape;660;p19"/>
            <p:cNvSpPr/>
            <p:nvPr/>
          </p:nvSpPr>
          <p:spPr>
            <a:xfrm>
              <a:off x="11658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1" name="Google Shape;661;p19"/>
            <p:cNvSpPr/>
            <p:nvPr/>
          </p:nvSpPr>
          <p:spPr>
            <a:xfrm>
              <a:off x="12801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2" name="Google Shape;662;p19"/>
            <p:cNvSpPr/>
            <p:nvPr/>
          </p:nvSpPr>
          <p:spPr>
            <a:xfrm>
              <a:off x="13944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3" name="Google Shape;663;p19"/>
            <p:cNvSpPr/>
            <p:nvPr/>
          </p:nvSpPr>
          <p:spPr>
            <a:xfrm>
              <a:off x="15087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4" name="Google Shape;664;p19"/>
            <p:cNvSpPr/>
            <p:nvPr/>
          </p:nvSpPr>
          <p:spPr>
            <a:xfrm>
              <a:off x="16230600" y="36449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5" name="Google Shape;665;p19"/>
            <p:cNvSpPr/>
            <p:nvPr/>
          </p:nvSpPr>
          <p:spPr>
            <a:xfrm>
              <a:off x="952500" y="40322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ACRE training + calibration</a:t>
              </a:r>
              <a:endParaRPr b="0" i="0" sz="1533" u="none" cap="none" strike="noStrike">
                <a:solidFill>
                  <a:schemeClr val="dk1"/>
                </a:solidFill>
                <a:latin typeface="Calibri"/>
                <a:ea typeface="Calibri"/>
                <a:cs typeface="Calibri"/>
                <a:sym typeface="Calibri"/>
              </a:endParaRPr>
            </a:p>
          </p:txBody>
        </p:sp>
        <p:sp>
          <p:nvSpPr>
            <p:cNvPr id="666" name="Google Shape;666;p19"/>
            <p:cNvSpPr/>
            <p:nvPr/>
          </p:nvSpPr>
          <p:spPr>
            <a:xfrm>
              <a:off x="3657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7" name="Google Shape;667;p19"/>
            <p:cNvSpPr/>
            <p:nvPr/>
          </p:nvSpPr>
          <p:spPr>
            <a:xfrm>
              <a:off x="4800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8" name="Google Shape;668;p19"/>
            <p:cNvSpPr/>
            <p:nvPr/>
          </p:nvSpPr>
          <p:spPr>
            <a:xfrm>
              <a:off x="5943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69" name="Google Shape;669;p19"/>
            <p:cNvSpPr/>
            <p:nvPr/>
          </p:nvSpPr>
          <p:spPr>
            <a:xfrm>
              <a:off x="7086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0" name="Google Shape;670;p19"/>
            <p:cNvSpPr/>
            <p:nvPr/>
          </p:nvSpPr>
          <p:spPr>
            <a:xfrm>
              <a:off x="8229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1" name="Google Shape;671;p19"/>
            <p:cNvSpPr/>
            <p:nvPr/>
          </p:nvSpPr>
          <p:spPr>
            <a:xfrm>
              <a:off x="9372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2" name="Google Shape;672;p19"/>
            <p:cNvSpPr/>
            <p:nvPr/>
          </p:nvSpPr>
          <p:spPr>
            <a:xfrm>
              <a:off x="10515600" y="3987800"/>
              <a:ext cx="1104900" cy="285900"/>
            </a:xfrm>
            <a:prstGeom prst="roundRect">
              <a:avLst>
                <a:gd fmla="val 20000" name="adj"/>
              </a:avLst>
            </a:prstGeom>
            <a:solidFill>
              <a:srgbClr val="2171B5"/>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3" name="Google Shape;673;p19"/>
            <p:cNvSpPr/>
            <p:nvPr/>
          </p:nvSpPr>
          <p:spPr>
            <a:xfrm>
              <a:off x="11658600" y="3987800"/>
              <a:ext cx="1104900" cy="285900"/>
            </a:xfrm>
            <a:prstGeom prst="roundRect">
              <a:avLst>
                <a:gd fmla="val 20000" name="adj"/>
              </a:avLst>
            </a:prstGeom>
            <a:solidFill>
              <a:srgbClr val="2171B5"/>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4" name="Google Shape;674;p19"/>
            <p:cNvSpPr/>
            <p:nvPr/>
          </p:nvSpPr>
          <p:spPr>
            <a:xfrm>
              <a:off x="12801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5" name="Google Shape;675;p19"/>
            <p:cNvSpPr/>
            <p:nvPr/>
          </p:nvSpPr>
          <p:spPr>
            <a:xfrm>
              <a:off x="13944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6" name="Google Shape;676;p19"/>
            <p:cNvSpPr/>
            <p:nvPr/>
          </p:nvSpPr>
          <p:spPr>
            <a:xfrm>
              <a:off x="15087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7" name="Google Shape;677;p19"/>
            <p:cNvSpPr/>
            <p:nvPr/>
          </p:nvSpPr>
          <p:spPr>
            <a:xfrm>
              <a:off x="16230600" y="39878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78" name="Google Shape;678;p19"/>
            <p:cNvSpPr/>
            <p:nvPr/>
          </p:nvSpPr>
          <p:spPr>
            <a:xfrm>
              <a:off x="952500" y="43751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Baselines + ablations</a:t>
              </a:r>
              <a:endParaRPr b="0" i="0" sz="1533" u="none" cap="none" strike="noStrike">
                <a:solidFill>
                  <a:schemeClr val="dk1"/>
                </a:solidFill>
                <a:latin typeface="Calibri"/>
                <a:ea typeface="Calibri"/>
                <a:cs typeface="Calibri"/>
                <a:sym typeface="Calibri"/>
              </a:endParaRPr>
            </a:p>
          </p:txBody>
        </p:sp>
        <p:sp>
          <p:nvSpPr>
            <p:cNvPr id="679" name="Google Shape;679;p19"/>
            <p:cNvSpPr/>
            <p:nvPr/>
          </p:nvSpPr>
          <p:spPr>
            <a:xfrm>
              <a:off x="3657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0" name="Google Shape;680;p19"/>
            <p:cNvSpPr/>
            <p:nvPr/>
          </p:nvSpPr>
          <p:spPr>
            <a:xfrm>
              <a:off x="4800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1" name="Google Shape;681;p19"/>
            <p:cNvSpPr/>
            <p:nvPr/>
          </p:nvSpPr>
          <p:spPr>
            <a:xfrm>
              <a:off x="5943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2" name="Google Shape;682;p19"/>
            <p:cNvSpPr/>
            <p:nvPr/>
          </p:nvSpPr>
          <p:spPr>
            <a:xfrm>
              <a:off x="7086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3" name="Google Shape;683;p19"/>
            <p:cNvSpPr/>
            <p:nvPr/>
          </p:nvSpPr>
          <p:spPr>
            <a:xfrm>
              <a:off x="8229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4" name="Google Shape;684;p19"/>
            <p:cNvSpPr/>
            <p:nvPr/>
          </p:nvSpPr>
          <p:spPr>
            <a:xfrm>
              <a:off x="9372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5" name="Google Shape;685;p19"/>
            <p:cNvSpPr/>
            <p:nvPr/>
          </p:nvSpPr>
          <p:spPr>
            <a:xfrm>
              <a:off x="10515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6" name="Google Shape;686;p19"/>
            <p:cNvSpPr/>
            <p:nvPr/>
          </p:nvSpPr>
          <p:spPr>
            <a:xfrm>
              <a:off x="11658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7" name="Google Shape;687;p19"/>
            <p:cNvSpPr/>
            <p:nvPr/>
          </p:nvSpPr>
          <p:spPr>
            <a:xfrm>
              <a:off x="12801600" y="43307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8" name="Google Shape;688;p19"/>
            <p:cNvSpPr/>
            <p:nvPr/>
          </p:nvSpPr>
          <p:spPr>
            <a:xfrm>
              <a:off x="13944600" y="43307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89" name="Google Shape;689;p19"/>
            <p:cNvSpPr/>
            <p:nvPr/>
          </p:nvSpPr>
          <p:spPr>
            <a:xfrm>
              <a:off x="15087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0" name="Google Shape;690;p19"/>
            <p:cNvSpPr/>
            <p:nvPr/>
          </p:nvSpPr>
          <p:spPr>
            <a:xfrm>
              <a:off x="16230600" y="43307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1" name="Google Shape;691;p19"/>
            <p:cNvSpPr/>
            <p:nvPr/>
          </p:nvSpPr>
          <p:spPr>
            <a:xfrm>
              <a:off x="952500" y="47180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Cross-SLM / error analysis</a:t>
              </a:r>
              <a:endParaRPr b="0" i="0" sz="1533" u="none" cap="none" strike="noStrike">
                <a:solidFill>
                  <a:schemeClr val="dk1"/>
                </a:solidFill>
                <a:latin typeface="Calibri"/>
                <a:ea typeface="Calibri"/>
                <a:cs typeface="Calibri"/>
                <a:sym typeface="Calibri"/>
              </a:endParaRPr>
            </a:p>
          </p:txBody>
        </p:sp>
        <p:sp>
          <p:nvSpPr>
            <p:cNvPr id="692" name="Google Shape;692;p19"/>
            <p:cNvSpPr/>
            <p:nvPr/>
          </p:nvSpPr>
          <p:spPr>
            <a:xfrm>
              <a:off x="3657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3" name="Google Shape;693;p19"/>
            <p:cNvSpPr/>
            <p:nvPr/>
          </p:nvSpPr>
          <p:spPr>
            <a:xfrm>
              <a:off x="4800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4" name="Google Shape;694;p19"/>
            <p:cNvSpPr/>
            <p:nvPr/>
          </p:nvSpPr>
          <p:spPr>
            <a:xfrm>
              <a:off x="5943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5" name="Google Shape;695;p19"/>
            <p:cNvSpPr/>
            <p:nvPr/>
          </p:nvSpPr>
          <p:spPr>
            <a:xfrm>
              <a:off x="7086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6" name="Google Shape;696;p19"/>
            <p:cNvSpPr/>
            <p:nvPr/>
          </p:nvSpPr>
          <p:spPr>
            <a:xfrm>
              <a:off x="8229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7" name="Google Shape;697;p19"/>
            <p:cNvSpPr/>
            <p:nvPr/>
          </p:nvSpPr>
          <p:spPr>
            <a:xfrm>
              <a:off x="9372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8" name="Google Shape;698;p19"/>
            <p:cNvSpPr/>
            <p:nvPr/>
          </p:nvSpPr>
          <p:spPr>
            <a:xfrm>
              <a:off x="10515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699" name="Google Shape;699;p19"/>
            <p:cNvSpPr/>
            <p:nvPr/>
          </p:nvSpPr>
          <p:spPr>
            <a:xfrm>
              <a:off x="11658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0" name="Google Shape;700;p19"/>
            <p:cNvSpPr/>
            <p:nvPr/>
          </p:nvSpPr>
          <p:spPr>
            <a:xfrm>
              <a:off x="12801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1" name="Google Shape;701;p19"/>
            <p:cNvSpPr/>
            <p:nvPr/>
          </p:nvSpPr>
          <p:spPr>
            <a:xfrm>
              <a:off x="13944600" y="4673600"/>
              <a:ext cx="1104900" cy="285900"/>
            </a:xfrm>
            <a:prstGeom prst="roundRect">
              <a:avLst>
                <a:gd fmla="val 20000" name="adj"/>
              </a:avLst>
            </a:prstGeom>
            <a:solidFill>
              <a:srgbClr val="6BAED6"/>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2" name="Google Shape;702;p19"/>
            <p:cNvSpPr/>
            <p:nvPr/>
          </p:nvSpPr>
          <p:spPr>
            <a:xfrm>
              <a:off x="15087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3" name="Google Shape;703;p19"/>
            <p:cNvSpPr/>
            <p:nvPr/>
          </p:nvSpPr>
          <p:spPr>
            <a:xfrm>
              <a:off x="16230600" y="46736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4" name="Google Shape;704;p19"/>
            <p:cNvSpPr/>
            <p:nvPr/>
          </p:nvSpPr>
          <p:spPr>
            <a:xfrm>
              <a:off x="952500" y="5060950"/>
              <a:ext cx="2933700" cy="234900"/>
            </a:xfrm>
            <a:prstGeom prst="rect">
              <a:avLst/>
            </a:prstGeom>
            <a:noFill/>
            <a:ln>
              <a:noFill/>
            </a:ln>
          </p:spPr>
          <p:txBody>
            <a:bodyPr anchorCtr="0" anchor="t" bIns="26400" lIns="26400" spcFirstLastPara="1" rIns="26400" wrap="square" tIns="26400">
              <a:noAutofit/>
            </a:bodyPr>
            <a:lstStyle/>
            <a:p>
              <a:pPr indent="0" lvl="0" marL="0" marR="0" rtl="0" algn="l">
                <a:spcBef>
                  <a:spcPts val="0"/>
                </a:spcBef>
                <a:spcAft>
                  <a:spcPts val="0"/>
                </a:spcAft>
                <a:buClr>
                  <a:srgbClr val="16324A"/>
                </a:buClr>
                <a:buSzPts val="1325"/>
                <a:buFont typeface="Inter"/>
                <a:buNone/>
              </a:pPr>
              <a:r>
                <a:rPr b="0" i="0" lang="en-US" sz="1533" u="none" cap="none" strike="noStrike">
                  <a:solidFill>
                    <a:srgbClr val="16324A"/>
                  </a:solidFill>
                  <a:latin typeface="Inter"/>
                  <a:ea typeface="Inter"/>
                  <a:cs typeface="Inter"/>
                  <a:sym typeface="Inter"/>
                </a:rPr>
                <a:t>Paper + demo + presentation</a:t>
              </a:r>
              <a:endParaRPr b="0" i="0" sz="1533" u="none" cap="none" strike="noStrike">
                <a:solidFill>
                  <a:schemeClr val="dk1"/>
                </a:solidFill>
                <a:latin typeface="Calibri"/>
                <a:ea typeface="Calibri"/>
                <a:cs typeface="Calibri"/>
                <a:sym typeface="Calibri"/>
              </a:endParaRPr>
            </a:p>
          </p:txBody>
        </p:sp>
        <p:sp>
          <p:nvSpPr>
            <p:cNvPr id="705" name="Google Shape;705;p19"/>
            <p:cNvSpPr/>
            <p:nvPr/>
          </p:nvSpPr>
          <p:spPr>
            <a:xfrm>
              <a:off x="3657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6" name="Google Shape;706;p19"/>
            <p:cNvSpPr/>
            <p:nvPr/>
          </p:nvSpPr>
          <p:spPr>
            <a:xfrm>
              <a:off x="4800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7" name="Google Shape;707;p19"/>
            <p:cNvSpPr/>
            <p:nvPr/>
          </p:nvSpPr>
          <p:spPr>
            <a:xfrm>
              <a:off x="5943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8" name="Google Shape;708;p19"/>
            <p:cNvSpPr/>
            <p:nvPr/>
          </p:nvSpPr>
          <p:spPr>
            <a:xfrm>
              <a:off x="7086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09" name="Google Shape;709;p19"/>
            <p:cNvSpPr/>
            <p:nvPr/>
          </p:nvSpPr>
          <p:spPr>
            <a:xfrm>
              <a:off x="8229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0" name="Google Shape;710;p19"/>
            <p:cNvSpPr/>
            <p:nvPr/>
          </p:nvSpPr>
          <p:spPr>
            <a:xfrm>
              <a:off x="9372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1" name="Google Shape;711;p19"/>
            <p:cNvSpPr/>
            <p:nvPr/>
          </p:nvSpPr>
          <p:spPr>
            <a:xfrm>
              <a:off x="10515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2" name="Google Shape;712;p19"/>
            <p:cNvSpPr/>
            <p:nvPr/>
          </p:nvSpPr>
          <p:spPr>
            <a:xfrm>
              <a:off x="11658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3" name="Google Shape;713;p19"/>
            <p:cNvSpPr/>
            <p:nvPr/>
          </p:nvSpPr>
          <p:spPr>
            <a:xfrm>
              <a:off x="12801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4" name="Google Shape;714;p19"/>
            <p:cNvSpPr/>
            <p:nvPr/>
          </p:nvSpPr>
          <p:spPr>
            <a:xfrm>
              <a:off x="13944600" y="5016500"/>
              <a:ext cx="1104900" cy="285900"/>
            </a:xfrm>
            <a:prstGeom prst="roundRect">
              <a:avLst>
                <a:gd fmla="val 20000" name="adj"/>
              </a:avLst>
            </a:prstGeom>
            <a:solidFill>
              <a:srgbClr val="DEEBF7"/>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5" name="Google Shape;715;p19"/>
            <p:cNvSpPr/>
            <p:nvPr/>
          </p:nvSpPr>
          <p:spPr>
            <a:xfrm>
              <a:off x="15087600" y="5016500"/>
              <a:ext cx="1104900" cy="285900"/>
            </a:xfrm>
            <a:prstGeom prst="roundRect">
              <a:avLst>
                <a:gd fmla="val 20000" name="adj"/>
              </a:avLst>
            </a:prstGeom>
            <a:solidFill>
              <a:srgbClr val="084594"/>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6" name="Google Shape;716;p19"/>
            <p:cNvSpPr/>
            <p:nvPr/>
          </p:nvSpPr>
          <p:spPr>
            <a:xfrm>
              <a:off x="16230600" y="5016500"/>
              <a:ext cx="1104900" cy="285900"/>
            </a:xfrm>
            <a:prstGeom prst="roundRect">
              <a:avLst>
                <a:gd fmla="val 20000" name="adj"/>
              </a:avLst>
            </a:prstGeom>
            <a:solidFill>
              <a:srgbClr val="084594"/>
            </a:solidFill>
            <a:ln>
              <a:noFill/>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7" name="Google Shape;717;p19"/>
            <p:cNvSpPr/>
            <p:nvPr/>
          </p:nvSpPr>
          <p:spPr>
            <a:xfrm>
              <a:off x="4762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M1</a:t>
              </a:r>
              <a:endParaRPr b="0" i="0" sz="1092" u="none" cap="none" strike="noStrike">
                <a:solidFill>
                  <a:schemeClr val="dk1"/>
                </a:solidFill>
                <a:latin typeface="Calibri"/>
                <a:ea typeface="Calibri"/>
                <a:cs typeface="Calibri"/>
                <a:sym typeface="Calibri"/>
              </a:endParaRPr>
            </a:p>
          </p:txBody>
        </p:sp>
        <p:sp>
          <p:nvSpPr>
            <p:cNvPr id="718" name="Google Shape;718;p19"/>
            <p:cNvSpPr/>
            <p:nvPr/>
          </p:nvSpPr>
          <p:spPr>
            <a:xfrm>
              <a:off x="7048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M2</a:t>
              </a:r>
              <a:endParaRPr b="0" i="0" sz="1092" u="none" cap="none" strike="noStrike">
                <a:solidFill>
                  <a:schemeClr val="dk1"/>
                </a:solidFill>
                <a:latin typeface="Calibri"/>
                <a:ea typeface="Calibri"/>
                <a:cs typeface="Calibri"/>
                <a:sym typeface="Calibri"/>
              </a:endParaRPr>
            </a:p>
          </p:txBody>
        </p:sp>
        <p:sp>
          <p:nvSpPr>
            <p:cNvPr id="719" name="Google Shape;719;p19"/>
            <p:cNvSpPr/>
            <p:nvPr/>
          </p:nvSpPr>
          <p:spPr>
            <a:xfrm>
              <a:off x="9334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M3</a:t>
              </a:r>
              <a:endParaRPr b="0" i="0" sz="1092" u="none" cap="none" strike="noStrike">
                <a:solidFill>
                  <a:schemeClr val="dk1"/>
                </a:solidFill>
                <a:latin typeface="Calibri"/>
                <a:ea typeface="Calibri"/>
                <a:cs typeface="Calibri"/>
                <a:sym typeface="Calibri"/>
              </a:endParaRPr>
            </a:p>
          </p:txBody>
        </p:sp>
        <p:sp>
          <p:nvSpPr>
            <p:cNvPr id="720" name="Google Shape;720;p19"/>
            <p:cNvSpPr/>
            <p:nvPr/>
          </p:nvSpPr>
          <p:spPr>
            <a:xfrm>
              <a:off x="11620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M4</a:t>
              </a:r>
              <a:endParaRPr b="0" i="0" sz="1092" u="none" cap="none" strike="noStrike">
                <a:solidFill>
                  <a:schemeClr val="dk1"/>
                </a:solidFill>
                <a:latin typeface="Calibri"/>
                <a:ea typeface="Calibri"/>
                <a:cs typeface="Calibri"/>
                <a:sym typeface="Calibri"/>
              </a:endParaRPr>
            </a:p>
          </p:txBody>
        </p:sp>
        <p:sp>
          <p:nvSpPr>
            <p:cNvPr id="721" name="Google Shape;721;p19"/>
            <p:cNvSpPr/>
            <p:nvPr/>
          </p:nvSpPr>
          <p:spPr>
            <a:xfrm>
              <a:off x="13906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M5</a:t>
              </a:r>
              <a:endParaRPr b="0" i="0" sz="1092" u="none" cap="none" strike="noStrike">
                <a:solidFill>
                  <a:schemeClr val="dk1"/>
                </a:solidFill>
                <a:latin typeface="Calibri"/>
                <a:ea typeface="Calibri"/>
                <a:cs typeface="Calibri"/>
                <a:sym typeface="Calibri"/>
              </a:endParaRPr>
            </a:p>
          </p:txBody>
        </p:sp>
        <p:sp>
          <p:nvSpPr>
            <p:cNvPr id="722" name="Google Shape;722;p19"/>
            <p:cNvSpPr/>
            <p:nvPr/>
          </p:nvSpPr>
          <p:spPr>
            <a:xfrm>
              <a:off x="16192500" y="5435600"/>
              <a:ext cx="1181100" cy="234900"/>
            </a:xfrm>
            <a:prstGeom prst="rect">
              <a:avLst/>
            </a:prstGeom>
            <a:noFill/>
            <a:ln>
              <a:noFill/>
            </a:ln>
          </p:spPr>
          <p:txBody>
            <a:bodyPr anchorCtr="0" anchor="t" bIns="26400" lIns="26400" spcFirstLastPara="1" rIns="26400" wrap="square" tIns="26400">
              <a:noAutofit/>
            </a:bodyPr>
            <a:lstStyle/>
            <a:p>
              <a:pPr indent="0" lvl="0" marL="0" marR="0" rtl="0" algn="ctr">
                <a:spcBef>
                  <a:spcPts val="0"/>
                </a:spcBef>
                <a:spcAft>
                  <a:spcPts val="0"/>
                </a:spcAft>
                <a:buClr>
                  <a:srgbClr val="2171B5"/>
                </a:buClr>
                <a:buSzPts val="1092"/>
                <a:buFont typeface="Poppins"/>
                <a:buNone/>
              </a:pPr>
              <a:r>
                <a:rPr b="1" i="0" lang="en-US" sz="1092" u="none" cap="none" strike="noStrike">
                  <a:solidFill>
                    <a:srgbClr val="2171B5"/>
                  </a:solidFill>
                  <a:latin typeface="Poppins"/>
                  <a:ea typeface="Poppins"/>
                  <a:cs typeface="Poppins"/>
                  <a:sym typeface="Poppins"/>
                </a:rPr>
                <a:t>M6</a:t>
              </a:r>
              <a:endParaRPr b="0" i="0" sz="1092" u="none" cap="none" strike="noStrike">
                <a:solidFill>
                  <a:schemeClr val="dk1"/>
                </a:solidFill>
                <a:latin typeface="Calibri"/>
                <a:ea typeface="Calibri"/>
                <a:cs typeface="Calibri"/>
                <a:sym typeface="Calibri"/>
              </a:endParaRPr>
            </a:p>
          </p:txBody>
        </p:sp>
      </p:grpSp>
      <p:pic>
        <p:nvPicPr>
          <p:cNvPr id="723" name="Google Shape;723;p19"/>
          <p:cNvPicPr preferRelativeResize="0"/>
          <p:nvPr/>
        </p:nvPicPr>
        <p:blipFill>
          <a:blip r:embed="rId4">
            <a:alphaModFix/>
          </a:blip>
          <a:stretch>
            <a:fillRect/>
          </a:stretch>
        </p:blipFill>
        <p:spPr>
          <a:xfrm>
            <a:off x="14514274" y="256251"/>
            <a:ext cx="3489799" cy="614350"/>
          </a:xfrm>
          <a:prstGeom prst="rect">
            <a:avLst/>
          </a:prstGeom>
          <a:noFill/>
          <a:ln>
            <a:noFill/>
          </a:ln>
        </p:spPr>
      </p:pic>
      <p:sp>
        <p:nvSpPr>
          <p:cNvPr id="724" name="Google Shape;724;p19"/>
          <p:cNvSpPr/>
          <p:nvPr/>
        </p:nvSpPr>
        <p:spPr>
          <a:xfrm>
            <a:off x="342250" y="7425993"/>
            <a:ext cx="2130900" cy="2853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314"/>
              <a:buFont typeface="Poppins"/>
              <a:buNone/>
            </a:pPr>
            <a:r>
              <a:rPr b="1" i="0" lang="en-US" sz="1314" u="none" cap="none" strike="noStrike">
                <a:solidFill>
                  <a:srgbClr val="2171B5"/>
                </a:solidFill>
                <a:latin typeface="Poppins"/>
                <a:ea typeface="Poppins"/>
                <a:cs typeface="Poppins"/>
                <a:sym typeface="Poppins"/>
              </a:rPr>
              <a:t>MILESTONE STATUS</a:t>
            </a:r>
            <a:endParaRPr b="0" i="0" sz="1314" u="none" cap="none" strike="noStrike">
              <a:solidFill>
                <a:schemeClr val="dk1"/>
              </a:solidFill>
              <a:latin typeface="Calibri"/>
              <a:ea typeface="Calibri"/>
              <a:cs typeface="Calibri"/>
              <a:sym typeface="Calibri"/>
            </a:endParaRPr>
          </a:p>
        </p:txBody>
      </p:sp>
      <p:sp>
        <p:nvSpPr>
          <p:cNvPr id="725" name="Google Shape;725;p19"/>
          <p:cNvSpPr/>
          <p:nvPr/>
        </p:nvSpPr>
        <p:spPr>
          <a:xfrm>
            <a:off x="342251"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26" name="Google Shape;726;p19"/>
          <p:cNvSpPr/>
          <p:nvPr/>
        </p:nvSpPr>
        <p:spPr>
          <a:xfrm>
            <a:off x="509145"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M1 · Protocol frozen</a:t>
            </a:r>
            <a:endParaRPr b="0" i="0" sz="1232" u="none" cap="none" strike="noStrike">
              <a:solidFill>
                <a:schemeClr val="dk1"/>
              </a:solidFill>
              <a:latin typeface="Calibri"/>
              <a:ea typeface="Calibri"/>
              <a:cs typeface="Calibri"/>
              <a:sym typeface="Calibri"/>
            </a:endParaRPr>
          </a:p>
        </p:txBody>
      </p:sp>
      <p:sp>
        <p:nvSpPr>
          <p:cNvPr id="727" name="Google Shape;727;p19"/>
          <p:cNvSpPr/>
          <p:nvPr/>
        </p:nvSpPr>
        <p:spPr>
          <a:xfrm>
            <a:off x="509145"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2</a:t>
            </a:r>
            <a:endParaRPr b="0" i="0" sz="1150" u="none" cap="none" strike="noStrike">
              <a:solidFill>
                <a:schemeClr val="dk1"/>
              </a:solidFill>
              <a:latin typeface="Calibri"/>
              <a:ea typeface="Calibri"/>
              <a:cs typeface="Calibri"/>
              <a:sym typeface="Calibri"/>
            </a:endParaRPr>
          </a:p>
        </p:txBody>
      </p:sp>
      <p:sp>
        <p:nvSpPr>
          <p:cNvPr id="728" name="Google Shape;728;p19"/>
          <p:cNvSpPr/>
          <p:nvPr/>
        </p:nvSpPr>
        <p:spPr>
          <a:xfrm>
            <a:off x="509145"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29" name="Google Shape;729;p19"/>
          <p:cNvSpPr/>
          <p:nvPr/>
        </p:nvSpPr>
        <p:spPr>
          <a:xfrm>
            <a:off x="613454"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
        <p:nvSpPr>
          <p:cNvPr id="730" name="Google Shape;730;p19"/>
          <p:cNvSpPr/>
          <p:nvPr/>
        </p:nvSpPr>
        <p:spPr>
          <a:xfrm>
            <a:off x="3287230"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31" name="Google Shape;731;p19"/>
          <p:cNvSpPr/>
          <p:nvPr/>
        </p:nvSpPr>
        <p:spPr>
          <a:xfrm>
            <a:off x="3454124"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M2 · Pilot passed</a:t>
            </a:r>
            <a:endParaRPr b="0" i="0" sz="1232" u="none" cap="none" strike="noStrike">
              <a:solidFill>
                <a:schemeClr val="dk1"/>
              </a:solidFill>
              <a:latin typeface="Calibri"/>
              <a:ea typeface="Calibri"/>
              <a:cs typeface="Calibri"/>
              <a:sym typeface="Calibri"/>
            </a:endParaRPr>
          </a:p>
        </p:txBody>
      </p:sp>
      <p:sp>
        <p:nvSpPr>
          <p:cNvPr id="732" name="Google Shape;732;p19"/>
          <p:cNvSpPr/>
          <p:nvPr/>
        </p:nvSpPr>
        <p:spPr>
          <a:xfrm>
            <a:off x="3454124"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4</a:t>
            </a:r>
            <a:endParaRPr b="0" i="0" sz="1150" u="none" cap="none" strike="noStrike">
              <a:solidFill>
                <a:schemeClr val="dk1"/>
              </a:solidFill>
              <a:latin typeface="Calibri"/>
              <a:ea typeface="Calibri"/>
              <a:cs typeface="Calibri"/>
              <a:sym typeface="Calibri"/>
            </a:endParaRPr>
          </a:p>
        </p:txBody>
      </p:sp>
      <p:sp>
        <p:nvSpPr>
          <p:cNvPr id="733" name="Google Shape;733;p19"/>
          <p:cNvSpPr/>
          <p:nvPr/>
        </p:nvSpPr>
        <p:spPr>
          <a:xfrm>
            <a:off x="3454124"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34" name="Google Shape;734;p19"/>
          <p:cNvSpPr/>
          <p:nvPr/>
        </p:nvSpPr>
        <p:spPr>
          <a:xfrm>
            <a:off x="3558432"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
        <p:nvSpPr>
          <p:cNvPr id="735" name="Google Shape;735;p19"/>
          <p:cNvSpPr/>
          <p:nvPr/>
        </p:nvSpPr>
        <p:spPr>
          <a:xfrm>
            <a:off x="6232209"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36" name="Google Shape;736;p19"/>
          <p:cNvSpPr/>
          <p:nvPr/>
        </p:nvSpPr>
        <p:spPr>
          <a:xfrm>
            <a:off x="6399103"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M3 · Dataset frozen</a:t>
            </a:r>
            <a:endParaRPr b="0" i="0" sz="1232" u="none" cap="none" strike="noStrike">
              <a:solidFill>
                <a:schemeClr val="dk1"/>
              </a:solidFill>
              <a:latin typeface="Calibri"/>
              <a:ea typeface="Calibri"/>
              <a:cs typeface="Calibri"/>
              <a:sym typeface="Calibri"/>
            </a:endParaRPr>
          </a:p>
        </p:txBody>
      </p:sp>
      <p:sp>
        <p:nvSpPr>
          <p:cNvPr id="737" name="Google Shape;737;p19"/>
          <p:cNvSpPr/>
          <p:nvPr/>
        </p:nvSpPr>
        <p:spPr>
          <a:xfrm>
            <a:off x="6399103"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6</a:t>
            </a:r>
            <a:endParaRPr b="0" i="0" sz="1150" u="none" cap="none" strike="noStrike">
              <a:solidFill>
                <a:schemeClr val="dk1"/>
              </a:solidFill>
              <a:latin typeface="Calibri"/>
              <a:ea typeface="Calibri"/>
              <a:cs typeface="Calibri"/>
              <a:sym typeface="Calibri"/>
            </a:endParaRPr>
          </a:p>
        </p:txBody>
      </p:sp>
      <p:sp>
        <p:nvSpPr>
          <p:cNvPr id="738" name="Google Shape;738;p19"/>
          <p:cNvSpPr/>
          <p:nvPr/>
        </p:nvSpPr>
        <p:spPr>
          <a:xfrm>
            <a:off x="6399103"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39" name="Google Shape;739;p19"/>
          <p:cNvSpPr/>
          <p:nvPr/>
        </p:nvSpPr>
        <p:spPr>
          <a:xfrm>
            <a:off x="6503411"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
        <p:nvSpPr>
          <p:cNvPr id="740" name="Google Shape;740;p19"/>
          <p:cNvSpPr/>
          <p:nvPr/>
        </p:nvSpPr>
        <p:spPr>
          <a:xfrm>
            <a:off x="9177188"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41" name="Google Shape;741;p19"/>
          <p:cNvSpPr/>
          <p:nvPr/>
        </p:nvSpPr>
        <p:spPr>
          <a:xfrm>
            <a:off x="9344081"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M4 · ACRE calibrated</a:t>
            </a:r>
            <a:endParaRPr b="0" i="0" sz="1232" u="none" cap="none" strike="noStrike">
              <a:solidFill>
                <a:schemeClr val="dk1"/>
              </a:solidFill>
              <a:latin typeface="Calibri"/>
              <a:ea typeface="Calibri"/>
              <a:cs typeface="Calibri"/>
              <a:sym typeface="Calibri"/>
            </a:endParaRPr>
          </a:p>
        </p:txBody>
      </p:sp>
      <p:sp>
        <p:nvSpPr>
          <p:cNvPr id="742" name="Google Shape;742;p19"/>
          <p:cNvSpPr/>
          <p:nvPr/>
        </p:nvSpPr>
        <p:spPr>
          <a:xfrm>
            <a:off x="9344081"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8</a:t>
            </a:r>
            <a:endParaRPr b="0" i="0" sz="1150" u="none" cap="none" strike="noStrike">
              <a:solidFill>
                <a:schemeClr val="dk1"/>
              </a:solidFill>
              <a:latin typeface="Calibri"/>
              <a:ea typeface="Calibri"/>
              <a:cs typeface="Calibri"/>
              <a:sym typeface="Calibri"/>
            </a:endParaRPr>
          </a:p>
        </p:txBody>
      </p:sp>
      <p:sp>
        <p:nvSpPr>
          <p:cNvPr id="743" name="Google Shape;743;p19"/>
          <p:cNvSpPr/>
          <p:nvPr/>
        </p:nvSpPr>
        <p:spPr>
          <a:xfrm>
            <a:off x="9344081"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44" name="Google Shape;744;p19"/>
          <p:cNvSpPr/>
          <p:nvPr/>
        </p:nvSpPr>
        <p:spPr>
          <a:xfrm>
            <a:off x="9448390"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
        <p:nvSpPr>
          <p:cNvPr id="745" name="Google Shape;745;p19"/>
          <p:cNvSpPr/>
          <p:nvPr/>
        </p:nvSpPr>
        <p:spPr>
          <a:xfrm>
            <a:off x="12122166"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46" name="Google Shape;746;p19"/>
          <p:cNvSpPr/>
          <p:nvPr/>
        </p:nvSpPr>
        <p:spPr>
          <a:xfrm>
            <a:off x="12289060"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M5 · Tests done</a:t>
            </a:r>
            <a:endParaRPr b="0" i="0" sz="1232" u="none" cap="none" strike="noStrike">
              <a:solidFill>
                <a:schemeClr val="dk1"/>
              </a:solidFill>
              <a:latin typeface="Calibri"/>
              <a:ea typeface="Calibri"/>
              <a:cs typeface="Calibri"/>
              <a:sym typeface="Calibri"/>
            </a:endParaRPr>
          </a:p>
        </p:txBody>
      </p:sp>
      <p:sp>
        <p:nvSpPr>
          <p:cNvPr id="747" name="Google Shape;747;p19"/>
          <p:cNvSpPr/>
          <p:nvPr/>
        </p:nvSpPr>
        <p:spPr>
          <a:xfrm>
            <a:off x="12289060"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10</a:t>
            </a:r>
            <a:endParaRPr b="0" i="0" sz="1150" u="none" cap="none" strike="noStrike">
              <a:solidFill>
                <a:schemeClr val="dk1"/>
              </a:solidFill>
              <a:latin typeface="Calibri"/>
              <a:ea typeface="Calibri"/>
              <a:cs typeface="Calibri"/>
              <a:sym typeface="Calibri"/>
            </a:endParaRPr>
          </a:p>
        </p:txBody>
      </p:sp>
      <p:sp>
        <p:nvSpPr>
          <p:cNvPr id="748" name="Google Shape;748;p19"/>
          <p:cNvSpPr/>
          <p:nvPr/>
        </p:nvSpPr>
        <p:spPr>
          <a:xfrm>
            <a:off x="12289060"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49" name="Google Shape;749;p19"/>
          <p:cNvSpPr/>
          <p:nvPr/>
        </p:nvSpPr>
        <p:spPr>
          <a:xfrm>
            <a:off x="12393369"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
        <p:nvSpPr>
          <p:cNvPr id="750" name="Google Shape;750;p19"/>
          <p:cNvSpPr/>
          <p:nvPr/>
        </p:nvSpPr>
        <p:spPr>
          <a:xfrm>
            <a:off x="15067146" y="7815414"/>
            <a:ext cx="2799000" cy="1077900"/>
          </a:xfrm>
          <a:prstGeom prst="roundRect">
            <a:avLst>
              <a:gd fmla="val 13548" name="adj"/>
            </a:avLst>
          </a:prstGeom>
          <a:solidFill>
            <a:srgbClr val="F3F3F3"/>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51" name="Google Shape;751;p19"/>
          <p:cNvSpPr/>
          <p:nvPr/>
        </p:nvSpPr>
        <p:spPr>
          <a:xfrm>
            <a:off x="15234040" y="7961446"/>
            <a:ext cx="2711700" cy="2781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2171B5"/>
              </a:buClr>
              <a:buSzPts val="1232"/>
              <a:buFont typeface="Poppins"/>
              <a:buNone/>
            </a:pPr>
            <a:r>
              <a:rPr b="1" i="0" lang="en-US" sz="1232" u="none" cap="none" strike="noStrike">
                <a:solidFill>
                  <a:srgbClr val="2171B5"/>
                </a:solidFill>
                <a:latin typeface="Poppins"/>
                <a:ea typeface="Poppins"/>
                <a:cs typeface="Poppins"/>
                <a:sym typeface="Poppins"/>
              </a:rPr>
              <a:t>M6 · Final ready</a:t>
            </a:r>
            <a:endParaRPr b="0" i="0" sz="1232" u="none" cap="none" strike="noStrike">
              <a:solidFill>
                <a:schemeClr val="dk1"/>
              </a:solidFill>
              <a:latin typeface="Calibri"/>
              <a:ea typeface="Calibri"/>
              <a:cs typeface="Calibri"/>
              <a:sym typeface="Calibri"/>
            </a:endParaRPr>
          </a:p>
        </p:txBody>
      </p:sp>
      <p:sp>
        <p:nvSpPr>
          <p:cNvPr id="752" name="Google Shape;752;p19"/>
          <p:cNvSpPr/>
          <p:nvPr/>
        </p:nvSpPr>
        <p:spPr>
          <a:xfrm>
            <a:off x="15234040" y="8239604"/>
            <a:ext cx="2711700" cy="2154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150"/>
              <a:buFont typeface="Inter"/>
              <a:buNone/>
            </a:pPr>
            <a:r>
              <a:rPr b="0" i="0" lang="en-US" sz="1150" u="none" cap="none" strike="noStrike">
                <a:solidFill>
                  <a:srgbClr val="4A6785"/>
                </a:solidFill>
                <a:latin typeface="Inter"/>
                <a:ea typeface="Inter"/>
                <a:cs typeface="Inter"/>
                <a:sym typeface="Inter"/>
              </a:rPr>
              <a:t>Week 12</a:t>
            </a:r>
            <a:endParaRPr b="0" i="0" sz="1150" u="none" cap="none" strike="noStrike">
              <a:solidFill>
                <a:schemeClr val="dk1"/>
              </a:solidFill>
              <a:latin typeface="Calibri"/>
              <a:ea typeface="Calibri"/>
              <a:cs typeface="Calibri"/>
              <a:sym typeface="Calibri"/>
            </a:endParaRPr>
          </a:p>
        </p:txBody>
      </p:sp>
      <p:sp>
        <p:nvSpPr>
          <p:cNvPr id="753" name="Google Shape;753;p19"/>
          <p:cNvSpPr/>
          <p:nvPr/>
        </p:nvSpPr>
        <p:spPr>
          <a:xfrm>
            <a:off x="15234040" y="8496900"/>
            <a:ext cx="746100" cy="250200"/>
          </a:xfrm>
          <a:prstGeom prst="roundRect">
            <a:avLst>
              <a:gd fmla="val 50000" name="adj"/>
            </a:avLst>
          </a:prstGeom>
          <a:solidFill>
            <a:srgbClr val="DEEBF7"/>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754" name="Google Shape;754;p19"/>
          <p:cNvSpPr/>
          <p:nvPr/>
        </p:nvSpPr>
        <p:spPr>
          <a:xfrm>
            <a:off x="15338348" y="8538623"/>
            <a:ext cx="621000" cy="208500"/>
          </a:xfrm>
          <a:prstGeom prst="rect">
            <a:avLst/>
          </a:prstGeom>
          <a:noFill/>
          <a:ln>
            <a:noFill/>
          </a:ln>
        </p:spPr>
        <p:txBody>
          <a:bodyPr anchorCtr="0" anchor="t" bIns="27825" lIns="27825" spcFirstLastPara="1" rIns="27825" wrap="square" tIns="27825">
            <a:noAutofit/>
          </a:bodyPr>
          <a:lstStyle/>
          <a:p>
            <a:pPr indent="0" lvl="0" marL="0" marR="0" rtl="0" algn="l">
              <a:spcBef>
                <a:spcPts val="0"/>
              </a:spcBef>
              <a:spcAft>
                <a:spcPts val="0"/>
              </a:spcAft>
              <a:buClr>
                <a:srgbClr val="4A6785"/>
              </a:buClr>
              <a:buSzPts val="1068"/>
              <a:buFont typeface="Inter"/>
              <a:buNone/>
            </a:pPr>
            <a:r>
              <a:rPr b="1" i="0" lang="en-US" sz="1068" u="none" cap="none" strike="noStrike">
                <a:solidFill>
                  <a:srgbClr val="4A6785"/>
                </a:solidFill>
                <a:latin typeface="Inter"/>
                <a:ea typeface="Inter"/>
                <a:cs typeface="Inter"/>
                <a:sym typeface="Inter"/>
              </a:rPr>
              <a:t>Pending</a:t>
            </a:r>
            <a:endParaRPr b="0" i="0" sz="1068"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759" name="Shape 759"/>
        <p:cNvGrpSpPr/>
        <p:nvPr/>
      </p:nvGrpSpPr>
      <p:grpSpPr>
        <a:xfrm>
          <a:off x="0" y="0"/>
          <a:ext cx="0" cy="0"/>
          <a:chOff x="0" y="0"/>
          <a:chExt cx="0" cy="0"/>
        </a:xfrm>
      </p:grpSpPr>
      <p:sp>
        <p:nvSpPr>
          <p:cNvPr id="760" name="Google Shape;760;p20"/>
          <p:cNvSpPr/>
          <p:nvPr/>
        </p:nvSpPr>
        <p:spPr>
          <a:xfrm>
            <a:off x="952500" y="1098550"/>
            <a:ext cx="43317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300"/>
              <a:buFont typeface="Poppins"/>
              <a:buNone/>
            </a:pPr>
            <a:r>
              <a:rPr b="1" i="0" lang="en-US" sz="3300" u="none" cap="none" strike="noStrike">
                <a:solidFill>
                  <a:srgbClr val="084594"/>
                </a:solidFill>
                <a:latin typeface="Poppins"/>
                <a:ea typeface="Poppins"/>
                <a:cs typeface="Poppins"/>
                <a:sym typeface="Poppins"/>
              </a:rPr>
              <a:t>Risk Assessment</a:t>
            </a:r>
            <a:endParaRPr b="0" i="0" sz="3300" u="none" cap="none" strike="noStrike">
              <a:solidFill>
                <a:schemeClr val="dk1"/>
              </a:solidFill>
              <a:latin typeface="Calibri"/>
              <a:ea typeface="Calibri"/>
              <a:cs typeface="Calibri"/>
              <a:sym typeface="Calibri"/>
            </a:endParaRPr>
          </a:p>
        </p:txBody>
      </p:sp>
      <p:sp>
        <p:nvSpPr>
          <p:cNvPr id="761" name="Google Shape;761;p20"/>
          <p:cNvSpPr/>
          <p:nvPr/>
        </p:nvSpPr>
        <p:spPr>
          <a:xfrm>
            <a:off x="952500" y="1803400"/>
            <a:ext cx="12178500" cy="285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575"/>
              <a:buFont typeface="Inter"/>
              <a:buNone/>
            </a:pPr>
            <a:r>
              <a:rPr b="0" i="0" lang="en-US" sz="1575" u="none" cap="none" strike="noStrike">
                <a:solidFill>
                  <a:srgbClr val="2C4A63"/>
                </a:solidFill>
                <a:latin typeface="Inter"/>
                <a:ea typeface="Inter"/>
                <a:cs typeface="Inter"/>
                <a:sym typeface="Inter"/>
              </a:rPr>
              <a:t>Risk matrix by likelihood and impact, with risks identified across technical, schedule, resource, and stakeholder dimensions.</a:t>
            </a:r>
            <a:endParaRPr b="0" i="0" sz="1575" u="none" cap="none" strike="noStrike">
              <a:solidFill>
                <a:schemeClr val="dk1"/>
              </a:solidFill>
              <a:latin typeface="Calibri"/>
              <a:ea typeface="Calibri"/>
              <a:cs typeface="Calibri"/>
              <a:sym typeface="Calibri"/>
            </a:endParaRPr>
          </a:p>
        </p:txBody>
      </p:sp>
      <p:sp>
        <p:nvSpPr>
          <p:cNvPr id="762" name="Google Shape;762;p20"/>
          <p:cNvSpPr/>
          <p:nvPr/>
        </p:nvSpPr>
        <p:spPr>
          <a:xfrm>
            <a:off x="2114550" y="2336800"/>
            <a:ext cx="18867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Low</a:t>
            </a:r>
            <a:endParaRPr b="0" i="0" sz="1725" u="none" cap="none" strike="noStrike">
              <a:solidFill>
                <a:schemeClr val="dk1"/>
              </a:solidFill>
              <a:latin typeface="Calibri"/>
              <a:ea typeface="Calibri"/>
              <a:cs typeface="Calibri"/>
              <a:sym typeface="Calibri"/>
            </a:endParaRPr>
          </a:p>
        </p:txBody>
      </p:sp>
      <p:sp>
        <p:nvSpPr>
          <p:cNvPr id="763" name="Google Shape;763;p20"/>
          <p:cNvSpPr/>
          <p:nvPr/>
        </p:nvSpPr>
        <p:spPr>
          <a:xfrm>
            <a:off x="4001393" y="2336800"/>
            <a:ext cx="18870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Medium</a:t>
            </a:r>
            <a:endParaRPr b="0" i="0" sz="1725" u="none" cap="none" strike="noStrike">
              <a:solidFill>
                <a:schemeClr val="dk1"/>
              </a:solidFill>
              <a:latin typeface="Calibri"/>
              <a:ea typeface="Calibri"/>
              <a:cs typeface="Calibri"/>
              <a:sym typeface="Calibri"/>
            </a:endParaRPr>
          </a:p>
        </p:txBody>
      </p:sp>
      <p:sp>
        <p:nvSpPr>
          <p:cNvPr id="764" name="Google Shape;764;p20"/>
          <p:cNvSpPr/>
          <p:nvPr/>
        </p:nvSpPr>
        <p:spPr>
          <a:xfrm>
            <a:off x="5888335" y="2336800"/>
            <a:ext cx="1886700" cy="457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High</a:t>
            </a:r>
            <a:endParaRPr b="0" i="0" sz="1725" u="none" cap="none" strike="noStrike">
              <a:solidFill>
                <a:schemeClr val="dk1"/>
              </a:solidFill>
              <a:latin typeface="Calibri"/>
              <a:ea typeface="Calibri"/>
              <a:cs typeface="Calibri"/>
              <a:sym typeface="Calibri"/>
            </a:endParaRPr>
          </a:p>
        </p:txBody>
      </p:sp>
      <p:sp>
        <p:nvSpPr>
          <p:cNvPr id="765" name="Google Shape;765;p20"/>
          <p:cNvSpPr/>
          <p:nvPr/>
        </p:nvSpPr>
        <p:spPr>
          <a:xfrm>
            <a:off x="914400" y="2832100"/>
            <a:ext cx="12003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High</a:t>
            </a:r>
            <a:endParaRPr b="0" i="0" sz="1725" u="none" cap="none" strike="noStrike">
              <a:solidFill>
                <a:schemeClr val="dk1"/>
              </a:solidFill>
              <a:latin typeface="Calibri"/>
              <a:ea typeface="Calibri"/>
              <a:cs typeface="Calibri"/>
              <a:sym typeface="Calibri"/>
            </a:endParaRPr>
          </a:p>
        </p:txBody>
      </p:sp>
      <p:sp>
        <p:nvSpPr>
          <p:cNvPr id="766" name="Google Shape;766;p20"/>
          <p:cNvSpPr/>
          <p:nvPr/>
        </p:nvSpPr>
        <p:spPr>
          <a:xfrm>
            <a:off x="2152650" y="2832100"/>
            <a:ext cx="1810500" cy="2099700"/>
          </a:xfrm>
          <a:prstGeom prst="roundRect">
            <a:avLst>
              <a:gd fmla="val 5261"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67" name="Google Shape;767;p20"/>
          <p:cNvSpPr/>
          <p:nvPr/>
        </p:nvSpPr>
        <p:spPr>
          <a:xfrm>
            <a:off x="4039493" y="2832100"/>
            <a:ext cx="1810800" cy="2099700"/>
          </a:xfrm>
          <a:prstGeom prst="roundRect">
            <a:avLst>
              <a:gd fmla="val 5260"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68" name="Google Shape;768;p20"/>
          <p:cNvSpPr/>
          <p:nvPr/>
        </p:nvSpPr>
        <p:spPr>
          <a:xfrm>
            <a:off x="4001393" y="2832100"/>
            <a:ext cx="18870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A4A05"/>
              </a:buClr>
              <a:buSzPts val="1200"/>
              <a:buFont typeface="Poppins"/>
              <a:buNone/>
            </a:pPr>
            <a:r>
              <a:rPr b="1" i="0" lang="en-US" sz="1800" u="none" cap="none" strike="noStrike">
                <a:solidFill>
                  <a:srgbClr val="7A4A05"/>
                </a:solidFill>
                <a:latin typeface="Poppins"/>
                <a:ea typeface="Poppins"/>
                <a:cs typeface="Poppins"/>
                <a:sym typeface="Poppins"/>
              </a:rPr>
              <a:t>S1</a:t>
            </a:r>
            <a:endParaRPr b="0" i="0" sz="1800" u="none" cap="none" strike="noStrike">
              <a:solidFill>
                <a:schemeClr val="dk1"/>
              </a:solidFill>
              <a:latin typeface="Calibri"/>
              <a:ea typeface="Calibri"/>
              <a:cs typeface="Calibri"/>
              <a:sym typeface="Calibri"/>
            </a:endParaRPr>
          </a:p>
        </p:txBody>
      </p:sp>
      <p:sp>
        <p:nvSpPr>
          <p:cNvPr id="769" name="Google Shape;769;p20"/>
          <p:cNvSpPr/>
          <p:nvPr/>
        </p:nvSpPr>
        <p:spPr>
          <a:xfrm>
            <a:off x="5926435" y="2832100"/>
            <a:ext cx="1810500" cy="2099700"/>
          </a:xfrm>
          <a:prstGeom prst="roundRect">
            <a:avLst>
              <a:gd fmla="val 5261" name="adj"/>
            </a:avLst>
          </a:prstGeom>
          <a:solidFill>
            <a:srgbClr val="E69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70" name="Google Shape;770;p20"/>
          <p:cNvSpPr/>
          <p:nvPr/>
        </p:nvSpPr>
        <p:spPr>
          <a:xfrm>
            <a:off x="5888335" y="2832100"/>
            <a:ext cx="18867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A1F10"/>
              </a:buClr>
              <a:buSzPts val="1200"/>
              <a:buFont typeface="Poppins"/>
              <a:buNone/>
            </a:pPr>
            <a:r>
              <a:rPr b="1" i="0" lang="en-US" sz="1800" u="none" cap="none" strike="noStrike">
                <a:solidFill>
                  <a:srgbClr val="7A1F10"/>
                </a:solidFill>
                <a:latin typeface="Poppins"/>
                <a:ea typeface="Poppins"/>
                <a:cs typeface="Poppins"/>
                <a:sym typeface="Poppins"/>
              </a:rPr>
              <a:t>T1</a:t>
            </a:r>
            <a:endParaRPr b="0" i="0" sz="1800" u="none" cap="none" strike="noStrike">
              <a:solidFill>
                <a:schemeClr val="dk1"/>
              </a:solidFill>
              <a:latin typeface="Calibri"/>
              <a:ea typeface="Calibri"/>
              <a:cs typeface="Calibri"/>
              <a:sym typeface="Calibri"/>
            </a:endParaRPr>
          </a:p>
        </p:txBody>
      </p:sp>
      <p:sp>
        <p:nvSpPr>
          <p:cNvPr id="771" name="Google Shape;771;p20"/>
          <p:cNvSpPr/>
          <p:nvPr/>
        </p:nvSpPr>
        <p:spPr>
          <a:xfrm>
            <a:off x="914400" y="5007968"/>
            <a:ext cx="12003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Medium</a:t>
            </a:r>
            <a:endParaRPr b="0" i="0" sz="1725" u="none" cap="none" strike="noStrike">
              <a:solidFill>
                <a:schemeClr val="dk1"/>
              </a:solidFill>
              <a:latin typeface="Calibri"/>
              <a:ea typeface="Calibri"/>
              <a:cs typeface="Calibri"/>
              <a:sym typeface="Calibri"/>
            </a:endParaRPr>
          </a:p>
        </p:txBody>
      </p:sp>
      <p:sp>
        <p:nvSpPr>
          <p:cNvPr id="772" name="Google Shape;772;p20"/>
          <p:cNvSpPr/>
          <p:nvPr/>
        </p:nvSpPr>
        <p:spPr>
          <a:xfrm>
            <a:off x="2152650" y="5007968"/>
            <a:ext cx="1810500" cy="2099700"/>
          </a:xfrm>
          <a:prstGeom prst="roundRect">
            <a:avLst>
              <a:gd fmla="val 5261"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73" name="Google Shape;773;p20"/>
          <p:cNvSpPr/>
          <p:nvPr/>
        </p:nvSpPr>
        <p:spPr>
          <a:xfrm>
            <a:off x="4039493" y="5007968"/>
            <a:ext cx="1810800" cy="2099700"/>
          </a:xfrm>
          <a:prstGeom prst="roundRect">
            <a:avLst>
              <a:gd fmla="val 5260"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74" name="Google Shape;774;p20"/>
          <p:cNvSpPr/>
          <p:nvPr/>
        </p:nvSpPr>
        <p:spPr>
          <a:xfrm>
            <a:off x="4001393" y="5007968"/>
            <a:ext cx="18870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A4A05"/>
              </a:buClr>
              <a:buSzPts val="1200"/>
              <a:buFont typeface="Poppins"/>
              <a:buNone/>
            </a:pPr>
            <a:r>
              <a:rPr b="1" i="0" lang="en-US" sz="1800" u="none" cap="none" strike="noStrike">
                <a:solidFill>
                  <a:srgbClr val="7A4A05"/>
                </a:solidFill>
                <a:latin typeface="Poppins"/>
                <a:ea typeface="Poppins"/>
                <a:cs typeface="Poppins"/>
                <a:sym typeface="Poppins"/>
              </a:rPr>
              <a:t>T3 S2</a:t>
            </a:r>
            <a:endParaRPr b="0" i="0" sz="1800" u="none" cap="none" strike="noStrike">
              <a:solidFill>
                <a:schemeClr val="dk1"/>
              </a:solidFill>
              <a:latin typeface="Calibri"/>
              <a:ea typeface="Calibri"/>
              <a:cs typeface="Calibri"/>
              <a:sym typeface="Calibri"/>
            </a:endParaRPr>
          </a:p>
        </p:txBody>
      </p:sp>
      <p:sp>
        <p:nvSpPr>
          <p:cNvPr id="775" name="Google Shape;775;p20"/>
          <p:cNvSpPr/>
          <p:nvPr/>
        </p:nvSpPr>
        <p:spPr>
          <a:xfrm>
            <a:off x="5926435" y="5007968"/>
            <a:ext cx="1810500" cy="2099700"/>
          </a:xfrm>
          <a:prstGeom prst="roundRect">
            <a:avLst>
              <a:gd fmla="val 5261" name="adj"/>
            </a:avLst>
          </a:prstGeom>
          <a:solidFill>
            <a:srgbClr val="E69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76" name="Google Shape;776;p20"/>
          <p:cNvSpPr/>
          <p:nvPr/>
        </p:nvSpPr>
        <p:spPr>
          <a:xfrm>
            <a:off x="5888335" y="5007968"/>
            <a:ext cx="18867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A1F10"/>
              </a:buClr>
              <a:buSzPts val="1200"/>
              <a:buFont typeface="Poppins"/>
              <a:buNone/>
            </a:pPr>
            <a:r>
              <a:rPr b="1" i="0" lang="en-US" sz="1800" u="none" cap="none" strike="noStrike">
                <a:solidFill>
                  <a:srgbClr val="7A1F10"/>
                </a:solidFill>
                <a:latin typeface="Poppins"/>
                <a:ea typeface="Poppins"/>
                <a:cs typeface="Poppins"/>
                <a:sym typeface="Poppins"/>
              </a:rPr>
              <a:t>T2 R1</a:t>
            </a:r>
            <a:endParaRPr b="0" i="0" sz="1800" u="none" cap="none" strike="noStrike">
              <a:solidFill>
                <a:schemeClr val="dk1"/>
              </a:solidFill>
              <a:latin typeface="Calibri"/>
              <a:ea typeface="Calibri"/>
              <a:cs typeface="Calibri"/>
              <a:sym typeface="Calibri"/>
            </a:endParaRPr>
          </a:p>
        </p:txBody>
      </p:sp>
      <p:sp>
        <p:nvSpPr>
          <p:cNvPr id="777" name="Google Shape;777;p20"/>
          <p:cNvSpPr/>
          <p:nvPr/>
        </p:nvSpPr>
        <p:spPr>
          <a:xfrm>
            <a:off x="914400" y="7183934"/>
            <a:ext cx="12003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Low</a:t>
            </a:r>
            <a:endParaRPr b="0" i="0" sz="1725" u="none" cap="none" strike="noStrike">
              <a:solidFill>
                <a:schemeClr val="dk1"/>
              </a:solidFill>
              <a:latin typeface="Calibri"/>
              <a:ea typeface="Calibri"/>
              <a:cs typeface="Calibri"/>
              <a:sym typeface="Calibri"/>
            </a:endParaRPr>
          </a:p>
        </p:txBody>
      </p:sp>
      <p:sp>
        <p:nvSpPr>
          <p:cNvPr id="778" name="Google Shape;778;p20"/>
          <p:cNvSpPr/>
          <p:nvPr/>
        </p:nvSpPr>
        <p:spPr>
          <a:xfrm>
            <a:off x="2152650" y="7183934"/>
            <a:ext cx="1810500" cy="2099700"/>
          </a:xfrm>
          <a:prstGeom prst="roundRect">
            <a:avLst>
              <a:gd fmla="val 5261"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79" name="Google Shape;779;p20"/>
          <p:cNvSpPr/>
          <p:nvPr/>
        </p:nvSpPr>
        <p:spPr>
          <a:xfrm>
            <a:off x="4039493" y="7183934"/>
            <a:ext cx="1810800" cy="2099700"/>
          </a:xfrm>
          <a:prstGeom prst="roundRect">
            <a:avLst>
              <a:gd fmla="val 5260"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80" name="Google Shape;780;p20"/>
          <p:cNvSpPr/>
          <p:nvPr/>
        </p:nvSpPr>
        <p:spPr>
          <a:xfrm>
            <a:off x="4001393" y="7183934"/>
            <a:ext cx="1887000" cy="2137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171B5"/>
              </a:buClr>
              <a:buSzPts val="1200"/>
              <a:buFont typeface="Poppins"/>
              <a:buNone/>
            </a:pPr>
            <a:r>
              <a:rPr b="1" i="0" lang="en-US" sz="1800" u="none" cap="none" strike="noStrike">
                <a:solidFill>
                  <a:srgbClr val="2171B5"/>
                </a:solidFill>
                <a:latin typeface="Poppins"/>
                <a:ea typeface="Poppins"/>
                <a:cs typeface="Poppins"/>
                <a:sym typeface="Poppins"/>
              </a:rPr>
              <a:t>K1</a:t>
            </a:r>
            <a:endParaRPr b="0" i="0" sz="1800" u="none" cap="none" strike="noStrike">
              <a:solidFill>
                <a:schemeClr val="dk1"/>
              </a:solidFill>
              <a:latin typeface="Calibri"/>
              <a:ea typeface="Calibri"/>
              <a:cs typeface="Calibri"/>
              <a:sym typeface="Calibri"/>
            </a:endParaRPr>
          </a:p>
        </p:txBody>
      </p:sp>
      <p:sp>
        <p:nvSpPr>
          <p:cNvPr id="781" name="Google Shape;781;p20"/>
          <p:cNvSpPr/>
          <p:nvPr/>
        </p:nvSpPr>
        <p:spPr>
          <a:xfrm>
            <a:off x="5926435" y="7183934"/>
            <a:ext cx="1810500" cy="2099700"/>
          </a:xfrm>
          <a:prstGeom prst="roundRect">
            <a:avLst>
              <a:gd fmla="val 5261"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782" name="Google Shape;782;p20"/>
          <p:cNvSpPr/>
          <p:nvPr/>
        </p:nvSpPr>
        <p:spPr>
          <a:xfrm>
            <a:off x="4039650" y="9401632"/>
            <a:ext cx="1810500" cy="254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IMPACT →</a:t>
            </a:r>
            <a:endParaRPr b="0" i="0" sz="1725" u="none" cap="none" strike="noStrike">
              <a:solidFill>
                <a:schemeClr val="dk1"/>
              </a:solidFill>
              <a:latin typeface="Calibri"/>
              <a:ea typeface="Calibri"/>
              <a:cs typeface="Calibri"/>
              <a:sym typeface="Calibri"/>
            </a:endParaRPr>
          </a:p>
        </p:txBody>
      </p:sp>
      <p:sp>
        <p:nvSpPr>
          <p:cNvPr id="783" name="Google Shape;783;p20"/>
          <p:cNvSpPr/>
          <p:nvPr/>
        </p:nvSpPr>
        <p:spPr>
          <a:xfrm rot="-5400000">
            <a:off x="-196850" y="5776518"/>
            <a:ext cx="1610100" cy="25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125"/>
              <a:buFont typeface="Poppins"/>
              <a:buNone/>
            </a:pPr>
            <a:r>
              <a:rPr b="1" i="0" lang="en-US" sz="1725" u="none" cap="none" strike="noStrike">
                <a:solidFill>
                  <a:srgbClr val="4A6785"/>
                </a:solidFill>
                <a:latin typeface="Poppins"/>
                <a:ea typeface="Poppins"/>
                <a:cs typeface="Poppins"/>
                <a:sym typeface="Poppins"/>
              </a:rPr>
              <a:t>↑ LIKELIHOOD</a:t>
            </a:r>
            <a:endParaRPr b="0" i="0" sz="1725" u="none" cap="none" strike="noStrike">
              <a:solidFill>
                <a:schemeClr val="dk1"/>
              </a:solidFill>
              <a:latin typeface="Calibri"/>
              <a:ea typeface="Calibri"/>
              <a:cs typeface="Calibri"/>
              <a:sym typeface="Calibri"/>
            </a:endParaRPr>
          </a:p>
        </p:txBody>
      </p:sp>
      <p:sp>
        <p:nvSpPr>
          <p:cNvPr id="784" name="Google Shape;784;p20"/>
          <p:cNvSpPr/>
          <p:nvPr/>
        </p:nvSpPr>
        <p:spPr>
          <a:xfrm>
            <a:off x="8156275" y="2336800"/>
            <a:ext cx="9179100" cy="2084700"/>
          </a:xfrm>
          <a:prstGeom prst="roundRect">
            <a:avLst>
              <a:gd fmla="val 941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85" name="Google Shape;785;p20"/>
          <p:cNvSpPr/>
          <p:nvPr/>
        </p:nvSpPr>
        <p:spPr>
          <a:xfrm>
            <a:off x="8346775" y="2561175"/>
            <a:ext cx="2675100" cy="37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TECHNICAL</a:t>
            </a:r>
            <a:endParaRPr b="0" i="0" sz="1825" u="none" cap="none" strike="noStrike">
              <a:solidFill>
                <a:schemeClr val="dk1"/>
              </a:solidFill>
              <a:latin typeface="Calibri"/>
              <a:ea typeface="Calibri"/>
              <a:cs typeface="Calibri"/>
              <a:sym typeface="Calibri"/>
            </a:endParaRPr>
          </a:p>
        </p:txBody>
      </p:sp>
      <p:sp>
        <p:nvSpPr>
          <p:cNvPr id="786" name="Google Shape;786;p20"/>
          <p:cNvSpPr/>
          <p:nvPr/>
        </p:nvSpPr>
        <p:spPr>
          <a:xfrm>
            <a:off x="8346775" y="2991250"/>
            <a:ext cx="417900" cy="327300"/>
          </a:xfrm>
          <a:prstGeom prst="roundRect">
            <a:avLst>
              <a:gd fmla="val 25714" name="adj"/>
            </a:avLst>
          </a:prstGeom>
          <a:solidFill>
            <a:srgbClr val="E69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87" name="Google Shape;787;p20"/>
          <p:cNvSpPr/>
          <p:nvPr/>
        </p:nvSpPr>
        <p:spPr>
          <a:xfrm>
            <a:off x="8463849" y="3019298"/>
            <a:ext cx="3009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1F10"/>
              </a:buClr>
              <a:buSzPts val="975"/>
              <a:buFont typeface="Poppins"/>
              <a:buNone/>
            </a:pPr>
            <a:r>
              <a:rPr b="1" i="0" lang="en-US" sz="1675" u="none" cap="none" strike="noStrike">
                <a:solidFill>
                  <a:srgbClr val="7A1F10"/>
                </a:solidFill>
                <a:latin typeface="Poppins"/>
                <a:ea typeface="Poppins"/>
                <a:cs typeface="Poppins"/>
                <a:sym typeface="Poppins"/>
              </a:rPr>
              <a:t>T1</a:t>
            </a:r>
            <a:endParaRPr b="0" i="0" sz="1675" u="none" cap="none" strike="noStrike">
              <a:solidFill>
                <a:schemeClr val="dk1"/>
              </a:solidFill>
              <a:latin typeface="Calibri"/>
              <a:ea typeface="Calibri"/>
              <a:cs typeface="Calibri"/>
              <a:sym typeface="Calibri"/>
            </a:endParaRPr>
          </a:p>
        </p:txBody>
      </p:sp>
      <p:sp>
        <p:nvSpPr>
          <p:cNvPr id="788" name="Google Shape;788;p20"/>
          <p:cNvSpPr/>
          <p:nvPr/>
        </p:nvSpPr>
        <p:spPr>
          <a:xfrm>
            <a:off x="8922849" y="2907200"/>
            <a:ext cx="82815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Regeneration dominance and class imbalance across actions - Lithma &amp; Sayuru</a:t>
            </a:r>
            <a:endParaRPr b="0" i="0" sz="1900" u="none" cap="none" strike="noStrike">
              <a:solidFill>
                <a:schemeClr val="dk1"/>
              </a:solidFill>
              <a:latin typeface="Calibri"/>
              <a:ea typeface="Calibri"/>
              <a:cs typeface="Calibri"/>
              <a:sym typeface="Calibri"/>
            </a:endParaRPr>
          </a:p>
        </p:txBody>
      </p:sp>
      <p:sp>
        <p:nvSpPr>
          <p:cNvPr id="789" name="Google Shape;789;p20"/>
          <p:cNvSpPr/>
          <p:nvPr/>
        </p:nvSpPr>
        <p:spPr>
          <a:xfrm>
            <a:off x="8348875" y="3591939"/>
            <a:ext cx="455700" cy="327300"/>
          </a:xfrm>
          <a:prstGeom prst="roundRect">
            <a:avLst>
              <a:gd fmla="val 25714" name="adj"/>
            </a:avLst>
          </a:prstGeom>
          <a:solidFill>
            <a:srgbClr val="E69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90" name="Google Shape;790;p20"/>
          <p:cNvSpPr/>
          <p:nvPr/>
        </p:nvSpPr>
        <p:spPr>
          <a:xfrm>
            <a:off x="8455449" y="3591962"/>
            <a:ext cx="3384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1F10"/>
              </a:buClr>
              <a:buSzPts val="975"/>
              <a:buFont typeface="Poppins"/>
              <a:buNone/>
            </a:pPr>
            <a:r>
              <a:rPr b="1" i="0" lang="en-US" sz="1675" u="none" cap="none" strike="noStrike">
                <a:solidFill>
                  <a:srgbClr val="7A1F10"/>
                </a:solidFill>
                <a:latin typeface="Poppins"/>
                <a:ea typeface="Poppins"/>
                <a:cs typeface="Poppins"/>
                <a:sym typeface="Poppins"/>
              </a:rPr>
              <a:t>T2</a:t>
            </a:r>
            <a:endParaRPr b="0" i="0" sz="1675" u="none" cap="none" strike="noStrike">
              <a:solidFill>
                <a:schemeClr val="dk1"/>
              </a:solidFill>
              <a:latin typeface="Calibri"/>
              <a:ea typeface="Calibri"/>
              <a:cs typeface="Calibri"/>
              <a:sym typeface="Calibri"/>
            </a:endParaRPr>
          </a:p>
        </p:txBody>
      </p:sp>
      <p:sp>
        <p:nvSpPr>
          <p:cNvPr id="791" name="Google Shape;791;p20"/>
          <p:cNvSpPr/>
          <p:nvPr/>
        </p:nvSpPr>
        <p:spPr>
          <a:xfrm>
            <a:off x="8950073" y="3613000"/>
            <a:ext cx="80697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Validator defects create incorrect training labels - Lithma </a:t>
            </a:r>
            <a:r>
              <a:rPr lang="en-US" sz="1900">
                <a:solidFill>
                  <a:srgbClr val="16324A"/>
                </a:solidFill>
                <a:latin typeface="Inter"/>
                <a:ea typeface="Inter"/>
                <a:cs typeface="Inter"/>
                <a:sym typeface="Inter"/>
              </a:rPr>
              <a:t>&amp; Sulakna</a:t>
            </a:r>
            <a:endParaRPr b="0" i="0" sz="1900" u="none" cap="none" strike="noStrike">
              <a:solidFill>
                <a:schemeClr val="dk1"/>
              </a:solidFill>
              <a:latin typeface="Calibri"/>
              <a:ea typeface="Calibri"/>
              <a:cs typeface="Calibri"/>
              <a:sym typeface="Calibri"/>
            </a:endParaRPr>
          </a:p>
        </p:txBody>
      </p:sp>
      <p:sp>
        <p:nvSpPr>
          <p:cNvPr id="792" name="Google Shape;792;p20"/>
          <p:cNvSpPr/>
          <p:nvPr/>
        </p:nvSpPr>
        <p:spPr>
          <a:xfrm>
            <a:off x="8345725" y="4083929"/>
            <a:ext cx="462000" cy="327300"/>
          </a:xfrm>
          <a:prstGeom prst="roundRect">
            <a:avLst>
              <a:gd fmla="val 25714"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93" name="Google Shape;793;p20"/>
          <p:cNvSpPr/>
          <p:nvPr/>
        </p:nvSpPr>
        <p:spPr>
          <a:xfrm>
            <a:off x="8465474" y="4080452"/>
            <a:ext cx="3447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4A05"/>
              </a:buClr>
              <a:buSzPts val="975"/>
              <a:buFont typeface="Poppins"/>
              <a:buNone/>
            </a:pPr>
            <a:r>
              <a:rPr b="1" i="0" lang="en-US" sz="1675" u="none" cap="none" strike="noStrike">
                <a:solidFill>
                  <a:srgbClr val="7A4A05"/>
                </a:solidFill>
                <a:latin typeface="Poppins"/>
                <a:ea typeface="Poppins"/>
                <a:cs typeface="Poppins"/>
                <a:sym typeface="Poppins"/>
              </a:rPr>
              <a:t>T3</a:t>
            </a:r>
            <a:endParaRPr b="0" i="0" sz="1675" u="none" cap="none" strike="noStrike">
              <a:solidFill>
                <a:schemeClr val="dk1"/>
              </a:solidFill>
              <a:latin typeface="Calibri"/>
              <a:ea typeface="Calibri"/>
              <a:cs typeface="Calibri"/>
              <a:sym typeface="Calibri"/>
            </a:endParaRPr>
          </a:p>
        </p:txBody>
      </p:sp>
      <p:sp>
        <p:nvSpPr>
          <p:cNvPr id="794" name="Google Shape;794;p20"/>
          <p:cNvSpPr/>
          <p:nvPr/>
        </p:nvSpPr>
        <p:spPr>
          <a:xfrm>
            <a:off x="8956470" y="4052400"/>
            <a:ext cx="80697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Calibration overfits the validation set - Lithma</a:t>
            </a:r>
            <a:endParaRPr b="0" i="0" sz="1900" u="none" cap="none" strike="noStrike">
              <a:solidFill>
                <a:schemeClr val="dk1"/>
              </a:solidFill>
              <a:latin typeface="Calibri"/>
              <a:ea typeface="Calibri"/>
              <a:cs typeface="Calibri"/>
              <a:sym typeface="Calibri"/>
            </a:endParaRPr>
          </a:p>
        </p:txBody>
      </p:sp>
      <p:sp>
        <p:nvSpPr>
          <p:cNvPr id="795" name="Google Shape;795;p20"/>
          <p:cNvSpPr/>
          <p:nvPr/>
        </p:nvSpPr>
        <p:spPr>
          <a:xfrm>
            <a:off x="8156275" y="4421500"/>
            <a:ext cx="9179100" cy="2038200"/>
          </a:xfrm>
          <a:prstGeom prst="roundRect">
            <a:avLst>
              <a:gd fmla="val 1193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96" name="Google Shape;796;p20"/>
          <p:cNvSpPr/>
          <p:nvPr/>
        </p:nvSpPr>
        <p:spPr>
          <a:xfrm>
            <a:off x="8346775" y="4575915"/>
            <a:ext cx="2675100" cy="37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SCHEDULE</a:t>
            </a:r>
            <a:endParaRPr b="0" i="0" sz="1825" u="none" cap="none" strike="noStrike">
              <a:solidFill>
                <a:schemeClr val="dk1"/>
              </a:solidFill>
              <a:latin typeface="Calibri"/>
              <a:ea typeface="Calibri"/>
              <a:cs typeface="Calibri"/>
              <a:sym typeface="Calibri"/>
            </a:endParaRPr>
          </a:p>
        </p:txBody>
      </p:sp>
      <p:sp>
        <p:nvSpPr>
          <p:cNvPr id="797" name="Google Shape;797;p20"/>
          <p:cNvSpPr/>
          <p:nvPr/>
        </p:nvSpPr>
        <p:spPr>
          <a:xfrm>
            <a:off x="8344338" y="5057415"/>
            <a:ext cx="422700" cy="327300"/>
          </a:xfrm>
          <a:prstGeom prst="roundRect">
            <a:avLst>
              <a:gd fmla="val 25714"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798" name="Google Shape;798;p20"/>
          <p:cNvSpPr/>
          <p:nvPr/>
        </p:nvSpPr>
        <p:spPr>
          <a:xfrm>
            <a:off x="8461411" y="5085463"/>
            <a:ext cx="3057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4A05"/>
              </a:buClr>
              <a:buSzPts val="975"/>
              <a:buFont typeface="Poppins"/>
              <a:buNone/>
            </a:pPr>
            <a:r>
              <a:rPr b="1" i="0" lang="en-US" sz="1675" u="none" cap="none" strike="noStrike">
                <a:solidFill>
                  <a:srgbClr val="7A4A05"/>
                </a:solidFill>
                <a:latin typeface="Poppins"/>
                <a:ea typeface="Poppins"/>
                <a:cs typeface="Poppins"/>
                <a:sym typeface="Poppins"/>
              </a:rPr>
              <a:t>S1</a:t>
            </a:r>
            <a:endParaRPr b="0" i="0" sz="1675" u="none" cap="none" strike="noStrike">
              <a:solidFill>
                <a:schemeClr val="dk1"/>
              </a:solidFill>
              <a:latin typeface="Calibri"/>
              <a:ea typeface="Calibri"/>
              <a:cs typeface="Calibri"/>
              <a:sym typeface="Calibri"/>
            </a:endParaRPr>
          </a:p>
        </p:txBody>
      </p:sp>
      <p:sp>
        <p:nvSpPr>
          <p:cNvPr id="799" name="Google Shape;799;p20"/>
          <p:cNvSpPr/>
          <p:nvPr/>
        </p:nvSpPr>
        <p:spPr>
          <a:xfrm>
            <a:off x="8948450" y="5023749"/>
            <a:ext cx="8069700" cy="6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Scope creep from adding models, domains, or iterative loops</a:t>
            </a:r>
            <a:r>
              <a:rPr lang="en-US" sz="1900">
                <a:solidFill>
                  <a:srgbClr val="16324A"/>
                </a:solidFill>
                <a:latin typeface="Inter"/>
                <a:ea typeface="Inter"/>
                <a:cs typeface="Inter"/>
                <a:sym typeface="Inter"/>
              </a:rPr>
              <a:t> - Sayuru</a:t>
            </a:r>
            <a:endParaRPr b="0" i="0" sz="1900" u="none" cap="none" strike="noStrike">
              <a:solidFill>
                <a:schemeClr val="dk1"/>
              </a:solidFill>
              <a:latin typeface="Calibri"/>
              <a:ea typeface="Calibri"/>
              <a:cs typeface="Calibri"/>
              <a:sym typeface="Calibri"/>
            </a:endParaRPr>
          </a:p>
        </p:txBody>
      </p:sp>
      <p:sp>
        <p:nvSpPr>
          <p:cNvPr id="800" name="Google Shape;800;p20"/>
          <p:cNvSpPr/>
          <p:nvPr/>
        </p:nvSpPr>
        <p:spPr>
          <a:xfrm>
            <a:off x="8346775" y="5711880"/>
            <a:ext cx="459900" cy="327300"/>
          </a:xfrm>
          <a:prstGeom prst="roundRect">
            <a:avLst>
              <a:gd fmla="val 25714" name="adj"/>
            </a:avLst>
          </a:prstGeom>
          <a:solidFill>
            <a:srgbClr val="F3C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801" name="Google Shape;801;p20"/>
          <p:cNvSpPr/>
          <p:nvPr/>
        </p:nvSpPr>
        <p:spPr>
          <a:xfrm>
            <a:off x="8463849" y="5739927"/>
            <a:ext cx="3429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4A05"/>
              </a:buClr>
              <a:buSzPts val="975"/>
              <a:buFont typeface="Poppins"/>
              <a:buNone/>
            </a:pPr>
            <a:r>
              <a:rPr b="1" i="0" lang="en-US" sz="1675" u="none" cap="none" strike="noStrike">
                <a:solidFill>
                  <a:srgbClr val="7A4A05"/>
                </a:solidFill>
                <a:latin typeface="Poppins"/>
                <a:ea typeface="Poppins"/>
                <a:cs typeface="Poppins"/>
                <a:sym typeface="Poppins"/>
              </a:rPr>
              <a:t>S2</a:t>
            </a:r>
            <a:endParaRPr b="0" i="0" sz="1675" u="none" cap="none" strike="noStrike">
              <a:solidFill>
                <a:schemeClr val="dk1"/>
              </a:solidFill>
              <a:latin typeface="Calibri"/>
              <a:ea typeface="Calibri"/>
              <a:cs typeface="Calibri"/>
              <a:sym typeface="Calibri"/>
            </a:endParaRPr>
          </a:p>
        </p:txBody>
      </p:sp>
      <p:sp>
        <p:nvSpPr>
          <p:cNvPr id="802" name="Google Shape;802;p20"/>
          <p:cNvSpPr/>
          <p:nvPr/>
        </p:nvSpPr>
        <p:spPr>
          <a:xfrm>
            <a:off x="8953025" y="5711875"/>
            <a:ext cx="8069700" cy="666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Milestones slip if pilot findings force feature or validator redesign -</a:t>
            </a:r>
            <a:endParaRPr b="0" i="0" sz="1900" u="none" cap="none" strike="noStrike">
              <a:solidFill>
                <a:srgbClr val="16324A"/>
              </a:solidFill>
              <a:latin typeface="Inter"/>
              <a:ea typeface="Inter"/>
              <a:cs typeface="Inter"/>
              <a:sym typeface="Inter"/>
            </a:endParaRPr>
          </a:p>
          <a:p>
            <a:pPr indent="0" lvl="0" marL="0" marR="0" rtl="0" algn="l">
              <a:spcBef>
                <a:spcPts val="0"/>
              </a:spcBef>
              <a:spcAft>
                <a:spcPts val="0"/>
              </a:spcAft>
              <a:buClr>
                <a:srgbClr val="16324A"/>
              </a:buClr>
              <a:buSzPts val="1200"/>
              <a:buFont typeface="Inter"/>
              <a:buNone/>
            </a:pPr>
            <a:r>
              <a:rPr lang="en-US" sz="1900">
                <a:solidFill>
                  <a:srgbClr val="16324A"/>
                </a:solidFill>
                <a:latin typeface="Inter"/>
                <a:ea typeface="Inter"/>
                <a:cs typeface="Inter"/>
                <a:sym typeface="Inter"/>
              </a:rPr>
              <a:t>Sayuru</a:t>
            </a:r>
            <a:endParaRPr sz="1900">
              <a:solidFill>
                <a:srgbClr val="16324A"/>
              </a:solidFill>
              <a:latin typeface="Inter"/>
              <a:ea typeface="Inter"/>
              <a:cs typeface="Inter"/>
              <a:sym typeface="Inter"/>
            </a:endParaRPr>
          </a:p>
        </p:txBody>
      </p:sp>
      <p:sp>
        <p:nvSpPr>
          <p:cNvPr id="803" name="Google Shape;803;p20"/>
          <p:cNvSpPr/>
          <p:nvPr/>
        </p:nvSpPr>
        <p:spPr>
          <a:xfrm>
            <a:off x="8156275" y="6459823"/>
            <a:ext cx="9179100" cy="1206000"/>
          </a:xfrm>
          <a:prstGeom prst="roundRect">
            <a:avLst>
              <a:gd fmla="val 162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804" name="Google Shape;804;p20"/>
          <p:cNvSpPr/>
          <p:nvPr/>
        </p:nvSpPr>
        <p:spPr>
          <a:xfrm>
            <a:off x="8346775" y="6684190"/>
            <a:ext cx="2675100" cy="37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RESOURCE</a:t>
            </a:r>
            <a:endParaRPr b="0" i="0" sz="1825" u="none" cap="none" strike="noStrike">
              <a:solidFill>
                <a:schemeClr val="dk1"/>
              </a:solidFill>
              <a:latin typeface="Calibri"/>
              <a:ea typeface="Calibri"/>
              <a:cs typeface="Calibri"/>
              <a:sym typeface="Calibri"/>
            </a:endParaRPr>
          </a:p>
        </p:txBody>
      </p:sp>
      <p:sp>
        <p:nvSpPr>
          <p:cNvPr id="805" name="Google Shape;805;p20"/>
          <p:cNvSpPr/>
          <p:nvPr/>
        </p:nvSpPr>
        <p:spPr>
          <a:xfrm>
            <a:off x="8346775" y="7114266"/>
            <a:ext cx="429600" cy="327300"/>
          </a:xfrm>
          <a:prstGeom prst="roundRect">
            <a:avLst>
              <a:gd fmla="val 25714" name="adj"/>
            </a:avLst>
          </a:prstGeom>
          <a:solidFill>
            <a:srgbClr val="E69A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806" name="Google Shape;806;p20"/>
          <p:cNvSpPr/>
          <p:nvPr/>
        </p:nvSpPr>
        <p:spPr>
          <a:xfrm>
            <a:off x="8463849" y="7142314"/>
            <a:ext cx="3126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A1F10"/>
              </a:buClr>
              <a:buSzPts val="975"/>
              <a:buFont typeface="Poppins"/>
              <a:buNone/>
            </a:pPr>
            <a:r>
              <a:rPr b="1" i="0" lang="en-US" sz="1675" u="none" cap="none" strike="noStrike">
                <a:solidFill>
                  <a:srgbClr val="7A1F10"/>
                </a:solidFill>
                <a:latin typeface="Poppins"/>
                <a:ea typeface="Poppins"/>
                <a:cs typeface="Poppins"/>
                <a:sym typeface="Poppins"/>
              </a:rPr>
              <a:t>R1</a:t>
            </a:r>
            <a:endParaRPr b="0" i="0" sz="1675" u="none" cap="none" strike="noStrike">
              <a:solidFill>
                <a:schemeClr val="dk1"/>
              </a:solidFill>
              <a:latin typeface="Calibri"/>
              <a:ea typeface="Calibri"/>
              <a:cs typeface="Calibri"/>
              <a:sym typeface="Calibri"/>
            </a:endParaRPr>
          </a:p>
        </p:txBody>
      </p:sp>
      <p:sp>
        <p:nvSpPr>
          <p:cNvPr id="807" name="Google Shape;807;p20"/>
          <p:cNvSpPr/>
          <p:nvPr/>
        </p:nvSpPr>
        <p:spPr>
          <a:xfrm>
            <a:off x="8922851" y="7114275"/>
            <a:ext cx="79524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API or compute limits delay action-outcome generation - Sulakna</a:t>
            </a:r>
            <a:endParaRPr b="0" i="0" sz="1900" u="none" cap="none" strike="noStrike">
              <a:solidFill>
                <a:schemeClr val="dk1"/>
              </a:solidFill>
              <a:latin typeface="Calibri"/>
              <a:ea typeface="Calibri"/>
              <a:cs typeface="Calibri"/>
              <a:sym typeface="Calibri"/>
            </a:endParaRPr>
          </a:p>
        </p:txBody>
      </p:sp>
      <p:sp>
        <p:nvSpPr>
          <p:cNvPr id="808" name="Google Shape;808;p20"/>
          <p:cNvSpPr/>
          <p:nvPr/>
        </p:nvSpPr>
        <p:spPr>
          <a:xfrm>
            <a:off x="8156275" y="7862211"/>
            <a:ext cx="9179100" cy="1206000"/>
          </a:xfrm>
          <a:prstGeom prst="roundRect">
            <a:avLst>
              <a:gd fmla="val 162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809" name="Google Shape;809;p20"/>
          <p:cNvSpPr/>
          <p:nvPr/>
        </p:nvSpPr>
        <p:spPr>
          <a:xfrm>
            <a:off x="8346775" y="8086576"/>
            <a:ext cx="2675100" cy="37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STAKEHOLDER</a:t>
            </a:r>
            <a:endParaRPr b="0" i="0" sz="1825" u="none" cap="none" strike="noStrike">
              <a:solidFill>
                <a:schemeClr val="dk1"/>
              </a:solidFill>
              <a:latin typeface="Calibri"/>
              <a:ea typeface="Calibri"/>
              <a:cs typeface="Calibri"/>
              <a:sym typeface="Calibri"/>
            </a:endParaRPr>
          </a:p>
        </p:txBody>
      </p:sp>
      <p:sp>
        <p:nvSpPr>
          <p:cNvPr id="810" name="Google Shape;810;p20"/>
          <p:cNvSpPr/>
          <p:nvPr/>
        </p:nvSpPr>
        <p:spPr>
          <a:xfrm>
            <a:off x="8346775" y="8516652"/>
            <a:ext cx="438300" cy="327300"/>
          </a:xfrm>
          <a:prstGeom prst="roundRect">
            <a:avLst>
              <a:gd fmla="val 25714" name="adj"/>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811" name="Google Shape;811;p20"/>
          <p:cNvSpPr/>
          <p:nvPr/>
        </p:nvSpPr>
        <p:spPr>
          <a:xfrm>
            <a:off x="8463849" y="8544700"/>
            <a:ext cx="321600" cy="327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975"/>
              <a:buFont typeface="Poppins"/>
              <a:buNone/>
            </a:pPr>
            <a:r>
              <a:rPr b="1" i="0" lang="en-US" sz="1675" u="none" cap="none" strike="noStrike">
                <a:solidFill>
                  <a:srgbClr val="084594"/>
                </a:solidFill>
                <a:latin typeface="Poppins"/>
                <a:ea typeface="Poppins"/>
                <a:cs typeface="Poppins"/>
                <a:sym typeface="Poppins"/>
              </a:rPr>
              <a:t>K1</a:t>
            </a:r>
            <a:endParaRPr b="0" i="0" sz="1675" u="none" cap="none" strike="noStrike">
              <a:solidFill>
                <a:schemeClr val="dk1"/>
              </a:solidFill>
              <a:latin typeface="Calibri"/>
              <a:ea typeface="Calibri"/>
              <a:cs typeface="Calibri"/>
              <a:sym typeface="Calibri"/>
            </a:endParaRPr>
          </a:p>
        </p:txBody>
      </p:sp>
      <p:sp>
        <p:nvSpPr>
          <p:cNvPr id="812" name="Google Shape;812;p20"/>
          <p:cNvSpPr/>
          <p:nvPr/>
        </p:nvSpPr>
        <p:spPr>
          <a:xfrm>
            <a:off x="8931525" y="8359500"/>
            <a:ext cx="8594400" cy="6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200"/>
              <a:buFont typeface="Inter"/>
              <a:buNone/>
            </a:pPr>
            <a:r>
              <a:rPr b="0" i="0" lang="en-US" sz="1900" u="none" cap="none" strike="noStrike">
                <a:solidFill>
                  <a:srgbClr val="16324A"/>
                </a:solidFill>
                <a:latin typeface="Inter"/>
                <a:ea typeface="Inter"/>
                <a:cs typeface="Inter"/>
                <a:sym typeface="Inter"/>
              </a:rPr>
              <a:t>Limited supervisor or examiner availability delays key design decisions</a:t>
            </a:r>
            <a:endParaRPr b="0" i="0" sz="1900" u="none" cap="none" strike="noStrike">
              <a:solidFill>
                <a:srgbClr val="16324A"/>
              </a:solidFill>
              <a:latin typeface="Inter"/>
              <a:ea typeface="Inter"/>
              <a:cs typeface="Inter"/>
              <a:sym typeface="Inter"/>
            </a:endParaRPr>
          </a:p>
          <a:p>
            <a:pPr indent="0" lvl="0" marL="0" marR="0" rtl="0" algn="l">
              <a:spcBef>
                <a:spcPts val="0"/>
              </a:spcBef>
              <a:spcAft>
                <a:spcPts val="0"/>
              </a:spcAft>
              <a:buClr>
                <a:srgbClr val="16324A"/>
              </a:buClr>
              <a:buSzPts val="1200"/>
              <a:buFont typeface="Inter"/>
              <a:buNone/>
            </a:pPr>
            <a:r>
              <a:rPr lang="en-US" sz="1900">
                <a:solidFill>
                  <a:srgbClr val="16324A"/>
                </a:solidFill>
                <a:latin typeface="Inter"/>
                <a:ea typeface="Inter"/>
                <a:cs typeface="Inter"/>
                <a:sym typeface="Inter"/>
              </a:rPr>
              <a:t>Sulakna &amp; Sayuru</a:t>
            </a:r>
            <a:endParaRPr sz="1900">
              <a:solidFill>
                <a:srgbClr val="16324A"/>
              </a:solidFill>
              <a:latin typeface="Inter"/>
              <a:ea typeface="Inter"/>
              <a:cs typeface="Inter"/>
              <a:sym typeface="Inter"/>
            </a:endParaRPr>
          </a:p>
        </p:txBody>
      </p:sp>
      <p:sp>
        <p:nvSpPr>
          <p:cNvPr id="813" name="Google Shape;813;p20"/>
          <p:cNvSpPr/>
          <p:nvPr/>
        </p:nvSpPr>
        <p:spPr>
          <a:xfrm>
            <a:off x="8346778" y="9677500"/>
            <a:ext cx="10097100" cy="209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125"/>
              <a:buFont typeface="Inter"/>
              <a:buNone/>
            </a:pPr>
            <a:r>
              <a:rPr b="0" i="0" lang="en-US" sz="1125" u="none" cap="none" strike="noStrike">
                <a:solidFill>
                  <a:srgbClr val="4A6785"/>
                </a:solidFill>
                <a:latin typeface="Inter"/>
                <a:ea typeface="Inter"/>
                <a:cs typeface="Inter"/>
                <a:sym typeface="Inter"/>
              </a:rPr>
              <a:t>Sources: PMI, PMBOK Guide 7th ed. (2021), project risk management principles</a:t>
            </a:r>
            <a:endParaRPr b="0" i="0" sz="1125" u="none" cap="none" strike="noStrike">
              <a:solidFill>
                <a:schemeClr val="dk1"/>
              </a:solidFill>
              <a:latin typeface="Calibri"/>
              <a:ea typeface="Calibri"/>
              <a:cs typeface="Calibri"/>
              <a:sym typeface="Calibri"/>
            </a:endParaRPr>
          </a:p>
        </p:txBody>
      </p:sp>
      <p:pic>
        <p:nvPicPr>
          <p:cNvPr id="814" name="Google Shape;814;p20"/>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21"/>
          <p:cNvSpPr/>
          <p:nvPr/>
        </p:nvSpPr>
        <p:spPr>
          <a:xfrm>
            <a:off x="1143000" y="1301750"/>
            <a:ext cx="17602200"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600"/>
              <a:buFont typeface="Poppins"/>
              <a:buNone/>
            </a:pPr>
            <a:r>
              <a:rPr b="1" i="0" lang="en-US" sz="3600" u="none" cap="none" strike="noStrike">
                <a:solidFill>
                  <a:srgbClr val="084594"/>
                </a:solidFill>
                <a:latin typeface="Poppins"/>
                <a:ea typeface="Poppins"/>
                <a:cs typeface="Poppins"/>
                <a:sym typeface="Poppins"/>
              </a:rPr>
              <a:t>Risk Mitigation Strategies</a:t>
            </a:r>
            <a:endParaRPr b="0" i="0" sz="3600" u="none" cap="none" strike="noStrike">
              <a:solidFill>
                <a:schemeClr val="dk1"/>
              </a:solidFill>
              <a:latin typeface="Calibri"/>
              <a:ea typeface="Calibri"/>
              <a:cs typeface="Calibri"/>
              <a:sym typeface="Calibri"/>
            </a:endParaRPr>
          </a:p>
        </p:txBody>
      </p:sp>
      <p:sp>
        <p:nvSpPr>
          <p:cNvPr id="821" name="Google Shape;821;p21"/>
          <p:cNvSpPr/>
          <p:nvPr/>
        </p:nvSpPr>
        <p:spPr>
          <a:xfrm>
            <a:off x="1143000" y="2257425"/>
            <a:ext cx="5143500" cy="6635700"/>
          </a:xfrm>
          <a:prstGeom prst="roundRect">
            <a:avLst>
              <a:gd fmla="val 40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1143000" y="2257425"/>
            <a:ext cx="5143500" cy="762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1447800" y="2638425"/>
            <a:ext cx="4987200" cy="597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i="0" lang="en-US" sz="2150" u="none" cap="none" strike="noStrike">
                <a:solidFill>
                  <a:srgbClr val="084594"/>
                </a:solidFill>
                <a:latin typeface="Poppins"/>
                <a:ea typeface="Poppins"/>
                <a:cs typeface="Poppins"/>
                <a:sym typeface="Poppins"/>
              </a:rPr>
              <a:t>Preventive Actions</a:t>
            </a:r>
            <a:endParaRPr b="0" i="0" sz="2150" u="none" cap="none" strike="noStrike">
              <a:solidFill>
                <a:schemeClr val="dk1"/>
              </a:solidFill>
              <a:latin typeface="Calibri"/>
              <a:ea typeface="Calibri"/>
              <a:cs typeface="Calibri"/>
              <a:sym typeface="Calibri"/>
            </a:endParaRPr>
          </a:p>
        </p:txBody>
      </p:sp>
      <p:sp>
        <p:nvSpPr>
          <p:cNvPr id="824" name="Google Shape;824;p21"/>
          <p:cNvSpPr/>
          <p:nvPr/>
        </p:nvSpPr>
        <p:spPr>
          <a:xfrm>
            <a:off x="1447800" y="3460848"/>
            <a:ext cx="25500" cy="80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25" name="Google Shape;825;p21"/>
          <p:cNvSpPr/>
          <p:nvPr/>
        </p:nvSpPr>
        <p:spPr>
          <a:xfrm>
            <a:off x="1663700" y="34608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Run a 100–150 example pilot in Sprints 3–4 before committing to full-scale generation</a:t>
            </a:r>
            <a:endParaRPr b="0" i="0" sz="1850" u="none" cap="none" strike="noStrike">
              <a:solidFill>
                <a:schemeClr val="dk1"/>
              </a:solidFill>
              <a:latin typeface="Calibri"/>
              <a:ea typeface="Calibri"/>
              <a:cs typeface="Calibri"/>
              <a:sym typeface="Calibri"/>
            </a:endParaRPr>
          </a:p>
        </p:txBody>
      </p:sp>
      <p:sp>
        <p:nvSpPr>
          <p:cNvPr id="826" name="Google Shape;826;p21"/>
          <p:cNvSpPr/>
          <p:nvPr/>
        </p:nvSpPr>
        <p:spPr>
          <a:xfrm>
            <a:off x="1447800" y="4492549"/>
            <a:ext cx="25500" cy="80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27" name="Google Shape;827;p21"/>
          <p:cNvSpPr/>
          <p:nvPr/>
        </p:nvSpPr>
        <p:spPr>
          <a:xfrm>
            <a:off x="1663700" y="4492549"/>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Stratified task sampling and class weighting to balance action outcomes</a:t>
            </a:r>
            <a:endParaRPr b="0" i="0" sz="1850" u="none" cap="none" strike="noStrike">
              <a:solidFill>
                <a:schemeClr val="dk1"/>
              </a:solidFill>
              <a:latin typeface="Calibri"/>
              <a:ea typeface="Calibri"/>
              <a:cs typeface="Calibri"/>
              <a:sym typeface="Calibri"/>
            </a:endParaRPr>
          </a:p>
        </p:txBody>
      </p:sp>
      <p:sp>
        <p:nvSpPr>
          <p:cNvPr id="828" name="Google Shape;828;p21"/>
          <p:cNvSpPr/>
          <p:nvPr/>
        </p:nvSpPr>
        <p:spPr>
          <a:xfrm>
            <a:off x="1447800" y="5524248"/>
            <a:ext cx="25500" cy="80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29" name="Google Shape;829;p21"/>
          <p:cNvSpPr/>
          <p:nvPr/>
        </p:nvSpPr>
        <p:spPr>
          <a:xfrm>
            <a:off x="1663700" y="55242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Unit-test every validator before any data generation begins</a:t>
            </a:r>
            <a:endParaRPr b="0" i="0" sz="1850" u="none" cap="none" strike="noStrike">
              <a:solidFill>
                <a:schemeClr val="dk1"/>
              </a:solidFill>
              <a:latin typeface="Calibri"/>
              <a:ea typeface="Calibri"/>
              <a:cs typeface="Calibri"/>
              <a:sym typeface="Calibri"/>
            </a:endParaRPr>
          </a:p>
        </p:txBody>
      </p:sp>
      <p:sp>
        <p:nvSpPr>
          <p:cNvPr id="830" name="Google Shape;830;p21"/>
          <p:cNvSpPr/>
          <p:nvPr/>
        </p:nvSpPr>
        <p:spPr>
          <a:xfrm>
            <a:off x="1447800" y="6555947"/>
            <a:ext cx="25500" cy="80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31" name="Google Shape;831;p21"/>
          <p:cNvSpPr/>
          <p:nvPr/>
        </p:nvSpPr>
        <p:spPr>
          <a:xfrm>
            <a:off x="1663700" y="6555947"/>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Lock the MVP scope after Sprint 4; new ideas go to a future-work backlog</a:t>
            </a:r>
            <a:endParaRPr b="0" i="0" sz="1850" u="none" cap="none" strike="noStrike">
              <a:solidFill>
                <a:schemeClr val="dk1"/>
              </a:solidFill>
              <a:latin typeface="Calibri"/>
              <a:ea typeface="Calibri"/>
              <a:cs typeface="Calibri"/>
              <a:sym typeface="Calibri"/>
            </a:endParaRPr>
          </a:p>
        </p:txBody>
      </p:sp>
      <p:sp>
        <p:nvSpPr>
          <p:cNvPr id="832" name="Google Shape;832;p21"/>
          <p:cNvSpPr/>
          <p:nvPr/>
        </p:nvSpPr>
        <p:spPr>
          <a:xfrm>
            <a:off x="1447800" y="7587647"/>
            <a:ext cx="25500" cy="8073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33" name="Google Shape;833;p21"/>
          <p:cNvSpPr/>
          <p:nvPr/>
        </p:nvSpPr>
        <p:spPr>
          <a:xfrm>
            <a:off x="1663700" y="7587647"/>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Fix one strong model and cache outputs to control API and compute cost</a:t>
            </a:r>
            <a:endParaRPr b="0" i="0" sz="1850" u="none" cap="none" strike="noStrike">
              <a:solidFill>
                <a:schemeClr val="dk1"/>
              </a:solidFill>
              <a:latin typeface="Calibri"/>
              <a:ea typeface="Calibri"/>
              <a:cs typeface="Calibri"/>
              <a:sym typeface="Calibri"/>
            </a:endParaRPr>
          </a:p>
        </p:txBody>
      </p:sp>
      <p:sp>
        <p:nvSpPr>
          <p:cNvPr id="834" name="Google Shape;834;p21"/>
          <p:cNvSpPr/>
          <p:nvPr/>
        </p:nvSpPr>
        <p:spPr>
          <a:xfrm>
            <a:off x="6572250" y="2257425"/>
            <a:ext cx="5143500" cy="6635700"/>
          </a:xfrm>
          <a:prstGeom prst="roundRect">
            <a:avLst>
              <a:gd fmla="val 40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6572250" y="2257425"/>
            <a:ext cx="5143500" cy="762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a:off x="6877050" y="2638425"/>
            <a:ext cx="4987200" cy="597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i="0" lang="en-US" sz="2150" u="none" cap="none" strike="noStrike">
                <a:solidFill>
                  <a:srgbClr val="084594"/>
                </a:solidFill>
                <a:latin typeface="Poppins"/>
                <a:ea typeface="Poppins"/>
                <a:cs typeface="Poppins"/>
                <a:sym typeface="Poppins"/>
              </a:rPr>
              <a:t>Contingency Plans</a:t>
            </a:r>
            <a:endParaRPr b="0" i="0" sz="2150" u="none" cap="none" strike="noStrike">
              <a:solidFill>
                <a:schemeClr val="dk1"/>
              </a:solidFill>
              <a:latin typeface="Calibri"/>
              <a:ea typeface="Calibri"/>
              <a:cs typeface="Calibri"/>
              <a:sym typeface="Calibri"/>
            </a:endParaRPr>
          </a:p>
        </p:txBody>
      </p:sp>
      <p:sp>
        <p:nvSpPr>
          <p:cNvPr id="837" name="Google Shape;837;p21"/>
          <p:cNvSpPr/>
          <p:nvPr/>
        </p:nvSpPr>
        <p:spPr>
          <a:xfrm>
            <a:off x="6877050" y="3460848"/>
            <a:ext cx="25500" cy="8073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38" name="Google Shape;838;p21"/>
          <p:cNvSpPr/>
          <p:nvPr/>
        </p:nvSpPr>
        <p:spPr>
          <a:xfrm>
            <a:off x="7092950" y="34608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If imbalance persists after the pilot, adjust task mix and failure strata before full generation</a:t>
            </a:r>
            <a:endParaRPr b="0" i="0" sz="1850" u="none" cap="none" strike="noStrike">
              <a:solidFill>
                <a:schemeClr val="dk1"/>
              </a:solidFill>
              <a:latin typeface="Calibri"/>
              <a:ea typeface="Calibri"/>
              <a:cs typeface="Calibri"/>
              <a:sym typeface="Calibri"/>
            </a:endParaRPr>
          </a:p>
        </p:txBody>
      </p:sp>
      <p:sp>
        <p:nvSpPr>
          <p:cNvPr id="839" name="Google Shape;839;p21"/>
          <p:cNvSpPr/>
          <p:nvPr/>
        </p:nvSpPr>
        <p:spPr>
          <a:xfrm>
            <a:off x="6877050" y="4492549"/>
            <a:ext cx="25500" cy="12111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40" name="Google Shape;840;p21"/>
          <p:cNvSpPr/>
          <p:nvPr/>
        </p:nvSpPr>
        <p:spPr>
          <a:xfrm>
            <a:off x="7092950" y="4492549"/>
            <a:ext cx="4454100" cy="12750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If API or compute is disrupted, resume from checkpointed, cached outputs rather than regenerating</a:t>
            </a:r>
            <a:endParaRPr b="0" i="0" sz="1850" u="none" cap="none" strike="noStrike">
              <a:solidFill>
                <a:schemeClr val="dk1"/>
              </a:solidFill>
              <a:latin typeface="Calibri"/>
              <a:ea typeface="Calibri"/>
              <a:cs typeface="Calibri"/>
              <a:sym typeface="Calibri"/>
            </a:endParaRPr>
          </a:p>
        </p:txBody>
      </p:sp>
      <p:sp>
        <p:nvSpPr>
          <p:cNvPr id="841" name="Google Shape;841;p21"/>
          <p:cNvSpPr/>
          <p:nvPr/>
        </p:nvSpPr>
        <p:spPr>
          <a:xfrm>
            <a:off x="6877050" y="5927949"/>
            <a:ext cx="25500" cy="8073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42" name="Google Shape;842;p21"/>
          <p:cNvSpPr/>
          <p:nvPr/>
        </p:nvSpPr>
        <p:spPr>
          <a:xfrm>
            <a:off x="7092950" y="5927949"/>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If calibration overfits, fall back to isotonic regression and report both methods</a:t>
            </a:r>
            <a:endParaRPr b="0" i="0" sz="1850" u="none" cap="none" strike="noStrike">
              <a:solidFill>
                <a:schemeClr val="dk1"/>
              </a:solidFill>
              <a:latin typeface="Calibri"/>
              <a:ea typeface="Calibri"/>
              <a:cs typeface="Calibri"/>
              <a:sym typeface="Calibri"/>
            </a:endParaRPr>
          </a:p>
        </p:txBody>
      </p:sp>
      <p:sp>
        <p:nvSpPr>
          <p:cNvPr id="843" name="Google Shape;843;p21"/>
          <p:cNvSpPr/>
          <p:nvPr/>
        </p:nvSpPr>
        <p:spPr>
          <a:xfrm>
            <a:off x="6877050" y="6959648"/>
            <a:ext cx="25500" cy="807300"/>
          </a:xfrm>
          <a:prstGeom prst="rect">
            <a:avLst/>
          </a:prstGeom>
          <a:solidFill>
            <a:srgbClr val="4292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44" name="Google Shape;844;p21"/>
          <p:cNvSpPr/>
          <p:nvPr/>
        </p:nvSpPr>
        <p:spPr>
          <a:xfrm>
            <a:off x="7092950" y="69596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If feedback requires major rework, absorb it into the next sprint's backlog, not the current one</a:t>
            </a:r>
            <a:endParaRPr b="0" i="0" sz="1850" u="none" cap="none" strike="noStrike">
              <a:solidFill>
                <a:schemeClr val="dk1"/>
              </a:solidFill>
              <a:latin typeface="Calibri"/>
              <a:ea typeface="Calibri"/>
              <a:cs typeface="Calibri"/>
              <a:sym typeface="Calibri"/>
            </a:endParaRPr>
          </a:p>
        </p:txBody>
      </p:sp>
      <p:sp>
        <p:nvSpPr>
          <p:cNvPr id="845" name="Google Shape;845;p21"/>
          <p:cNvSpPr/>
          <p:nvPr/>
        </p:nvSpPr>
        <p:spPr>
          <a:xfrm>
            <a:off x="12001500" y="2257425"/>
            <a:ext cx="5143500" cy="6635700"/>
          </a:xfrm>
          <a:prstGeom prst="roundRect">
            <a:avLst>
              <a:gd fmla="val 40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a:off x="12001500" y="2257425"/>
            <a:ext cx="5143500" cy="762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12306300" y="2638425"/>
            <a:ext cx="4987200" cy="597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i="0" lang="en-US" sz="2150" u="none" cap="none" strike="noStrike">
                <a:solidFill>
                  <a:srgbClr val="084594"/>
                </a:solidFill>
                <a:latin typeface="Poppins"/>
                <a:ea typeface="Poppins"/>
                <a:cs typeface="Poppins"/>
                <a:sym typeface="Poppins"/>
              </a:rPr>
              <a:t>Monitoring Approach</a:t>
            </a:r>
            <a:endParaRPr b="0" i="0" sz="2150" u="none" cap="none" strike="noStrike">
              <a:solidFill>
                <a:schemeClr val="dk1"/>
              </a:solidFill>
              <a:latin typeface="Calibri"/>
              <a:ea typeface="Calibri"/>
              <a:cs typeface="Calibri"/>
              <a:sym typeface="Calibri"/>
            </a:endParaRPr>
          </a:p>
        </p:txBody>
      </p:sp>
      <p:sp>
        <p:nvSpPr>
          <p:cNvPr id="848" name="Google Shape;848;p21"/>
          <p:cNvSpPr/>
          <p:nvPr/>
        </p:nvSpPr>
        <p:spPr>
          <a:xfrm>
            <a:off x="12306300" y="3460848"/>
            <a:ext cx="25500" cy="8073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49" name="Google Shape;849;p21"/>
          <p:cNvSpPr/>
          <p:nvPr/>
        </p:nvSpPr>
        <p:spPr>
          <a:xfrm>
            <a:off x="12522200" y="34608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Weekly sprint review and supervisor update to catch drift early</a:t>
            </a:r>
            <a:endParaRPr b="0" i="0" sz="1850" u="none" cap="none" strike="noStrike">
              <a:solidFill>
                <a:schemeClr val="dk1"/>
              </a:solidFill>
              <a:latin typeface="Calibri"/>
              <a:ea typeface="Calibri"/>
              <a:cs typeface="Calibri"/>
              <a:sym typeface="Calibri"/>
            </a:endParaRPr>
          </a:p>
        </p:txBody>
      </p:sp>
      <p:sp>
        <p:nvSpPr>
          <p:cNvPr id="850" name="Google Shape;850;p21"/>
          <p:cNvSpPr/>
          <p:nvPr/>
        </p:nvSpPr>
        <p:spPr>
          <a:xfrm>
            <a:off x="12306300" y="4492549"/>
            <a:ext cx="25500" cy="8073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51" name="Google Shape;851;p21"/>
          <p:cNvSpPr/>
          <p:nvPr/>
        </p:nvSpPr>
        <p:spPr>
          <a:xfrm>
            <a:off x="12522200" y="4492549"/>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Live Jira risk register with an owner and due date on every open risk</a:t>
            </a:r>
            <a:endParaRPr b="0" i="0" sz="1850" u="none" cap="none" strike="noStrike">
              <a:solidFill>
                <a:schemeClr val="dk1"/>
              </a:solidFill>
              <a:latin typeface="Calibri"/>
              <a:ea typeface="Calibri"/>
              <a:cs typeface="Calibri"/>
              <a:sym typeface="Calibri"/>
            </a:endParaRPr>
          </a:p>
        </p:txBody>
      </p:sp>
      <p:sp>
        <p:nvSpPr>
          <p:cNvPr id="852" name="Google Shape;852;p21"/>
          <p:cNvSpPr/>
          <p:nvPr/>
        </p:nvSpPr>
        <p:spPr>
          <a:xfrm>
            <a:off x="12306300" y="5524248"/>
            <a:ext cx="25500" cy="8073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53" name="Google Shape;853;p21"/>
          <p:cNvSpPr/>
          <p:nvPr/>
        </p:nvSpPr>
        <p:spPr>
          <a:xfrm>
            <a:off x="12522200" y="5524248"/>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Bootstrap confidence intervals and per-action support reported every evaluation cycle</a:t>
            </a:r>
            <a:endParaRPr b="0" i="0" sz="1850" u="none" cap="none" strike="noStrike">
              <a:solidFill>
                <a:schemeClr val="dk1"/>
              </a:solidFill>
              <a:latin typeface="Calibri"/>
              <a:ea typeface="Calibri"/>
              <a:cs typeface="Calibri"/>
              <a:sym typeface="Calibri"/>
            </a:endParaRPr>
          </a:p>
        </p:txBody>
      </p:sp>
      <p:sp>
        <p:nvSpPr>
          <p:cNvPr id="854" name="Google Shape;854;p21"/>
          <p:cNvSpPr/>
          <p:nvPr/>
        </p:nvSpPr>
        <p:spPr>
          <a:xfrm>
            <a:off x="12306300" y="6555947"/>
            <a:ext cx="25500" cy="8073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855" name="Google Shape;855;p21"/>
          <p:cNvSpPr/>
          <p:nvPr/>
        </p:nvSpPr>
        <p:spPr>
          <a:xfrm>
            <a:off x="12522200" y="6555947"/>
            <a:ext cx="4454100" cy="87150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6324A"/>
              </a:buClr>
              <a:buSzPts val="1350"/>
              <a:buFont typeface="Inter"/>
              <a:buNone/>
            </a:pPr>
            <a:r>
              <a:rPr b="0" i="0" lang="en-US" sz="1850" u="none" cap="none" strike="noStrike">
                <a:solidFill>
                  <a:srgbClr val="16324A"/>
                </a:solidFill>
                <a:latin typeface="Inter"/>
                <a:ea typeface="Inter"/>
                <a:cs typeface="Inter"/>
                <a:sym typeface="Inter"/>
              </a:rPr>
              <a:t>Evaluator kept versioned and immutable after data freeze, audited on a sample basis</a:t>
            </a:r>
            <a:endParaRPr b="0" i="0" sz="1850" u="none" cap="none" strike="noStrike">
              <a:solidFill>
                <a:schemeClr val="dk1"/>
              </a:solidFill>
              <a:latin typeface="Calibri"/>
              <a:ea typeface="Calibri"/>
              <a:cs typeface="Calibri"/>
              <a:sym typeface="Calibri"/>
            </a:endParaRPr>
          </a:p>
        </p:txBody>
      </p:sp>
      <p:sp>
        <p:nvSpPr>
          <p:cNvPr id="856" name="Google Shape;856;p21"/>
          <p:cNvSpPr/>
          <p:nvPr/>
        </p:nvSpPr>
        <p:spPr>
          <a:xfrm>
            <a:off x="1143000" y="9569450"/>
            <a:ext cx="17602200" cy="222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200"/>
              <a:buFont typeface="Inter"/>
              <a:buNone/>
            </a:pPr>
            <a:r>
              <a:rPr b="0" i="0" lang="en-US" sz="1200" u="none" cap="none" strike="noStrike">
                <a:solidFill>
                  <a:srgbClr val="4A6785"/>
                </a:solidFill>
                <a:latin typeface="Inter"/>
                <a:ea typeface="Inter"/>
                <a:cs typeface="Inter"/>
                <a:sym typeface="Inter"/>
              </a:rPr>
              <a:t>Sources: PMI, PMBOK Guide 7th ed. (2021)</a:t>
            </a:r>
            <a:endParaRPr b="0" i="0" sz="1200" u="none" cap="none" strike="noStrike">
              <a:solidFill>
                <a:schemeClr val="dk1"/>
              </a:solidFill>
              <a:latin typeface="Calibri"/>
              <a:ea typeface="Calibri"/>
              <a:cs typeface="Calibri"/>
              <a:sym typeface="Calibri"/>
            </a:endParaRPr>
          </a:p>
        </p:txBody>
      </p:sp>
      <p:pic>
        <p:nvPicPr>
          <p:cNvPr id="857" name="Google Shape;857;p21"/>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862" name="Shape 862"/>
        <p:cNvGrpSpPr/>
        <p:nvPr/>
      </p:nvGrpSpPr>
      <p:grpSpPr>
        <a:xfrm>
          <a:off x="0" y="0"/>
          <a:ext cx="0" cy="0"/>
          <a:chOff x="0" y="0"/>
          <a:chExt cx="0" cy="0"/>
        </a:xfrm>
      </p:grpSpPr>
      <p:sp>
        <p:nvSpPr>
          <p:cNvPr id="863" name="Google Shape;863;p22"/>
          <p:cNvSpPr/>
          <p:nvPr/>
        </p:nvSpPr>
        <p:spPr>
          <a:xfrm>
            <a:off x="1143000" y="1301750"/>
            <a:ext cx="17602200"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600"/>
              <a:buFont typeface="Poppins"/>
              <a:buNone/>
            </a:pPr>
            <a:r>
              <a:rPr b="1" i="0" lang="en-US" sz="3600" u="none" cap="none" strike="noStrike">
                <a:solidFill>
                  <a:srgbClr val="084594"/>
                </a:solidFill>
                <a:latin typeface="Poppins"/>
                <a:ea typeface="Poppins"/>
                <a:cs typeface="Poppins"/>
                <a:sym typeface="Poppins"/>
              </a:rPr>
              <a:t>Current Progress / Demonstration</a:t>
            </a:r>
            <a:endParaRPr b="0" i="0" sz="3600" u="none" cap="none" strike="noStrike">
              <a:solidFill>
                <a:schemeClr val="dk1"/>
              </a:solidFill>
              <a:latin typeface="Calibri"/>
              <a:ea typeface="Calibri"/>
              <a:cs typeface="Calibri"/>
              <a:sym typeface="Calibri"/>
            </a:endParaRPr>
          </a:p>
        </p:txBody>
      </p:sp>
      <p:sp>
        <p:nvSpPr>
          <p:cNvPr id="864" name="Google Shape;864;p22"/>
          <p:cNvSpPr/>
          <p:nvPr/>
        </p:nvSpPr>
        <p:spPr>
          <a:xfrm>
            <a:off x="2666988" y="2251602"/>
            <a:ext cx="1995000" cy="292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350"/>
              <a:buFont typeface="Poppins"/>
              <a:buNone/>
            </a:pPr>
            <a:r>
              <a:rPr b="1" i="0" lang="en-US" sz="1350" u="none" cap="none" strike="noStrike">
                <a:solidFill>
                  <a:srgbClr val="084594"/>
                </a:solidFill>
                <a:latin typeface="Poppins"/>
                <a:ea typeface="Poppins"/>
                <a:cs typeface="Poppins"/>
                <a:sym typeface="Poppins"/>
              </a:rPr>
              <a:t>Jira Board</a:t>
            </a:r>
            <a:endParaRPr b="0" i="0" sz="1350" u="none" cap="none" strike="noStrike">
              <a:solidFill>
                <a:schemeClr val="dk1"/>
              </a:solidFill>
              <a:latin typeface="Calibri"/>
              <a:ea typeface="Calibri"/>
              <a:cs typeface="Calibri"/>
              <a:sym typeface="Calibri"/>
            </a:endParaRPr>
          </a:p>
        </p:txBody>
      </p:sp>
      <p:sp>
        <p:nvSpPr>
          <p:cNvPr id="865" name="Google Shape;865;p22"/>
          <p:cNvSpPr/>
          <p:nvPr/>
        </p:nvSpPr>
        <p:spPr>
          <a:xfrm>
            <a:off x="8438402" y="2251602"/>
            <a:ext cx="3011400" cy="292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350"/>
              <a:buFont typeface="Poppins"/>
              <a:buNone/>
            </a:pPr>
            <a:r>
              <a:rPr b="1" i="0" lang="en-US" sz="1350" u="none" cap="none" strike="noStrike">
                <a:solidFill>
                  <a:srgbClr val="084594"/>
                </a:solidFill>
                <a:latin typeface="Poppins"/>
                <a:ea typeface="Poppins"/>
                <a:cs typeface="Poppins"/>
                <a:sym typeface="Poppins"/>
              </a:rPr>
              <a:t>GitHub Commit History</a:t>
            </a:r>
            <a:endParaRPr b="0" i="0" sz="1350" u="none" cap="none" strike="noStrike">
              <a:solidFill>
                <a:schemeClr val="dk1"/>
              </a:solidFill>
              <a:latin typeface="Calibri"/>
              <a:ea typeface="Calibri"/>
              <a:cs typeface="Calibri"/>
              <a:sym typeface="Calibri"/>
            </a:endParaRPr>
          </a:p>
        </p:txBody>
      </p:sp>
      <p:sp>
        <p:nvSpPr>
          <p:cNvPr id="866" name="Google Shape;866;p22"/>
          <p:cNvSpPr/>
          <p:nvPr/>
        </p:nvSpPr>
        <p:spPr>
          <a:xfrm>
            <a:off x="13585900" y="2251502"/>
            <a:ext cx="2717400" cy="292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84594"/>
              </a:buClr>
              <a:buSzPts val="1350"/>
              <a:buFont typeface="Poppins"/>
              <a:buNone/>
            </a:pPr>
            <a:r>
              <a:rPr b="1" i="0" lang="en-US" sz="1350" u="none" cap="none" strike="noStrike">
                <a:solidFill>
                  <a:srgbClr val="084594"/>
                </a:solidFill>
                <a:latin typeface="Poppins"/>
                <a:ea typeface="Poppins"/>
                <a:cs typeface="Poppins"/>
                <a:sym typeface="Poppins"/>
              </a:rPr>
              <a:t>PoC Experiments</a:t>
            </a:r>
            <a:endParaRPr b="0" i="0" sz="1350" u="none" cap="none" strike="noStrike">
              <a:solidFill>
                <a:schemeClr val="dk1"/>
              </a:solidFill>
              <a:latin typeface="Calibri"/>
              <a:ea typeface="Calibri"/>
              <a:cs typeface="Calibri"/>
              <a:sym typeface="Calibri"/>
            </a:endParaRPr>
          </a:p>
        </p:txBody>
      </p:sp>
      <p:pic>
        <p:nvPicPr>
          <p:cNvPr id="867" name="Google Shape;867;p22"/>
          <p:cNvPicPr preferRelativeResize="0"/>
          <p:nvPr/>
        </p:nvPicPr>
        <p:blipFill>
          <a:blip r:embed="rId3">
            <a:alphaModFix/>
          </a:blip>
          <a:stretch>
            <a:fillRect/>
          </a:stretch>
        </p:blipFill>
        <p:spPr>
          <a:xfrm>
            <a:off x="12196800" y="2708652"/>
            <a:ext cx="5495608" cy="2082324"/>
          </a:xfrm>
          <a:prstGeom prst="rect">
            <a:avLst/>
          </a:prstGeom>
          <a:noFill/>
          <a:ln>
            <a:noFill/>
          </a:ln>
        </p:spPr>
      </p:pic>
      <p:pic>
        <p:nvPicPr>
          <p:cNvPr id="868" name="Google Shape;868;p22"/>
          <p:cNvPicPr preferRelativeResize="0"/>
          <p:nvPr/>
        </p:nvPicPr>
        <p:blipFill>
          <a:blip r:embed="rId4">
            <a:alphaModFix/>
          </a:blip>
          <a:stretch>
            <a:fillRect/>
          </a:stretch>
        </p:blipFill>
        <p:spPr>
          <a:xfrm>
            <a:off x="12196800" y="4955931"/>
            <a:ext cx="5495598" cy="3115445"/>
          </a:xfrm>
          <a:prstGeom prst="rect">
            <a:avLst/>
          </a:prstGeom>
          <a:noFill/>
          <a:ln>
            <a:noFill/>
          </a:ln>
        </p:spPr>
      </p:pic>
      <p:pic>
        <p:nvPicPr>
          <p:cNvPr id="869" name="Google Shape;869;p22"/>
          <p:cNvPicPr preferRelativeResize="0"/>
          <p:nvPr/>
        </p:nvPicPr>
        <p:blipFill>
          <a:blip r:embed="rId5">
            <a:alphaModFix/>
          </a:blip>
          <a:stretch>
            <a:fillRect/>
          </a:stretch>
        </p:blipFill>
        <p:spPr>
          <a:xfrm>
            <a:off x="14514274" y="256251"/>
            <a:ext cx="3489799" cy="614350"/>
          </a:xfrm>
          <a:prstGeom prst="rect">
            <a:avLst/>
          </a:prstGeom>
          <a:noFill/>
          <a:ln>
            <a:noFill/>
          </a:ln>
        </p:spPr>
      </p:pic>
      <p:pic>
        <p:nvPicPr>
          <p:cNvPr id="870" name="Google Shape;870;p22"/>
          <p:cNvPicPr preferRelativeResize="0"/>
          <p:nvPr/>
        </p:nvPicPr>
        <p:blipFill rotWithShape="1">
          <a:blip r:embed="rId6">
            <a:alphaModFix/>
          </a:blip>
          <a:srcRect b="6977" l="0" r="12473" t="0"/>
          <a:stretch/>
        </p:blipFill>
        <p:spPr>
          <a:xfrm>
            <a:off x="533250" y="2633227"/>
            <a:ext cx="6262477" cy="4182374"/>
          </a:xfrm>
          <a:prstGeom prst="rect">
            <a:avLst/>
          </a:prstGeom>
          <a:noFill/>
          <a:ln>
            <a:noFill/>
          </a:ln>
        </p:spPr>
      </p:pic>
      <p:pic>
        <p:nvPicPr>
          <p:cNvPr id="871" name="Google Shape;871;p22"/>
          <p:cNvPicPr preferRelativeResize="0"/>
          <p:nvPr/>
        </p:nvPicPr>
        <p:blipFill>
          <a:blip r:embed="rId7">
            <a:alphaModFix/>
          </a:blip>
          <a:stretch>
            <a:fillRect/>
          </a:stretch>
        </p:blipFill>
        <p:spPr>
          <a:xfrm>
            <a:off x="7220775" y="2708652"/>
            <a:ext cx="4766226" cy="5821449"/>
          </a:xfrm>
          <a:prstGeom prst="rect">
            <a:avLst/>
          </a:prstGeom>
          <a:noFill/>
          <a:ln>
            <a:noFill/>
          </a:ln>
        </p:spPr>
      </p:pic>
      <p:pic>
        <p:nvPicPr>
          <p:cNvPr id="872" name="Google Shape;872;p22"/>
          <p:cNvPicPr preferRelativeResize="0"/>
          <p:nvPr/>
        </p:nvPicPr>
        <p:blipFill>
          <a:blip r:embed="rId8">
            <a:alphaModFix/>
          </a:blip>
          <a:stretch>
            <a:fillRect/>
          </a:stretch>
        </p:blipFill>
        <p:spPr>
          <a:xfrm>
            <a:off x="533250" y="7068601"/>
            <a:ext cx="6262474" cy="21712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877" name="Shape 877"/>
        <p:cNvGrpSpPr/>
        <p:nvPr/>
      </p:nvGrpSpPr>
      <p:grpSpPr>
        <a:xfrm>
          <a:off x="0" y="0"/>
          <a:ext cx="0" cy="0"/>
          <a:chOff x="0" y="0"/>
          <a:chExt cx="0" cy="0"/>
        </a:xfrm>
      </p:grpSpPr>
      <p:sp>
        <p:nvSpPr>
          <p:cNvPr id="878" name="Google Shape;878;p23"/>
          <p:cNvSpPr/>
          <p:nvPr/>
        </p:nvSpPr>
        <p:spPr>
          <a:xfrm>
            <a:off x="1143000" y="1301750"/>
            <a:ext cx="17602200"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600"/>
              <a:buFont typeface="Poppins"/>
              <a:buNone/>
            </a:pPr>
            <a:r>
              <a:rPr b="1" i="0" lang="en-US" sz="3600" u="none" cap="none" strike="noStrike">
                <a:solidFill>
                  <a:srgbClr val="084594"/>
                </a:solidFill>
                <a:latin typeface="Poppins"/>
                <a:ea typeface="Poppins"/>
                <a:cs typeface="Poppins"/>
                <a:sym typeface="Poppins"/>
              </a:rPr>
              <a:t>Expected Outcomes and Definition of Success</a:t>
            </a:r>
            <a:endParaRPr b="0" i="0" sz="3600" u="none" cap="none" strike="noStrike">
              <a:solidFill>
                <a:schemeClr val="dk1"/>
              </a:solidFill>
              <a:latin typeface="Calibri"/>
              <a:ea typeface="Calibri"/>
              <a:cs typeface="Calibri"/>
              <a:sym typeface="Calibri"/>
            </a:endParaRPr>
          </a:p>
        </p:txBody>
      </p:sp>
      <p:sp>
        <p:nvSpPr>
          <p:cNvPr id="879" name="Google Shape;879;p23"/>
          <p:cNvSpPr/>
          <p:nvPr/>
        </p:nvSpPr>
        <p:spPr>
          <a:xfrm>
            <a:off x="1143000" y="3921125"/>
            <a:ext cx="16002000" cy="787500"/>
          </a:xfrm>
          <a:prstGeom prst="roundRect">
            <a:avLst>
              <a:gd fmla="val 217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3"/>
          <p:cNvSpPr/>
          <p:nvPr/>
        </p:nvSpPr>
        <p:spPr>
          <a:xfrm>
            <a:off x="1447800" y="4168775"/>
            <a:ext cx="23052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500"/>
              <a:buFont typeface="Poppins"/>
              <a:buNone/>
            </a:pPr>
            <a:r>
              <a:rPr b="1" i="0" lang="en-US" sz="1500" u="none" cap="none" strike="noStrike">
                <a:solidFill>
                  <a:srgbClr val="2171B5"/>
                </a:solidFill>
                <a:latin typeface="Poppins"/>
                <a:ea typeface="Poppins"/>
                <a:cs typeface="Poppins"/>
                <a:sym typeface="Poppins"/>
              </a:rPr>
              <a:t>Research output</a:t>
            </a:r>
            <a:endParaRPr b="0" i="0" sz="1500" u="none" cap="none" strike="noStrike">
              <a:solidFill>
                <a:schemeClr val="dk1"/>
              </a:solidFill>
              <a:latin typeface="Calibri"/>
              <a:ea typeface="Calibri"/>
              <a:cs typeface="Calibri"/>
              <a:sym typeface="Calibri"/>
            </a:endParaRPr>
          </a:p>
        </p:txBody>
      </p:sp>
      <p:sp>
        <p:nvSpPr>
          <p:cNvPr id="881" name="Google Shape;881;p23"/>
          <p:cNvSpPr/>
          <p:nvPr/>
        </p:nvSpPr>
        <p:spPr>
          <a:xfrm>
            <a:off x="3790950" y="4187825"/>
            <a:ext cx="9576900" cy="29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650"/>
              <a:buFont typeface="Inter"/>
              <a:buNone/>
            </a:pPr>
            <a:r>
              <a:rPr b="0" i="0" lang="en-US" sz="1650" u="none" cap="none" strike="noStrike">
                <a:solidFill>
                  <a:srgbClr val="16324A"/>
                </a:solidFill>
                <a:latin typeface="Inter"/>
                <a:ea typeface="Inter"/>
                <a:cs typeface="Inter"/>
                <a:sym typeface="Inter"/>
              </a:rPr>
              <a:t>A calibrated three-action risk model (ACRE) and a reproducible action-outcome dataset.</a:t>
            </a:r>
            <a:endParaRPr b="0" i="0" sz="1650" u="none" cap="none" strike="noStrike">
              <a:solidFill>
                <a:schemeClr val="dk1"/>
              </a:solidFill>
              <a:latin typeface="Calibri"/>
              <a:ea typeface="Calibri"/>
              <a:cs typeface="Calibri"/>
              <a:sym typeface="Calibri"/>
            </a:endParaRPr>
          </a:p>
        </p:txBody>
      </p:sp>
      <p:sp>
        <p:nvSpPr>
          <p:cNvPr id="882" name="Google Shape;882;p23"/>
          <p:cNvSpPr/>
          <p:nvPr/>
        </p:nvSpPr>
        <p:spPr>
          <a:xfrm>
            <a:off x="1143000" y="4879975"/>
            <a:ext cx="16002000" cy="787500"/>
          </a:xfrm>
          <a:prstGeom prst="roundRect">
            <a:avLst>
              <a:gd fmla="val 217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p:nvPr/>
        </p:nvSpPr>
        <p:spPr>
          <a:xfrm>
            <a:off x="1447800" y="5127625"/>
            <a:ext cx="23052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500"/>
              <a:buFont typeface="Poppins"/>
              <a:buNone/>
            </a:pPr>
            <a:r>
              <a:rPr b="1" i="0" lang="en-US" sz="1500" u="none" cap="none" strike="noStrike">
                <a:solidFill>
                  <a:srgbClr val="2171B5"/>
                </a:solidFill>
                <a:latin typeface="Poppins"/>
                <a:ea typeface="Poppins"/>
                <a:cs typeface="Poppins"/>
                <a:sym typeface="Poppins"/>
              </a:rPr>
              <a:t>Evidence</a:t>
            </a:r>
            <a:endParaRPr b="0" i="0" sz="1500" u="none" cap="none" strike="noStrike">
              <a:solidFill>
                <a:schemeClr val="dk1"/>
              </a:solidFill>
              <a:latin typeface="Calibri"/>
              <a:ea typeface="Calibri"/>
              <a:cs typeface="Calibri"/>
              <a:sym typeface="Calibri"/>
            </a:endParaRPr>
          </a:p>
        </p:txBody>
      </p:sp>
      <p:sp>
        <p:nvSpPr>
          <p:cNvPr id="884" name="Google Shape;884;p23"/>
          <p:cNvSpPr/>
          <p:nvPr/>
        </p:nvSpPr>
        <p:spPr>
          <a:xfrm>
            <a:off x="3790950" y="5146675"/>
            <a:ext cx="12369300" cy="29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650"/>
              <a:buFont typeface="Inter"/>
              <a:buNone/>
            </a:pPr>
            <a:r>
              <a:rPr b="0" i="0" lang="en-US" sz="1650" u="none" cap="none" strike="noStrike">
                <a:solidFill>
                  <a:srgbClr val="16324A"/>
                </a:solidFill>
                <a:latin typeface="Inter"/>
                <a:ea typeface="Inter"/>
                <a:cs typeface="Inter"/>
                <a:sym typeface="Inter"/>
              </a:rPr>
              <a:t>Comparison with binary routing, fixed repair/regenerate, logistic regression, XGBoost, and uncalibrated baselines.</a:t>
            </a:r>
            <a:endParaRPr b="0" i="0" sz="1650" u="none" cap="none" strike="noStrike">
              <a:solidFill>
                <a:schemeClr val="dk1"/>
              </a:solidFill>
              <a:latin typeface="Calibri"/>
              <a:ea typeface="Calibri"/>
              <a:cs typeface="Calibri"/>
              <a:sym typeface="Calibri"/>
            </a:endParaRPr>
          </a:p>
        </p:txBody>
      </p:sp>
      <p:sp>
        <p:nvSpPr>
          <p:cNvPr id="885" name="Google Shape;885;p23"/>
          <p:cNvSpPr/>
          <p:nvPr/>
        </p:nvSpPr>
        <p:spPr>
          <a:xfrm>
            <a:off x="1143000" y="5838825"/>
            <a:ext cx="16002000" cy="787500"/>
          </a:xfrm>
          <a:prstGeom prst="roundRect">
            <a:avLst>
              <a:gd fmla="val 21774"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3"/>
          <p:cNvSpPr/>
          <p:nvPr/>
        </p:nvSpPr>
        <p:spPr>
          <a:xfrm>
            <a:off x="1447800" y="6086475"/>
            <a:ext cx="23052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500"/>
              <a:buFont typeface="Poppins"/>
              <a:buNone/>
            </a:pPr>
            <a:r>
              <a:rPr b="1" i="0" lang="en-US" sz="1500" u="none" cap="none" strike="noStrike">
                <a:solidFill>
                  <a:srgbClr val="2171B5"/>
                </a:solidFill>
                <a:latin typeface="Poppins"/>
                <a:ea typeface="Poppins"/>
                <a:cs typeface="Poppins"/>
                <a:sym typeface="Poppins"/>
              </a:rPr>
              <a:t>Project delivery</a:t>
            </a:r>
            <a:endParaRPr b="0" i="0" sz="1500" u="none" cap="none" strike="noStrike">
              <a:solidFill>
                <a:schemeClr val="dk1"/>
              </a:solidFill>
              <a:latin typeface="Calibri"/>
              <a:ea typeface="Calibri"/>
              <a:cs typeface="Calibri"/>
              <a:sym typeface="Calibri"/>
            </a:endParaRPr>
          </a:p>
        </p:txBody>
      </p:sp>
      <p:sp>
        <p:nvSpPr>
          <p:cNvPr id="887" name="Google Shape;887;p23"/>
          <p:cNvSpPr/>
          <p:nvPr/>
        </p:nvSpPr>
        <p:spPr>
          <a:xfrm>
            <a:off x="3790950" y="6105525"/>
            <a:ext cx="12493200" cy="29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650"/>
              <a:buFont typeface="Inter"/>
              <a:buNone/>
            </a:pPr>
            <a:r>
              <a:rPr b="0" i="0" lang="en-US" sz="1650" u="none" cap="none" strike="noStrike">
                <a:solidFill>
                  <a:srgbClr val="16324A"/>
                </a:solidFill>
                <a:latin typeface="Inter"/>
                <a:ea typeface="Inter"/>
                <a:cs typeface="Inter"/>
                <a:sym typeface="Inter"/>
              </a:rPr>
              <a:t>12 completed one-week sprints, traceable backlog, versioned code, experiment logs, and final report/presentation.</a:t>
            </a:r>
            <a:endParaRPr b="0" i="0" sz="1650" u="none" cap="none" strike="noStrike">
              <a:solidFill>
                <a:schemeClr val="dk1"/>
              </a:solidFill>
              <a:latin typeface="Calibri"/>
              <a:ea typeface="Calibri"/>
              <a:cs typeface="Calibri"/>
              <a:sym typeface="Calibri"/>
            </a:endParaRPr>
          </a:p>
        </p:txBody>
      </p:sp>
      <p:sp>
        <p:nvSpPr>
          <p:cNvPr id="888" name="Google Shape;888;p23"/>
          <p:cNvSpPr/>
          <p:nvPr/>
        </p:nvSpPr>
        <p:spPr>
          <a:xfrm>
            <a:off x="1143000" y="6797675"/>
            <a:ext cx="16002000" cy="787500"/>
          </a:xfrm>
          <a:prstGeom prst="roundRect">
            <a:avLst>
              <a:gd fmla="val 21774" name="adj"/>
            </a:avLst>
          </a:prstGeom>
          <a:solidFill>
            <a:srgbClr val="084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3"/>
          <p:cNvSpPr/>
          <p:nvPr/>
        </p:nvSpPr>
        <p:spPr>
          <a:xfrm>
            <a:off x="1447800" y="7045325"/>
            <a:ext cx="2305200" cy="330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500"/>
              <a:buFont typeface="Poppins"/>
              <a:buNone/>
            </a:pPr>
            <a:r>
              <a:rPr b="1" i="0" lang="en-US" sz="1500" u="none" cap="none" strike="noStrike">
                <a:solidFill>
                  <a:srgbClr val="9ECAE1"/>
                </a:solidFill>
                <a:latin typeface="Poppins"/>
                <a:ea typeface="Poppins"/>
                <a:cs typeface="Poppins"/>
                <a:sym typeface="Poppins"/>
              </a:rPr>
              <a:t>Definition of success</a:t>
            </a:r>
            <a:endParaRPr b="0" i="0" sz="1500" u="none" cap="none" strike="noStrike">
              <a:solidFill>
                <a:schemeClr val="dk1"/>
              </a:solidFill>
              <a:latin typeface="Calibri"/>
              <a:ea typeface="Calibri"/>
              <a:cs typeface="Calibri"/>
              <a:sym typeface="Calibri"/>
            </a:endParaRPr>
          </a:p>
        </p:txBody>
      </p:sp>
      <p:sp>
        <p:nvSpPr>
          <p:cNvPr id="890" name="Google Shape;890;p23"/>
          <p:cNvSpPr/>
          <p:nvPr/>
        </p:nvSpPr>
        <p:spPr>
          <a:xfrm>
            <a:off x="3790950" y="7064375"/>
            <a:ext cx="12212400" cy="292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Inter"/>
              <a:buNone/>
            </a:pPr>
            <a:r>
              <a:rPr b="0" i="0" lang="en-US" sz="1650" u="none" cap="none" strike="noStrike">
                <a:solidFill>
                  <a:srgbClr val="FFFFFF"/>
                </a:solidFill>
                <a:latin typeface="Inter"/>
                <a:ea typeface="Inter"/>
                <a:cs typeface="Inter"/>
                <a:sym typeface="Inter"/>
              </a:rPr>
              <a:t>A rigorous, reproducible answer to the main research question, whether the hypothesis is supported or rejected.</a:t>
            </a:r>
            <a:endParaRPr b="0" i="0" sz="1650" u="none" cap="none" strike="noStrike">
              <a:solidFill>
                <a:schemeClr val="dk1"/>
              </a:solidFill>
              <a:latin typeface="Calibri"/>
              <a:ea typeface="Calibri"/>
              <a:cs typeface="Calibri"/>
              <a:sym typeface="Calibri"/>
            </a:endParaRPr>
          </a:p>
        </p:txBody>
      </p:sp>
      <p:sp>
        <p:nvSpPr>
          <p:cNvPr id="891" name="Google Shape;891;p23"/>
          <p:cNvSpPr/>
          <p:nvPr/>
        </p:nvSpPr>
        <p:spPr>
          <a:xfrm>
            <a:off x="1143000" y="9556750"/>
            <a:ext cx="17602200" cy="234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275"/>
              <a:buFont typeface="Inter"/>
              <a:buNone/>
            </a:pPr>
            <a:r>
              <a:rPr b="0" i="0" lang="en-US" sz="1275" u="none" cap="none" strike="noStrike">
                <a:solidFill>
                  <a:srgbClr val="4A6785"/>
                </a:solidFill>
                <a:latin typeface="Inter"/>
                <a:ea typeface="Inter"/>
                <a:cs typeface="Inter"/>
                <a:sym typeface="Inter"/>
              </a:rPr>
              <a:t>Basis: TRACER research protocol • Scrum Guide (2020)</a:t>
            </a:r>
            <a:endParaRPr b="0" i="0" sz="1275" u="none" cap="none" strike="noStrike">
              <a:solidFill>
                <a:schemeClr val="dk1"/>
              </a:solidFill>
              <a:latin typeface="Calibri"/>
              <a:ea typeface="Calibri"/>
              <a:cs typeface="Calibri"/>
              <a:sym typeface="Calibri"/>
            </a:endParaRPr>
          </a:p>
        </p:txBody>
      </p:sp>
      <p:pic>
        <p:nvPicPr>
          <p:cNvPr id="892" name="Google Shape;892;p23"/>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897" name="Shape 897"/>
        <p:cNvGrpSpPr/>
        <p:nvPr/>
      </p:nvGrpSpPr>
      <p:grpSpPr>
        <a:xfrm>
          <a:off x="0" y="0"/>
          <a:ext cx="0" cy="0"/>
          <a:chOff x="0" y="0"/>
          <a:chExt cx="0" cy="0"/>
        </a:xfrm>
      </p:grpSpPr>
      <p:sp>
        <p:nvSpPr>
          <p:cNvPr id="898" name="Google Shape;898;p24"/>
          <p:cNvSpPr/>
          <p:nvPr/>
        </p:nvSpPr>
        <p:spPr>
          <a:xfrm>
            <a:off x="1143000" y="1301750"/>
            <a:ext cx="17602200"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600"/>
              <a:buFont typeface="Poppins"/>
              <a:buNone/>
            </a:pPr>
            <a:r>
              <a:rPr b="1" i="0" lang="en-US" sz="3600" u="none" cap="none" strike="noStrike">
                <a:solidFill>
                  <a:srgbClr val="084594"/>
                </a:solidFill>
                <a:latin typeface="Poppins"/>
                <a:ea typeface="Poppins"/>
                <a:cs typeface="Poppins"/>
                <a:sym typeface="Poppins"/>
              </a:rPr>
              <a:t>Current Progress </a:t>
            </a:r>
            <a:r>
              <a:rPr b="1" lang="en-US" sz="3600">
                <a:solidFill>
                  <a:srgbClr val="084594"/>
                </a:solidFill>
                <a:latin typeface="Poppins"/>
                <a:ea typeface="Poppins"/>
                <a:cs typeface="Poppins"/>
                <a:sym typeface="Poppins"/>
              </a:rPr>
              <a:t>&amp;</a:t>
            </a:r>
            <a:r>
              <a:rPr b="1" i="0" lang="en-US" sz="3600" u="none" cap="none" strike="noStrike">
                <a:solidFill>
                  <a:srgbClr val="084594"/>
                </a:solidFill>
                <a:latin typeface="Poppins"/>
                <a:ea typeface="Poppins"/>
                <a:cs typeface="Poppins"/>
                <a:sym typeface="Poppins"/>
              </a:rPr>
              <a:t> Work Ahead</a:t>
            </a:r>
            <a:endParaRPr b="0" i="0" sz="3600" u="none" cap="none" strike="noStrike">
              <a:solidFill>
                <a:schemeClr val="dk1"/>
              </a:solidFill>
              <a:latin typeface="Calibri"/>
              <a:ea typeface="Calibri"/>
              <a:cs typeface="Calibri"/>
              <a:sym typeface="Calibri"/>
            </a:endParaRPr>
          </a:p>
        </p:txBody>
      </p:sp>
      <p:sp>
        <p:nvSpPr>
          <p:cNvPr id="899" name="Google Shape;899;p24"/>
          <p:cNvSpPr/>
          <p:nvPr/>
        </p:nvSpPr>
        <p:spPr>
          <a:xfrm>
            <a:off x="1143000" y="2406650"/>
            <a:ext cx="5156100" cy="5169900"/>
          </a:xfrm>
          <a:prstGeom prst="roundRect">
            <a:avLst>
              <a:gd fmla="val 406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a:off x="1143000" y="2406650"/>
            <a:ext cx="5156100" cy="76200"/>
          </a:xfrm>
          <a:prstGeom prst="rect">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1447800" y="2787650"/>
            <a:ext cx="5001300" cy="35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i="0" lang="en-US" sz="2050" u="none" cap="none" strike="noStrike">
                <a:solidFill>
                  <a:srgbClr val="084594"/>
                </a:solidFill>
                <a:latin typeface="Poppins"/>
                <a:ea typeface="Poppins"/>
                <a:cs typeface="Poppins"/>
                <a:sym typeface="Poppins"/>
              </a:rPr>
              <a:t>Defined</a:t>
            </a:r>
            <a:endParaRPr b="0" i="0" sz="2050" u="none" cap="none" strike="noStrike">
              <a:solidFill>
                <a:schemeClr val="dk1"/>
              </a:solidFill>
              <a:latin typeface="Calibri"/>
              <a:ea typeface="Calibri"/>
              <a:cs typeface="Calibri"/>
              <a:sym typeface="Calibri"/>
            </a:endParaRPr>
          </a:p>
        </p:txBody>
      </p:sp>
      <p:sp>
        <p:nvSpPr>
          <p:cNvPr id="902" name="Google Shape;902;p24"/>
          <p:cNvSpPr/>
          <p:nvPr/>
        </p:nvSpPr>
        <p:spPr>
          <a:xfrm>
            <a:off x="1447800" y="338613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03" name="Google Shape;903;p24"/>
          <p:cNvSpPr/>
          <p:nvPr/>
        </p:nvSpPr>
        <p:spPr>
          <a:xfrm>
            <a:off x="1647825" y="3314700"/>
            <a:ext cx="43464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Title</a:t>
            </a:r>
            <a:endParaRPr b="0" i="0" sz="1900" u="none" cap="none" strike="noStrike">
              <a:solidFill>
                <a:schemeClr val="dk1"/>
              </a:solidFill>
              <a:latin typeface="Calibri"/>
              <a:ea typeface="Calibri"/>
              <a:cs typeface="Calibri"/>
              <a:sym typeface="Calibri"/>
            </a:endParaRPr>
          </a:p>
        </p:txBody>
      </p:sp>
      <p:sp>
        <p:nvSpPr>
          <p:cNvPr id="904" name="Google Shape;904;p24"/>
          <p:cNvSpPr/>
          <p:nvPr/>
        </p:nvSpPr>
        <p:spPr>
          <a:xfrm>
            <a:off x="1447800" y="378618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05" name="Google Shape;905;p24"/>
          <p:cNvSpPr/>
          <p:nvPr/>
        </p:nvSpPr>
        <p:spPr>
          <a:xfrm>
            <a:off x="1647825" y="3714750"/>
            <a:ext cx="4275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Research question, Scope</a:t>
            </a:r>
            <a:endParaRPr b="0" i="0" sz="1900" u="none" cap="none" strike="noStrike">
              <a:solidFill>
                <a:schemeClr val="dk1"/>
              </a:solidFill>
              <a:latin typeface="Calibri"/>
              <a:ea typeface="Calibri"/>
              <a:cs typeface="Calibri"/>
              <a:sym typeface="Calibri"/>
            </a:endParaRPr>
          </a:p>
        </p:txBody>
      </p:sp>
      <p:sp>
        <p:nvSpPr>
          <p:cNvPr id="906" name="Google Shape;906;p24"/>
          <p:cNvSpPr/>
          <p:nvPr/>
        </p:nvSpPr>
        <p:spPr>
          <a:xfrm>
            <a:off x="1447800" y="418623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07" name="Google Shape;907;p24"/>
          <p:cNvSpPr/>
          <p:nvPr/>
        </p:nvSpPr>
        <p:spPr>
          <a:xfrm>
            <a:off x="1647825" y="4114800"/>
            <a:ext cx="3863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Operational definitions</a:t>
            </a:r>
            <a:endParaRPr b="0" i="0" sz="1900" u="none" cap="none" strike="noStrike">
              <a:solidFill>
                <a:schemeClr val="dk1"/>
              </a:solidFill>
              <a:latin typeface="Calibri"/>
              <a:ea typeface="Calibri"/>
              <a:cs typeface="Calibri"/>
              <a:sym typeface="Calibri"/>
            </a:endParaRPr>
          </a:p>
        </p:txBody>
      </p:sp>
      <p:sp>
        <p:nvSpPr>
          <p:cNvPr id="908" name="Google Shape;908;p24"/>
          <p:cNvSpPr/>
          <p:nvPr/>
        </p:nvSpPr>
        <p:spPr>
          <a:xfrm>
            <a:off x="1447800" y="458628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09" name="Google Shape;909;p24"/>
          <p:cNvSpPr/>
          <p:nvPr/>
        </p:nvSpPr>
        <p:spPr>
          <a:xfrm>
            <a:off x="1647825" y="4514850"/>
            <a:ext cx="2380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Literature gap</a:t>
            </a:r>
            <a:endParaRPr b="0" i="0" sz="1900" u="none" cap="none" strike="noStrike">
              <a:solidFill>
                <a:schemeClr val="dk1"/>
              </a:solidFill>
              <a:latin typeface="Calibri"/>
              <a:ea typeface="Calibri"/>
              <a:cs typeface="Calibri"/>
              <a:sym typeface="Calibri"/>
            </a:endParaRPr>
          </a:p>
        </p:txBody>
      </p:sp>
      <p:sp>
        <p:nvSpPr>
          <p:cNvPr id="910" name="Google Shape;910;p24"/>
          <p:cNvSpPr/>
          <p:nvPr/>
        </p:nvSpPr>
        <p:spPr>
          <a:xfrm>
            <a:off x="1447800" y="498633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11" name="Google Shape;911;p24"/>
          <p:cNvSpPr/>
          <p:nvPr/>
        </p:nvSpPr>
        <p:spPr>
          <a:xfrm>
            <a:off x="1647825" y="4914900"/>
            <a:ext cx="4651200" cy="2667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chemeClr val="dk1"/>
              </a:buClr>
              <a:buSzPts val="1100"/>
              <a:buFont typeface="Arial"/>
              <a:buNone/>
            </a:pPr>
            <a:r>
              <a:rPr lang="en-US" sz="1900">
                <a:solidFill>
                  <a:srgbClr val="16324A"/>
                </a:solidFill>
                <a:latin typeface="Inter"/>
                <a:ea typeface="Inter"/>
                <a:cs typeface="Inter"/>
                <a:sym typeface="Inter"/>
              </a:rPr>
              <a:t>Qwen and Gemma DebugBench PoCs</a:t>
            </a:r>
            <a:endParaRPr sz="1900">
              <a:solidFill>
                <a:srgbClr val="16324A"/>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900">
              <a:solidFill>
                <a:srgbClr val="16324A"/>
              </a:solidFill>
              <a:latin typeface="Inter"/>
              <a:ea typeface="Inter"/>
              <a:cs typeface="Inter"/>
              <a:sym typeface="Inter"/>
            </a:endParaRPr>
          </a:p>
          <a:p>
            <a:pPr indent="0" lvl="0" marL="0" marR="0" rtl="0" algn="l">
              <a:spcBef>
                <a:spcPts val="0"/>
              </a:spcBef>
              <a:spcAft>
                <a:spcPts val="0"/>
              </a:spcAft>
              <a:buClr>
                <a:srgbClr val="16324A"/>
              </a:buClr>
              <a:buSzPts val="1500"/>
              <a:buFont typeface="Inter"/>
              <a:buNone/>
            </a:pPr>
            <a:r>
              <a:t/>
            </a:r>
            <a:endParaRPr sz="1900">
              <a:solidFill>
                <a:srgbClr val="16324A"/>
              </a:solidFill>
              <a:latin typeface="Inter"/>
              <a:ea typeface="Inter"/>
              <a:cs typeface="Inter"/>
              <a:sym typeface="Inter"/>
            </a:endParaRPr>
          </a:p>
        </p:txBody>
      </p:sp>
      <p:sp>
        <p:nvSpPr>
          <p:cNvPr id="912" name="Google Shape;912;p24"/>
          <p:cNvSpPr/>
          <p:nvPr/>
        </p:nvSpPr>
        <p:spPr>
          <a:xfrm>
            <a:off x="1447800" y="538638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13" name="Google Shape;913;p24"/>
          <p:cNvSpPr/>
          <p:nvPr/>
        </p:nvSpPr>
        <p:spPr>
          <a:xfrm>
            <a:off x="1647825" y="5314950"/>
            <a:ext cx="2036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Architecture</a:t>
            </a:r>
            <a:endParaRPr b="0" i="0" sz="1900" u="none" cap="none" strike="noStrike">
              <a:solidFill>
                <a:schemeClr val="dk1"/>
              </a:solidFill>
              <a:latin typeface="Calibri"/>
              <a:ea typeface="Calibri"/>
              <a:cs typeface="Calibri"/>
              <a:sym typeface="Calibri"/>
            </a:endParaRPr>
          </a:p>
        </p:txBody>
      </p:sp>
      <p:sp>
        <p:nvSpPr>
          <p:cNvPr id="914" name="Google Shape;914;p24"/>
          <p:cNvSpPr/>
          <p:nvPr/>
        </p:nvSpPr>
        <p:spPr>
          <a:xfrm>
            <a:off x="1447800" y="5786438"/>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15" name="Google Shape;915;p24"/>
          <p:cNvSpPr/>
          <p:nvPr/>
        </p:nvSpPr>
        <p:spPr>
          <a:xfrm>
            <a:off x="1647825" y="5715000"/>
            <a:ext cx="1297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Metrics</a:t>
            </a:r>
            <a:endParaRPr b="0" i="0" sz="1900" u="none" cap="none" strike="noStrike">
              <a:solidFill>
                <a:schemeClr val="dk1"/>
              </a:solidFill>
              <a:latin typeface="Calibri"/>
              <a:ea typeface="Calibri"/>
              <a:cs typeface="Calibri"/>
              <a:sym typeface="Calibri"/>
            </a:endParaRPr>
          </a:p>
        </p:txBody>
      </p:sp>
      <p:sp>
        <p:nvSpPr>
          <p:cNvPr id="916" name="Google Shape;916;p24"/>
          <p:cNvSpPr/>
          <p:nvPr/>
        </p:nvSpPr>
        <p:spPr>
          <a:xfrm>
            <a:off x="6565900" y="2406650"/>
            <a:ext cx="5156100" cy="4658400"/>
          </a:xfrm>
          <a:prstGeom prst="roundRect">
            <a:avLst>
              <a:gd fmla="val 406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p:nvPr/>
        </p:nvSpPr>
        <p:spPr>
          <a:xfrm>
            <a:off x="6565900" y="2406650"/>
            <a:ext cx="5156100" cy="76200"/>
          </a:xfrm>
          <a:prstGeom prst="rect">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4"/>
          <p:cNvSpPr/>
          <p:nvPr/>
        </p:nvSpPr>
        <p:spPr>
          <a:xfrm>
            <a:off x="6870700" y="2787650"/>
            <a:ext cx="5001300" cy="35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i="0" lang="en-US" sz="2050" u="none" cap="none" strike="noStrike">
                <a:solidFill>
                  <a:srgbClr val="084594"/>
                </a:solidFill>
                <a:latin typeface="Poppins"/>
                <a:ea typeface="Poppins"/>
                <a:cs typeface="Poppins"/>
                <a:sym typeface="Poppins"/>
              </a:rPr>
              <a:t>Planned</a:t>
            </a:r>
            <a:endParaRPr b="0" i="0" sz="2050" u="none" cap="none" strike="noStrike">
              <a:solidFill>
                <a:schemeClr val="dk1"/>
              </a:solidFill>
              <a:latin typeface="Calibri"/>
              <a:ea typeface="Calibri"/>
              <a:cs typeface="Calibri"/>
              <a:sym typeface="Calibri"/>
            </a:endParaRPr>
          </a:p>
        </p:txBody>
      </p:sp>
      <p:sp>
        <p:nvSpPr>
          <p:cNvPr id="919" name="Google Shape;919;p24"/>
          <p:cNvSpPr/>
          <p:nvPr/>
        </p:nvSpPr>
        <p:spPr>
          <a:xfrm>
            <a:off x="6870700" y="3386138"/>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20" name="Google Shape;920;p24"/>
          <p:cNvSpPr/>
          <p:nvPr/>
        </p:nvSpPr>
        <p:spPr>
          <a:xfrm>
            <a:off x="7070725" y="3314700"/>
            <a:ext cx="17634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Datasets</a:t>
            </a:r>
            <a:endParaRPr b="0" i="0" sz="1900" u="none" cap="none" strike="noStrike">
              <a:solidFill>
                <a:schemeClr val="dk1"/>
              </a:solidFill>
              <a:latin typeface="Calibri"/>
              <a:ea typeface="Calibri"/>
              <a:cs typeface="Calibri"/>
              <a:sym typeface="Calibri"/>
            </a:endParaRPr>
          </a:p>
        </p:txBody>
      </p:sp>
      <p:sp>
        <p:nvSpPr>
          <p:cNvPr id="921" name="Google Shape;921;p24"/>
          <p:cNvSpPr/>
          <p:nvPr/>
        </p:nvSpPr>
        <p:spPr>
          <a:xfrm>
            <a:off x="6870700" y="3786188"/>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22" name="Google Shape;922;p24"/>
          <p:cNvSpPr/>
          <p:nvPr/>
        </p:nvSpPr>
        <p:spPr>
          <a:xfrm>
            <a:off x="7070725" y="3714750"/>
            <a:ext cx="23088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Model roles</a:t>
            </a:r>
            <a:endParaRPr b="0" i="0" sz="1900" u="none" cap="none" strike="noStrike">
              <a:solidFill>
                <a:schemeClr val="dk1"/>
              </a:solidFill>
              <a:latin typeface="Calibri"/>
              <a:ea typeface="Calibri"/>
              <a:cs typeface="Calibri"/>
              <a:sym typeface="Calibri"/>
            </a:endParaRPr>
          </a:p>
        </p:txBody>
      </p:sp>
      <p:sp>
        <p:nvSpPr>
          <p:cNvPr id="923" name="Google Shape;923;p24"/>
          <p:cNvSpPr/>
          <p:nvPr/>
        </p:nvSpPr>
        <p:spPr>
          <a:xfrm>
            <a:off x="6870700" y="4186238"/>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24" name="Google Shape;924;p24"/>
          <p:cNvSpPr/>
          <p:nvPr/>
        </p:nvSpPr>
        <p:spPr>
          <a:xfrm>
            <a:off x="7070725" y="4114800"/>
            <a:ext cx="19767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Validators</a:t>
            </a:r>
            <a:endParaRPr b="0" i="0" sz="1900" u="none" cap="none" strike="noStrike">
              <a:solidFill>
                <a:schemeClr val="dk1"/>
              </a:solidFill>
              <a:latin typeface="Calibri"/>
              <a:ea typeface="Calibri"/>
              <a:cs typeface="Calibri"/>
              <a:sym typeface="Calibri"/>
            </a:endParaRPr>
          </a:p>
        </p:txBody>
      </p:sp>
      <p:sp>
        <p:nvSpPr>
          <p:cNvPr id="925" name="Google Shape;925;p24"/>
          <p:cNvSpPr/>
          <p:nvPr/>
        </p:nvSpPr>
        <p:spPr>
          <a:xfrm>
            <a:off x="6870700" y="4586288"/>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26" name="Google Shape;926;p24"/>
          <p:cNvSpPr/>
          <p:nvPr/>
        </p:nvSpPr>
        <p:spPr>
          <a:xfrm>
            <a:off x="7070725" y="4514850"/>
            <a:ext cx="1911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Baselines</a:t>
            </a:r>
            <a:endParaRPr b="0" i="0" sz="1900" u="none" cap="none" strike="noStrike">
              <a:solidFill>
                <a:schemeClr val="dk1"/>
              </a:solidFill>
              <a:latin typeface="Calibri"/>
              <a:ea typeface="Calibri"/>
              <a:cs typeface="Calibri"/>
              <a:sym typeface="Calibri"/>
            </a:endParaRPr>
          </a:p>
        </p:txBody>
      </p:sp>
      <p:sp>
        <p:nvSpPr>
          <p:cNvPr id="927" name="Google Shape;927;p24"/>
          <p:cNvSpPr/>
          <p:nvPr/>
        </p:nvSpPr>
        <p:spPr>
          <a:xfrm>
            <a:off x="6870700" y="4990405"/>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28" name="Google Shape;928;p24"/>
          <p:cNvSpPr/>
          <p:nvPr/>
        </p:nvSpPr>
        <p:spPr>
          <a:xfrm>
            <a:off x="7070725" y="4918967"/>
            <a:ext cx="2430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Risk register</a:t>
            </a:r>
            <a:endParaRPr b="0" i="0" sz="1900" u="none" cap="none" strike="noStrike">
              <a:solidFill>
                <a:schemeClr val="dk1"/>
              </a:solidFill>
              <a:latin typeface="Calibri"/>
              <a:ea typeface="Calibri"/>
              <a:cs typeface="Calibri"/>
              <a:sym typeface="Calibri"/>
            </a:endParaRPr>
          </a:p>
        </p:txBody>
      </p:sp>
      <p:sp>
        <p:nvSpPr>
          <p:cNvPr id="929" name="Google Shape;929;p24"/>
          <p:cNvSpPr/>
          <p:nvPr/>
        </p:nvSpPr>
        <p:spPr>
          <a:xfrm>
            <a:off x="6870700" y="5390455"/>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30" name="Google Shape;930;p24"/>
          <p:cNvSpPr/>
          <p:nvPr/>
        </p:nvSpPr>
        <p:spPr>
          <a:xfrm>
            <a:off x="7070725" y="5319017"/>
            <a:ext cx="4461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12 weekly sprint goals</a:t>
            </a:r>
            <a:endParaRPr b="0" i="0" sz="1900" u="none" cap="none" strike="noStrike">
              <a:solidFill>
                <a:schemeClr val="dk1"/>
              </a:solidFill>
              <a:latin typeface="Calibri"/>
              <a:ea typeface="Calibri"/>
              <a:cs typeface="Calibri"/>
              <a:sym typeface="Calibri"/>
            </a:endParaRPr>
          </a:p>
        </p:txBody>
      </p:sp>
      <p:sp>
        <p:nvSpPr>
          <p:cNvPr id="931" name="Google Shape;931;p24"/>
          <p:cNvSpPr/>
          <p:nvPr/>
        </p:nvSpPr>
        <p:spPr>
          <a:xfrm>
            <a:off x="11988800" y="2406650"/>
            <a:ext cx="5156100" cy="4658400"/>
          </a:xfrm>
          <a:prstGeom prst="roundRect">
            <a:avLst>
              <a:gd fmla="val 406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11988801" y="2406650"/>
            <a:ext cx="5156100" cy="76200"/>
          </a:xfrm>
          <a:prstGeom prst="rect">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4"/>
          <p:cNvSpPr/>
          <p:nvPr/>
        </p:nvSpPr>
        <p:spPr>
          <a:xfrm>
            <a:off x="12293601" y="2787650"/>
            <a:ext cx="5001300" cy="355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1650"/>
              <a:buFont typeface="Poppins"/>
              <a:buNone/>
            </a:pPr>
            <a:r>
              <a:rPr b="1" lang="en-US" sz="2050">
                <a:solidFill>
                  <a:srgbClr val="084594"/>
                </a:solidFill>
                <a:latin typeface="Poppins"/>
                <a:ea typeface="Poppins"/>
                <a:cs typeface="Poppins"/>
                <a:sym typeface="Poppins"/>
              </a:rPr>
              <a:t>Later</a:t>
            </a:r>
            <a:endParaRPr b="0" i="0" sz="2050" u="none" cap="none" strike="noStrike">
              <a:solidFill>
                <a:schemeClr val="dk1"/>
              </a:solidFill>
              <a:latin typeface="Calibri"/>
              <a:ea typeface="Calibri"/>
              <a:cs typeface="Calibri"/>
              <a:sym typeface="Calibri"/>
            </a:endParaRPr>
          </a:p>
        </p:txBody>
      </p:sp>
      <p:sp>
        <p:nvSpPr>
          <p:cNvPr id="934" name="Google Shape;934;p24"/>
          <p:cNvSpPr/>
          <p:nvPr/>
        </p:nvSpPr>
        <p:spPr>
          <a:xfrm>
            <a:off x="12293601" y="3400010"/>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35" name="Google Shape;935;p24"/>
          <p:cNvSpPr/>
          <p:nvPr/>
        </p:nvSpPr>
        <p:spPr>
          <a:xfrm>
            <a:off x="12484100" y="3323800"/>
            <a:ext cx="4161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Local model </a:t>
            </a:r>
            <a:r>
              <a:rPr lang="en-US" sz="1900">
                <a:solidFill>
                  <a:srgbClr val="16324A"/>
                </a:solidFill>
                <a:latin typeface="Inter"/>
                <a:ea typeface="Inter"/>
                <a:cs typeface="Inter"/>
                <a:sym typeface="Inter"/>
              </a:rPr>
              <a:t>selection</a:t>
            </a:r>
            <a:endParaRPr b="0" i="0" sz="1900" u="none" cap="none" strike="noStrike">
              <a:solidFill>
                <a:schemeClr val="dk1"/>
              </a:solidFill>
              <a:latin typeface="Calibri"/>
              <a:ea typeface="Calibri"/>
              <a:cs typeface="Calibri"/>
              <a:sym typeface="Calibri"/>
            </a:endParaRPr>
          </a:p>
        </p:txBody>
      </p:sp>
      <p:sp>
        <p:nvSpPr>
          <p:cNvPr id="936" name="Google Shape;936;p24"/>
          <p:cNvSpPr/>
          <p:nvPr/>
        </p:nvSpPr>
        <p:spPr>
          <a:xfrm>
            <a:off x="12293601" y="3800060"/>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37" name="Google Shape;937;p24"/>
          <p:cNvSpPr/>
          <p:nvPr/>
        </p:nvSpPr>
        <p:spPr>
          <a:xfrm>
            <a:off x="12484099" y="3723860"/>
            <a:ext cx="3863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Validator implementation</a:t>
            </a:r>
            <a:endParaRPr b="0" i="0" sz="1900" u="none" cap="none" strike="noStrike">
              <a:solidFill>
                <a:schemeClr val="dk1"/>
              </a:solidFill>
              <a:latin typeface="Calibri"/>
              <a:ea typeface="Calibri"/>
              <a:cs typeface="Calibri"/>
              <a:sym typeface="Calibri"/>
            </a:endParaRPr>
          </a:p>
        </p:txBody>
      </p:sp>
      <p:sp>
        <p:nvSpPr>
          <p:cNvPr id="938" name="Google Shape;938;p24"/>
          <p:cNvSpPr/>
          <p:nvPr/>
        </p:nvSpPr>
        <p:spPr>
          <a:xfrm>
            <a:off x="12293601" y="4200110"/>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39" name="Google Shape;939;p24"/>
          <p:cNvSpPr/>
          <p:nvPr/>
        </p:nvSpPr>
        <p:spPr>
          <a:xfrm>
            <a:off x="12484099" y="4123910"/>
            <a:ext cx="3425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1900" u="none" cap="none" strike="noStrike">
                <a:solidFill>
                  <a:srgbClr val="16324A"/>
                </a:solidFill>
                <a:latin typeface="Inter"/>
                <a:ea typeface="Inter"/>
                <a:cs typeface="Inter"/>
                <a:sym typeface="Inter"/>
              </a:rPr>
              <a:t>100–150 example pilot</a:t>
            </a:r>
            <a:endParaRPr b="0" i="0" sz="1900" u="none" cap="none" strike="noStrike">
              <a:solidFill>
                <a:schemeClr val="dk1"/>
              </a:solidFill>
              <a:latin typeface="Calibri"/>
              <a:ea typeface="Calibri"/>
              <a:cs typeface="Calibri"/>
              <a:sym typeface="Calibri"/>
            </a:endParaRPr>
          </a:p>
        </p:txBody>
      </p:sp>
      <p:sp>
        <p:nvSpPr>
          <p:cNvPr id="940" name="Google Shape;940;p24"/>
          <p:cNvSpPr/>
          <p:nvPr/>
        </p:nvSpPr>
        <p:spPr>
          <a:xfrm>
            <a:off x="1143000" y="7977841"/>
            <a:ext cx="16002000" cy="1261200"/>
          </a:xfrm>
          <a:prstGeom prst="roundRect">
            <a:avLst>
              <a:gd fmla="val 23529" name="adj"/>
            </a:avLst>
          </a:prstGeom>
          <a:solidFill>
            <a:srgbClr val="DE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p:nvPr/>
        </p:nvSpPr>
        <p:spPr>
          <a:xfrm>
            <a:off x="1409700" y="8187391"/>
            <a:ext cx="15236400" cy="84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b="0" i="0" lang="en-US" sz="2300" u="none" cap="none" strike="noStrike">
                <a:solidFill>
                  <a:srgbClr val="16324A"/>
                </a:solidFill>
                <a:latin typeface="Inter"/>
                <a:ea typeface="Inter"/>
                <a:cs typeface="Inter"/>
                <a:sym typeface="Inter"/>
              </a:rPr>
              <a:t>Evidence boundary: the supplied materials document proposal and PM design; they do not yet evidence completed implementation or experiments.</a:t>
            </a:r>
            <a:endParaRPr b="0" i="0" sz="2300" u="none" cap="none" strike="noStrike">
              <a:solidFill>
                <a:schemeClr val="dk1"/>
              </a:solidFill>
              <a:latin typeface="Calibri"/>
              <a:ea typeface="Calibri"/>
              <a:cs typeface="Calibri"/>
              <a:sym typeface="Calibri"/>
            </a:endParaRPr>
          </a:p>
        </p:txBody>
      </p:sp>
      <p:pic>
        <p:nvPicPr>
          <p:cNvPr id="942" name="Google Shape;942;p24"/>
          <p:cNvPicPr preferRelativeResize="0"/>
          <p:nvPr/>
        </p:nvPicPr>
        <p:blipFill>
          <a:blip r:embed="rId3">
            <a:alphaModFix/>
          </a:blip>
          <a:stretch>
            <a:fillRect/>
          </a:stretch>
        </p:blipFill>
        <p:spPr>
          <a:xfrm>
            <a:off x="14514274" y="256251"/>
            <a:ext cx="3489799" cy="614350"/>
          </a:xfrm>
          <a:prstGeom prst="rect">
            <a:avLst/>
          </a:prstGeom>
          <a:noFill/>
          <a:ln>
            <a:noFill/>
          </a:ln>
        </p:spPr>
      </p:pic>
      <p:sp>
        <p:nvSpPr>
          <p:cNvPr id="943" name="Google Shape;943;p24"/>
          <p:cNvSpPr/>
          <p:nvPr/>
        </p:nvSpPr>
        <p:spPr>
          <a:xfrm>
            <a:off x="1463102" y="6141830"/>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44" name="Google Shape;944;p24"/>
          <p:cNvSpPr/>
          <p:nvPr/>
        </p:nvSpPr>
        <p:spPr>
          <a:xfrm>
            <a:off x="1663122" y="6070400"/>
            <a:ext cx="2868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Repo setup</a:t>
            </a:r>
            <a:endParaRPr b="0" i="0" sz="1900" u="none" cap="none" strike="noStrike">
              <a:solidFill>
                <a:schemeClr val="dk1"/>
              </a:solidFill>
              <a:latin typeface="Calibri"/>
              <a:ea typeface="Calibri"/>
              <a:cs typeface="Calibri"/>
              <a:sym typeface="Calibri"/>
            </a:endParaRPr>
          </a:p>
        </p:txBody>
      </p:sp>
      <p:sp>
        <p:nvSpPr>
          <p:cNvPr id="945" name="Google Shape;945;p24"/>
          <p:cNvSpPr/>
          <p:nvPr/>
        </p:nvSpPr>
        <p:spPr>
          <a:xfrm>
            <a:off x="1463102" y="6503780"/>
            <a:ext cx="85800" cy="858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46" name="Google Shape;946;p24"/>
          <p:cNvSpPr/>
          <p:nvPr/>
        </p:nvSpPr>
        <p:spPr>
          <a:xfrm>
            <a:off x="1663126" y="6432350"/>
            <a:ext cx="42603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Baseline Experiment Pipeline</a:t>
            </a:r>
            <a:endParaRPr b="0" i="0" sz="1900" u="none" cap="none" strike="noStrike">
              <a:solidFill>
                <a:schemeClr val="dk1"/>
              </a:solidFill>
              <a:latin typeface="Calibri"/>
              <a:ea typeface="Calibri"/>
              <a:cs typeface="Calibri"/>
              <a:sym typeface="Calibri"/>
            </a:endParaRPr>
          </a:p>
        </p:txBody>
      </p:sp>
      <p:sp>
        <p:nvSpPr>
          <p:cNvPr id="947" name="Google Shape;947;p24"/>
          <p:cNvSpPr/>
          <p:nvPr/>
        </p:nvSpPr>
        <p:spPr>
          <a:xfrm>
            <a:off x="6871328" y="5782494"/>
            <a:ext cx="85800" cy="858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48" name="Google Shape;948;p24"/>
          <p:cNvSpPr/>
          <p:nvPr/>
        </p:nvSpPr>
        <p:spPr>
          <a:xfrm>
            <a:off x="7071353" y="5711056"/>
            <a:ext cx="4461900" cy="2667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1200"/>
              </a:spcBef>
              <a:spcAft>
                <a:spcPts val="1200"/>
              </a:spcAft>
              <a:buNone/>
            </a:pPr>
            <a:r>
              <a:rPr lang="en-US" sz="1900">
                <a:solidFill>
                  <a:srgbClr val="16324A"/>
                </a:solidFill>
                <a:latin typeface="Inter"/>
                <a:ea typeface="Inter"/>
                <a:cs typeface="Inter"/>
                <a:sym typeface="Inter"/>
              </a:rPr>
              <a:t>Evaluation protocol</a:t>
            </a:r>
            <a:endParaRPr sz="1900">
              <a:solidFill>
                <a:srgbClr val="16324A"/>
              </a:solidFill>
              <a:latin typeface="Inter"/>
              <a:ea typeface="Inter"/>
              <a:cs typeface="Inter"/>
              <a:sym typeface="Inter"/>
            </a:endParaRPr>
          </a:p>
        </p:txBody>
      </p:sp>
      <p:sp>
        <p:nvSpPr>
          <p:cNvPr id="949" name="Google Shape;949;p24"/>
          <p:cNvSpPr/>
          <p:nvPr/>
        </p:nvSpPr>
        <p:spPr>
          <a:xfrm>
            <a:off x="12298457" y="4582791"/>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0" name="Google Shape;950;p24"/>
          <p:cNvSpPr/>
          <p:nvPr/>
        </p:nvSpPr>
        <p:spPr>
          <a:xfrm>
            <a:off x="12488948" y="4506600"/>
            <a:ext cx="4503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Implement ACCEPT, REPAIR, REGENERATE</a:t>
            </a:r>
            <a:endParaRPr b="0" i="0" sz="1900" u="none" cap="none" strike="noStrike">
              <a:solidFill>
                <a:schemeClr val="dk1"/>
              </a:solidFill>
              <a:latin typeface="Calibri"/>
              <a:ea typeface="Calibri"/>
              <a:cs typeface="Calibri"/>
              <a:sym typeface="Calibri"/>
            </a:endParaRPr>
          </a:p>
        </p:txBody>
      </p:sp>
      <p:sp>
        <p:nvSpPr>
          <p:cNvPr id="951" name="Google Shape;951;p24"/>
          <p:cNvSpPr/>
          <p:nvPr/>
        </p:nvSpPr>
        <p:spPr>
          <a:xfrm>
            <a:off x="12282360" y="5257791"/>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2" name="Google Shape;952;p24"/>
          <p:cNvSpPr/>
          <p:nvPr/>
        </p:nvSpPr>
        <p:spPr>
          <a:xfrm>
            <a:off x="12472852" y="5181600"/>
            <a:ext cx="4503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Train action-specific risk models</a:t>
            </a:r>
            <a:endParaRPr b="0" i="0" sz="1900" u="none" cap="none" strike="noStrike">
              <a:solidFill>
                <a:schemeClr val="dk1"/>
              </a:solidFill>
              <a:latin typeface="Calibri"/>
              <a:ea typeface="Calibri"/>
              <a:cs typeface="Calibri"/>
              <a:sym typeface="Calibri"/>
            </a:endParaRPr>
          </a:p>
        </p:txBody>
      </p:sp>
      <p:sp>
        <p:nvSpPr>
          <p:cNvPr id="953" name="Google Shape;953;p24"/>
          <p:cNvSpPr/>
          <p:nvPr/>
        </p:nvSpPr>
        <p:spPr>
          <a:xfrm>
            <a:off x="12294851" y="5927060"/>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4" name="Google Shape;954;p24"/>
          <p:cNvSpPr/>
          <p:nvPr/>
        </p:nvSpPr>
        <p:spPr>
          <a:xfrm>
            <a:off x="12485349" y="5850860"/>
            <a:ext cx="3425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Define routing thresholds</a:t>
            </a:r>
            <a:endParaRPr b="0" i="0" sz="1900" u="none" cap="none" strike="noStrike">
              <a:solidFill>
                <a:schemeClr val="dk1"/>
              </a:solidFill>
              <a:latin typeface="Calibri"/>
              <a:ea typeface="Calibri"/>
              <a:cs typeface="Calibri"/>
              <a:sym typeface="Calibri"/>
            </a:endParaRPr>
          </a:p>
        </p:txBody>
      </p:sp>
      <p:sp>
        <p:nvSpPr>
          <p:cNvPr id="955" name="Google Shape;955;p24"/>
          <p:cNvSpPr/>
          <p:nvPr/>
        </p:nvSpPr>
        <p:spPr>
          <a:xfrm>
            <a:off x="12298330" y="6318435"/>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6" name="Google Shape;956;p24"/>
          <p:cNvSpPr/>
          <p:nvPr/>
        </p:nvSpPr>
        <p:spPr>
          <a:xfrm>
            <a:off x="12488829" y="6242235"/>
            <a:ext cx="34251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Complete final evaluation and dissertation</a:t>
            </a:r>
            <a:endParaRPr b="0" i="0" sz="1900" u="none" cap="none" strike="noStrike">
              <a:solidFill>
                <a:schemeClr val="dk1"/>
              </a:solidFill>
              <a:latin typeface="Calibri"/>
              <a:ea typeface="Calibri"/>
              <a:cs typeface="Calibri"/>
              <a:sym typeface="Calibri"/>
            </a:endParaRPr>
          </a:p>
        </p:txBody>
      </p:sp>
      <p:sp>
        <p:nvSpPr>
          <p:cNvPr id="957" name="Google Shape;957;p24"/>
          <p:cNvSpPr/>
          <p:nvPr/>
        </p:nvSpPr>
        <p:spPr>
          <a:xfrm>
            <a:off x="12305510" y="5592416"/>
            <a:ext cx="76200" cy="762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958" name="Google Shape;958;p24"/>
          <p:cNvSpPr/>
          <p:nvPr/>
        </p:nvSpPr>
        <p:spPr>
          <a:xfrm>
            <a:off x="12496002" y="5516225"/>
            <a:ext cx="4503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324A"/>
              </a:buClr>
              <a:buSzPts val="1500"/>
              <a:buFont typeface="Inter"/>
              <a:buNone/>
            </a:pPr>
            <a:r>
              <a:rPr lang="en-US" sz="1900">
                <a:solidFill>
                  <a:srgbClr val="16324A"/>
                </a:solidFill>
                <a:latin typeface="Inter"/>
                <a:ea typeface="Inter"/>
                <a:cs typeface="Inter"/>
                <a:sym typeface="Inter"/>
              </a:rPr>
              <a:t>Calibrate predicted probabilities</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3" name="Shape 963"/>
        <p:cNvGrpSpPr/>
        <p:nvPr/>
      </p:nvGrpSpPr>
      <p:grpSpPr>
        <a:xfrm>
          <a:off x="0" y="0"/>
          <a:ext cx="0" cy="0"/>
          <a:chOff x="0" y="0"/>
          <a:chExt cx="0" cy="0"/>
        </a:xfrm>
      </p:grpSpPr>
      <p:sp>
        <p:nvSpPr>
          <p:cNvPr id="964" name="Google Shape;964;p25"/>
          <p:cNvSpPr/>
          <p:nvPr/>
        </p:nvSpPr>
        <p:spPr>
          <a:xfrm>
            <a:off x="1143000" y="1301750"/>
            <a:ext cx="17602200"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3600"/>
              <a:buFont typeface="Poppins"/>
              <a:buNone/>
            </a:pPr>
            <a:r>
              <a:rPr b="1" i="0" lang="en-US" sz="3600" u="none" cap="none" strike="noStrike">
                <a:solidFill>
                  <a:srgbClr val="084594"/>
                </a:solidFill>
                <a:latin typeface="Poppins"/>
                <a:ea typeface="Poppins"/>
                <a:cs typeface="Poppins"/>
                <a:sym typeface="Poppins"/>
              </a:rPr>
              <a:t>Lessons Learned </a:t>
            </a:r>
            <a:r>
              <a:rPr b="1" lang="en-US" sz="3600">
                <a:solidFill>
                  <a:srgbClr val="084594"/>
                </a:solidFill>
                <a:latin typeface="Poppins"/>
                <a:ea typeface="Poppins"/>
                <a:cs typeface="Poppins"/>
                <a:sym typeface="Poppins"/>
              </a:rPr>
              <a:t>&amp;</a:t>
            </a:r>
            <a:r>
              <a:rPr b="1" i="0" lang="en-US" sz="3600" u="none" cap="none" strike="noStrike">
                <a:solidFill>
                  <a:srgbClr val="084594"/>
                </a:solidFill>
                <a:latin typeface="Poppins"/>
                <a:ea typeface="Poppins"/>
                <a:cs typeface="Poppins"/>
                <a:sym typeface="Poppins"/>
              </a:rPr>
              <a:t> Challenges</a:t>
            </a:r>
            <a:endParaRPr b="0" i="0" sz="3600" u="none" cap="none" strike="noStrike">
              <a:solidFill>
                <a:schemeClr val="dk1"/>
              </a:solidFill>
              <a:latin typeface="Calibri"/>
              <a:ea typeface="Calibri"/>
              <a:cs typeface="Calibri"/>
              <a:sym typeface="Calibri"/>
            </a:endParaRPr>
          </a:p>
        </p:txBody>
      </p:sp>
      <p:sp>
        <p:nvSpPr>
          <p:cNvPr id="965" name="Google Shape;965;p25"/>
          <p:cNvSpPr/>
          <p:nvPr/>
        </p:nvSpPr>
        <p:spPr>
          <a:xfrm>
            <a:off x="1143000" y="2139950"/>
            <a:ext cx="16764000" cy="33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C4A63"/>
              </a:buClr>
              <a:buSzPts val="1950"/>
              <a:buFont typeface="Inter"/>
              <a:buNone/>
            </a:pPr>
            <a:r>
              <a:rPr b="0" i="0" lang="en-US" sz="1950" u="none" cap="none" strike="noStrike">
                <a:solidFill>
                  <a:srgbClr val="2C4A63"/>
                </a:solidFill>
                <a:latin typeface="Inter"/>
                <a:ea typeface="Inter"/>
                <a:cs typeface="Inter"/>
                <a:sym typeface="Inter"/>
              </a:rPr>
              <a:t>Early design work reduced ambiguity and exposed the experiment's hardest dependencies.</a:t>
            </a:r>
            <a:endParaRPr b="0" i="0" sz="1950" u="none" cap="none" strike="noStrike">
              <a:solidFill>
                <a:schemeClr val="dk1"/>
              </a:solidFill>
              <a:latin typeface="Calibri"/>
              <a:ea typeface="Calibri"/>
              <a:cs typeface="Calibri"/>
              <a:sym typeface="Calibri"/>
            </a:endParaRPr>
          </a:p>
        </p:txBody>
      </p:sp>
      <p:sp>
        <p:nvSpPr>
          <p:cNvPr id="966" name="Google Shape;966;p25"/>
          <p:cNvSpPr/>
          <p:nvPr/>
        </p:nvSpPr>
        <p:spPr>
          <a:xfrm>
            <a:off x="1143000" y="2895600"/>
            <a:ext cx="5130900" cy="64008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5"/>
          <p:cNvSpPr/>
          <p:nvPr/>
        </p:nvSpPr>
        <p:spPr>
          <a:xfrm>
            <a:off x="1504950" y="3257550"/>
            <a:ext cx="609600" cy="609600"/>
          </a:xfrm>
          <a:prstGeom prst="ellipse">
            <a:avLst/>
          </a:prstGeom>
          <a:solidFill>
            <a:srgbClr val="9EC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5"/>
          <p:cNvSpPr/>
          <p:nvPr/>
        </p:nvSpPr>
        <p:spPr>
          <a:xfrm>
            <a:off x="1466850" y="3257550"/>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84594"/>
              </a:buClr>
              <a:buSzPts val="1650"/>
              <a:buFont typeface="Poppins"/>
              <a:buNone/>
            </a:pPr>
            <a:r>
              <a:rPr b="1" i="0" lang="en-US" sz="1650" u="none" cap="none" strike="noStrike">
                <a:solidFill>
                  <a:srgbClr val="084594"/>
                </a:solidFill>
                <a:latin typeface="Poppins"/>
                <a:ea typeface="Poppins"/>
                <a:cs typeface="Poppins"/>
                <a:sym typeface="Poppins"/>
              </a:rPr>
              <a:t>01</a:t>
            </a:r>
            <a:endParaRPr b="0" i="0" sz="1650" u="none" cap="none" strike="noStrike">
              <a:solidFill>
                <a:schemeClr val="dk1"/>
              </a:solidFill>
              <a:latin typeface="Calibri"/>
              <a:ea typeface="Calibri"/>
              <a:cs typeface="Calibri"/>
              <a:sym typeface="Calibri"/>
            </a:endParaRPr>
          </a:p>
        </p:txBody>
      </p:sp>
      <p:sp>
        <p:nvSpPr>
          <p:cNvPr id="969" name="Google Shape;969;p25"/>
          <p:cNvSpPr/>
          <p:nvPr/>
        </p:nvSpPr>
        <p:spPr>
          <a:xfrm>
            <a:off x="1504950" y="4038600"/>
            <a:ext cx="4210200" cy="837300"/>
          </a:xfrm>
          <a:prstGeom prst="rect">
            <a:avLst/>
          </a:prstGeom>
          <a:noFill/>
          <a:ln>
            <a:noFill/>
          </a:ln>
        </p:spPr>
        <p:txBody>
          <a:bodyPr anchorCtr="0" anchor="t" bIns="25400" lIns="25400" spcFirstLastPara="1" rIns="25400" wrap="square" tIns="25400">
            <a:noAutofit/>
          </a:bodyPr>
          <a:lstStyle/>
          <a:p>
            <a:pPr indent="0" lvl="0" marL="0" marR="0" rtl="0" algn="l">
              <a:lnSpc>
                <a:spcPct val="87941"/>
              </a:lnSpc>
              <a:spcBef>
                <a:spcPts val="0"/>
              </a:spcBef>
              <a:spcAft>
                <a:spcPts val="0"/>
              </a:spcAft>
              <a:buClr>
                <a:srgbClr val="084594"/>
              </a:buClr>
              <a:buSzPts val="1725"/>
              <a:buFont typeface="Poppins"/>
              <a:buNone/>
            </a:pPr>
            <a:r>
              <a:rPr b="1" i="0" lang="en-US" sz="2425" u="none" cap="none" strike="noStrike">
                <a:solidFill>
                  <a:srgbClr val="084594"/>
                </a:solidFill>
                <a:latin typeface="Poppins"/>
                <a:ea typeface="Poppins"/>
                <a:cs typeface="Poppins"/>
                <a:sym typeface="Poppins"/>
              </a:rPr>
              <a:t>Operational definitions come first</a:t>
            </a:r>
            <a:endParaRPr b="0" i="0" sz="2425" u="none" cap="none" strike="noStrike">
              <a:solidFill>
                <a:schemeClr val="dk1"/>
              </a:solidFill>
              <a:latin typeface="Calibri"/>
              <a:ea typeface="Calibri"/>
              <a:cs typeface="Calibri"/>
              <a:sym typeface="Calibri"/>
            </a:endParaRPr>
          </a:p>
        </p:txBody>
      </p:sp>
      <p:sp>
        <p:nvSpPr>
          <p:cNvPr id="970" name="Google Shape;970;p25"/>
          <p:cNvSpPr/>
          <p:nvPr/>
        </p:nvSpPr>
        <p:spPr>
          <a:xfrm>
            <a:off x="1504950" y="5123086"/>
            <a:ext cx="4539000" cy="1507500"/>
          </a:xfrm>
          <a:prstGeom prst="rect">
            <a:avLst/>
          </a:prstGeom>
          <a:noFill/>
          <a:ln>
            <a:noFill/>
          </a:ln>
        </p:spPr>
        <p:txBody>
          <a:bodyPr anchorCtr="0" anchor="t" bIns="25400" lIns="25400" spcFirstLastPara="1" rIns="25400" wrap="square" tIns="25400">
            <a:noAutofit/>
          </a:bodyPr>
          <a:lstStyle/>
          <a:p>
            <a:pPr indent="0" lvl="0" marL="0" marR="0" rtl="0" algn="l">
              <a:lnSpc>
                <a:spcPct val="122143"/>
              </a:lnSpc>
              <a:spcBef>
                <a:spcPts val="0"/>
              </a:spcBef>
              <a:spcAft>
                <a:spcPts val="0"/>
              </a:spcAft>
              <a:buClr>
                <a:srgbClr val="16324A"/>
              </a:buClr>
              <a:buSzPts val="1425"/>
              <a:buFont typeface="Inter"/>
              <a:buNone/>
            </a:pPr>
            <a:r>
              <a:rPr b="0" i="0" lang="en-US" sz="2125" u="none" cap="none" strike="noStrike">
                <a:solidFill>
                  <a:srgbClr val="16324A"/>
                </a:solidFill>
                <a:latin typeface="Inter"/>
                <a:ea typeface="Inter"/>
                <a:cs typeface="Inter"/>
                <a:sym typeface="Inter"/>
              </a:rPr>
              <a:t>Risk, repair, and regenerate must be labelable before an action-risk model can learn them.</a:t>
            </a:r>
            <a:endParaRPr b="0" i="0" sz="2125" u="none" cap="none" strike="noStrike">
              <a:solidFill>
                <a:schemeClr val="dk1"/>
              </a:solidFill>
              <a:latin typeface="Calibri"/>
              <a:ea typeface="Calibri"/>
              <a:cs typeface="Calibri"/>
              <a:sym typeface="Calibri"/>
            </a:endParaRPr>
          </a:p>
        </p:txBody>
      </p:sp>
      <p:sp>
        <p:nvSpPr>
          <p:cNvPr id="971" name="Google Shape;971;p25"/>
          <p:cNvSpPr/>
          <p:nvPr/>
        </p:nvSpPr>
        <p:spPr>
          <a:xfrm>
            <a:off x="1504950" y="6976027"/>
            <a:ext cx="4847700" cy="65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CHALLENGE</a:t>
            </a:r>
            <a:endParaRPr b="0" i="0" sz="1825" u="none" cap="none" strike="noStrike">
              <a:solidFill>
                <a:schemeClr val="dk1"/>
              </a:solidFill>
              <a:latin typeface="Calibri"/>
              <a:ea typeface="Calibri"/>
              <a:cs typeface="Calibri"/>
              <a:sym typeface="Calibri"/>
            </a:endParaRPr>
          </a:p>
        </p:txBody>
      </p:sp>
      <p:sp>
        <p:nvSpPr>
          <p:cNvPr id="972" name="Google Shape;972;p25"/>
          <p:cNvSpPr/>
          <p:nvPr/>
        </p:nvSpPr>
        <p:spPr>
          <a:xfrm>
            <a:off x="1504950" y="7634850"/>
            <a:ext cx="4847700" cy="6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350"/>
              <a:buFont typeface="Inter"/>
              <a:buNone/>
            </a:pPr>
            <a:r>
              <a:rPr b="0" i="0" lang="en-US" sz="2050" u="none" cap="none" strike="noStrike">
                <a:solidFill>
                  <a:srgbClr val="4A6785"/>
                </a:solidFill>
                <a:latin typeface="Inter"/>
                <a:ea typeface="Inter"/>
                <a:cs typeface="Inter"/>
                <a:sym typeface="Inter"/>
              </a:rPr>
              <a:t>Validator correctness and leakage control</a:t>
            </a:r>
            <a:endParaRPr b="0" i="0" sz="2050" u="none" cap="none" strike="noStrike">
              <a:solidFill>
                <a:schemeClr val="dk1"/>
              </a:solidFill>
              <a:latin typeface="Calibri"/>
              <a:ea typeface="Calibri"/>
              <a:cs typeface="Calibri"/>
              <a:sym typeface="Calibri"/>
            </a:endParaRPr>
          </a:p>
        </p:txBody>
      </p:sp>
      <p:sp>
        <p:nvSpPr>
          <p:cNvPr id="973" name="Google Shape;973;p25"/>
          <p:cNvSpPr/>
          <p:nvPr/>
        </p:nvSpPr>
        <p:spPr>
          <a:xfrm>
            <a:off x="6578600" y="2895600"/>
            <a:ext cx="5130900" cy="64008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5"/>
          <p:cNvSpPr/>
          <p:nvPr/>
        </p:nvSpPr>
        <p:spPr>
          <a:xfrm>
            <a:off x="6940550" y="3257550"/>
            <a:ext cx="609600" cy="609600"/>
          </a:xfrm>
          <a:prstGeom prst="ellipse">
            <a:avLst/>
          </a:prstGeom>
          <a:solidFill>
            <a:srgbClr val="6BAE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5"/>
          <p:cNvSpPr/>
          <p:nvPr/>
        </p:nvSpPr>
        <p:spPr>
          <a:xfrm>
            <a:off x="6902450" y="3257550"/>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650"/>
              <a:buFont typeface="Poppins"/>
              <a:buNone/>
            </a:pPr>
            <a:r>
              <a:rPr b="1" i="0" lang="en-US" sz="1650" u="none" cap="none" strike="noStrike">
                <a:solidFill>
                  <a:srgbClr val="FFFFFF"/>
                </a:solidFill>
                <a:latin typeface="Poppins"/>
                <a:ea typeface="Poppins"/>
                <a:cs typeface="Poppins"/>
                <a:sym typeface="Poppins"/>
              </a:rPr>
              <a:t>02</a:t>
            </a:r>
            <a:endParaRPr b="0" i="0" sz="1650" u="none" cap="none" strike="noStrike">
              <a:solidFill>
                <a:schemeClr val="dk1"/>
              </a:solidFill>
              <a:latin typeface="Calibri"/>
              <a:ea typeface="Calibri"/>
              <a:cs typeface="Calibri"/>
              <a:sym typeface="Calibri"/>
            </a:endParaRPr>
          </a:p>
        </p:txBody>
      </p:sp>
      <p:sp>
        <p:nvSpPr>
          <p:cNvPr id="976" name="Google Shape;976;p25"/>
          <p:cNvSpPr/>
          <p:nvPr/>
        </p:nvSpPr>
        <p:spPr>
          <a:xfrm>
            <a:off x="6940550" y="4038600"/>
            <a:ext cx="4210200" cy="837300"/>
          </a:xfrm>
          <a:prstGeom prst="rect">
            <a:avLst/>
          </a:prstGeom>
          <a:noFill/>
          <a:ln>
            <a:noFill/>
          </a:ln>
        </p:spPr>
        <p:txBody>
          <a:bodyPr anchorCtr="0" anchor="t" bIns="25400" lIns="25400" spcFirstLastPara="1" rIns="25400" wrap="square" tIns="25400">
            <a:noAutofit/>
          </a:bodyPr>
          <a:lstStyle/>
          <a:p>
            <a:pPr indent="0" lvl="0" marL="0" marR="0" rtl="0" algn="l">
              <a:lnSpc>
                <a:spcPct val="87941"/>
              </a:lnSpc>
              <a:spcBef>
                <a:spcPts val="0"/>
              </a:spcBef>
              <a:spcAft>
                <a:spcPts val="0"/>
              </a:spcAft>
              <a:buClr>
                <a:srgbClr val="084594"/>
              </a:buClr>
              <a:buSzPts val="1725"/>
              <a:buFont typeface="Poppins"/>
              <a:buNone/>
            </a:pPr>
            <a:r>
              <a:rPr b="1" i="0" lang="en-US" sz="2425" u="none" cap="none" strike="noStrike">
                <a:solidFill>
                  <a:srgbClr val="084594"/>
                </a:solidFill>
                <a:latin typeface="Poppins"/>
                <a:ea typeface="Poppins"/>
                <a:cs typeface="Poppins"/>
                <a:sym typeface="Poppins"/>
              </a:rPr>
              <a:t>Collect every action outcome</a:t>
            </a:r>
            <a:endParaRPr b="0" i="0" sz="2425" u="none" cap="none" strike="noStrike">
              <a:solidFill>
                <a:schemeClr val="dk1"/>
              </a:solidFill>
              <a:latin typeface="Calibri"/>
              <a:ea typeface="Calibri"/>
              <a:cs typeface="Calibri"/>
              <a:sym typeface="Calibri"/>
            </a:endParaRPr>
          </a:p>
        </p:txBody>
      </p:sp>
      <p:sp>
        <p:nvSpPr>
          <p:cNvPr id="977" name="Google Shape;977;p25"/>
          <p:cNvSpPr/>
          <p:nvPr/>
        </p:nvSpPr>
        <p:spPr>
          <a:xfrm>
            <a:off x="6940550" y="5123086"/>
            <a:ext cx="4539000" cy="1507500"/>
          </a:xfrm>
          <a:prstGeom prst="rect">
            <a:avLst/>
          </a:prstGeom>
          <a:noFill/>
          <a:ln>
            <a:noFill/>
          </a:ln>
        </p:spPr>
        <p:txBody>
          <a:bodyPr anchorCtr="0" anchor="t" bIns="25400" lIns="25400" spcFirstLastPara="1" rIns="25400" wrap="square" tIns="25400">
            <a:noAutofit/>
          </a:bodyPr>
          <a:lstStyle/>
          <a:p>
            <a:pPr indent="0" lvl="0" marL="0" marR="0" rtl="0" algn="l">
              <a:lnSpc>
                <a:spcPct val="122143"/>
              </a:lnSpc>
              <a:spcBef>
                <a:spcPts val="0"/>
              </a:spcBef>
              <a:spcAft>
                <a:spcPts val="0"/>
              </a:spcAft>
              <a:buClr>
                <a:srgbClr val="16324A"/>
              </a:buClr>
              <a:buSzPts val="1425"/>
              <a:buFont typeface="Inter"/>
              <a:buNone/>
            </a:pPr>
            <a:r>
              <a:rPr b="0" i="0" lang="en-US" sz="2125" u="none" cap="none" strike="noStrike">
                <a:solidFill>
                  <a:srgbClr val="16324A"/>
                </a:solidFill>
                <a:latin typeface="Inter"/>
                <a:ea typeface="Inter"/>
                <a:cs typeface="Inter"/>
                <a:sym typeface="Inter"/>
              </a:rPr>
              <a:t>The router needs observed ACCEPT, REPAIR, and REGENERATE outcomes for the same task.</a:t>
            </a:r>
            <a:endParaRPr b="0" i="0" sz="2125" u="none" cap="none" strike="noStrike">
              <a:solidFill>
                <a:schemeClr val="dk1"/>
              </a:solidFill>
              <a:latin typeface="Calibri"/>
              <a:ea typeface="Calibri"/>
              <a:cs typeface="Calibri"/>
              <a:sym typeface="Calibri"/>
            </a:endParaRPr>
          </a:p>
        </p:txBody>
      </p:sp>
      <p:sp>
        <p:nvSpPr>
          <p:cNvPr id="978" name="Google Shape;978;p25"/>
          <p:cNvSpPr/>
          <p:nvPr/>
        </p:nvSpPr>
        <p:spPr>
          <a:xfrm>
            <a:off x="6940550" y="6976027"/>
            <a:ext cx="4847700" cy="65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CHALLENGE</a:t>
            </a:r>
            <a:endParaRPr b="0" i="0" sz="1825" u="none" cap="none" strike="noStrike">
              <a:solidFill>
                <a:schemeClr val="dk1"/>
              </a:solidFill>
              <a:latin typeface="Calibri"/>
              <a:ea typeface="Calibri"/>
              <a:cs typeface="Calibri"/>
              <a:sym typeface="Calibri"/>
            </a:endParaRPr>
          </a:p>
        </p:txBody>
      </p:sp>
      <p:sp>
        <p:nvSpPr>
          <p:cNvPr id="979" name="Google Shape;979;p25"/>
          <p:cNvSpPr/>
          <p:nvPr/>
        </p:nvSpPr>
        <p:spPr>
          <a:xfrm>
            <a:off x="6940550" y="7634850"/>
            <a:ext cx="4847700" cy="6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350"/>
              <a:buFont typeface="Inter"/>
              <a:buNone/>
            </a:pPr>
            <a:r>
              <a:rPr b="0" i="0" lang="en-US" sz="2050" u="none" cap="none" strike="noStrike">
                <a:solidFill>
                  <a:srgbClr val="4A6785"/>
                </a:solidFill>
                <a:latin typeface="Inter"/>
                <a:ea typeface="Inter"/>
                <a:cs typeface="Inter"/>
                <a:sym typeface="Inter"/>
              </a:rPr>
              <a:t>API/compute cost and class imbalance</a:t>
            </a:r>
            <a:endParaRPr b="0" i="0" sz="2050" u="none" cap="none" strike="noStrike">
              <a:solidFill>
                <a:schemeClr val="dk1"/>
              </a:solidFill>
              <a:latin typeface="Calibri"/>
              <a:ea typeface="Calibri"/>
              <a:cs typeface="Calibri"/>
              <a:sym typeface="Calibri"/>
            </a:endParaRPr>
          </a:p>
        </p:txBody>
      </p:sp>
      <p:sp>
        <p:nvSpPr>
          <p:cNvPr id="980" name="Google Shape;980;p25"/>
          <p:cNvSpPr/>
          <p:nvPr/>
        </p:nvSpPr>
        <p:spPr>
          <a:xfrm>
            <a:off x="12014200" y="2895600"/>
            <a:ext cx="5130900" cy="6400800"/>
          </a:xfrm>
          <a:prstGeom prst="roundRect">
            <a:avLst>
              <a:gd fmla="val 4455" name="adj"/>
            </a:avLst>
          </a:prstGeom>
          <a:solidFill>
            <a:srgbClr val="F7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5"/>
          <p:cNvSpPr/>
          <p:nvPr/>
        </p:nvSpPr>
        <p:spPr>
          <a:xfrm>
            <a:off x="12376150" y="3257550"/>
            <a:ext cx="609600" cy="609600"/>
          </a:xfrm>
          <a:prstGeom prst="ellipse">
            <a:avLst/>
          </a:prstGeom>
          <a:solidFill>
            <a:srgbClr val="2171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p:nvPr/>
        </p:nvSpPr>
        <p:spPr>
          <a:xfrm>
            <a:off x="12338050" y="3257550"/>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650"/>
              <a:buFont typeface="Poppins"/>
              <a:buNone/>
            </a:pPr>
            <a:r>
              <a:rPr b="1" i="0" lang="en-US" sz="1650" u="none" cap="none" strike="noStrike">
                <a:solidFill>
                  <a:srgbClr val="FFFFFF"/>
                </a:solidFill>
                <a:latin typeface="Poppins"/>
                <a:ea typeface="Poppins"/>
                <a:cs typeface="Poppins"/>
                <a:sym typeface="Poppins"/>
              </a:rPr>
              <a:t>03</a:t>
            </a:r>
            <a:endParaRPr b="0" i="0" sz="1650" u="none" cap="none" strike="noStrike">
              <a:solidFill>
                <a:schemeClr val="dk1"/>
              </a:solidFill>
              <a:latin typeface="Calibri"/>
              <a:ea typeface="Calibri"/>
              <a:cs typeface="Calibri"/>
              <a:sym typeface="Calibri"/>
            </a:endParaRPr>
          </a:p>
        </p:txBody>
      </p:sp>
      <p:sp>
        <p:nvSpPr>
          <p:cNvPr id="983" name="Google Shape;983;p25"/>
          <p:cNvSpPr/>
          <p:nvPr/>
        </p:nvSpPr>
        <p:spPr>
          <a:xfrm>
            <a:off x="12376150" y="4038600"/>
            <a:ext cx="4210200" cy="837300"/>
          </a:xfrm>
          <a:prstGeom prst="rect">
            <a:avLst/>
          </a:prstGeom>
          <a:noFill/>
          <a:ln>
            <a:noFill/>
          </a:ln>
        </p:spPr>
        <p:txBody>
          <a:bodyPr anchorCtr="0" anchor="t" bIns="25400" lIns="25400" spcFirstLastPara="1" rIns="25400" wrap="square" tIns="25400">
            <a:noAutofit/>
          </a:bodyPr>
          <a:lstStyle/>
          <a:p>
            <a:pPr indent="0" lvl="0" marL="0" marR="0" rtl="0" algn="l">
              <a:lnSpc>
                <a:spcPct val="87941"/>
              </a:lnSpc>
              <a:spcBef>
                <a:spcPts val="0"/>
              </a:spcBef>
              <a:spcAft>
                <a:spcPts val="0"/>
              </a:spcAft>
              <a:buClr>
                <a:srgbClr val="084594"/>
              </a:buClr>
              <a:buSzPts val="1725"/>
              <a:buFont typeface="Poppins"/>
              <a:buNone/>
            </a:pPr>
            <a:r>
              <a:rPr b="1" i="0" lang="en-US" sz="2425" u="none" cap="none" strike="noStrike">
                <a:solidFill>
                  <a:srgbClr val="084594"/>
                </a:solidFill>
                <a:latin typeface="Poppins"/>
                <a:ea typeface="Poppins"/>
                <a:cs typeface="Poppins"/>
                <a:sym typeface="Poppins"/>
              </a:rPr>
              <a:t>Calibration needs strong baselines</a:t>
            </a:r>
            <a:endParaRPr b="0" i="0" sz="2425" u="none" cap="none" strike="noStrike">
              <a:solidFill>
                <a:schemeClr val="dk1"/>
              </a:solidFill>
              <a:latin typeface="Calibri"/>
              <a:ea typeface="Calibri"/>
              <a:cs typeface="Calibri"/>
              <a:sym typeface="Calibri"/>
            </a:endParaRPr>
          </a:p>
        </p:txBody>
      </p:sp>
      <p:sp>
        <p:nvSpPr>
          <p:cNvPr id="984" name="Google Shape;984;p25"/>
          <p:cNvSpPr/>
          <p:nvPr/>
        </p:nvSpPr>
        <p:spPr>
          <a:xfrm>
            <a:off x="12376150" y="5123086"/>
            <a:ext cx="4539000" cy="1507500"/>
          </a:xfrm>
          <a:prstGeom prst="rect">
            <a:avLst/>
          </a:prstGeom>
          <a:noFill/>
          <a:ln>
            <a:noFill/>
          </a:ln>
        </p:spPr>
        <p:txBody>
          <a:bodyPr anchorCtr="0" anchor="t" bIns="25400" lIns="25400" spcFirstLastPara="1" rIns="25400" wrap="square" tIns="25400">
            <a:noAutofit/>
          </a:bodyPr>
          <a:lstStyle/>
          <a:p>
            <a:pPr indent="0" lvl="0" marL="0" marR="0" rtl="0" algn="l">
              <a:lnSpc>
                <a:spcPct val="122143"/>
              </a:lnSpc>
              <a:spcBef>
                <a:spcPts val="0"/>
              </a:spcBef>
              <a:spcAft>
                <a:spcPts val="0"/>
              </a:spcAft>
              <a:buClr>
                <a:srgbClr val="16324A"/>
              </a:buClr>
              <a:buSzPts val="1425"/>
              <a:buFont typeface="Inter"/>
              <a:buNone/>
            </a:pPr>
            <a:r>
              <a:rPr b="0" i="0" lang="en-US" sz="2125" u="none" cap="none" strike="noStrike">
                <a:solidFill>
                  <a:srgbClr val="16324A"/>
                </a:solidFill>
                <a:latin typeface="Inter"/>
                <a:ea typeface="Inter"/>
                <a:cs typeface="Inter"/>
                <a:sym typeface="Inter"/>
              </a:rPr>
              <a:t>A neural model matters only if it improves on logistic regression, XGBoost, and fixed policies.</a:t>
            </a:r>
            <a:endParaRPr b="0" i="0" sz="2125" u="none" cap="none" strike="noStrike">
              <a:solidFill>
                <a:schemeClr val="dk1"/>
              </a:solidFill>
              <a:latin typeface="Calibri"/>
              <a:ea typeface="Calibri"/>
              <a:cs typeface="Calibri"/>
              <a:sym typeface="Calibri"/>
            </a:endParaRPr>
          </a:p>
        </p:txBody>
      </p:sp>
      <p:sp>
        <p:nvSpPr>
          <p:cNvPr id="985" name="Google Shape;985;p25"/>
          <p:cNvSpPr/>
          <p:nvPr/>
        </p:nvSpPr>
        <p:spPr>
          <a:xfrm>
            <a:off x="12376150" y="6976027"/>
            <a:ext cx="4847700" cy="65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171B5"/>
              </a:buClr>
              <a:buSzPts val="1125"/>
              <a:buFont typeface="Poppins"/>
              <a:buNone/>
            </a:pPr>
            <a:r>
              <a:rPr b="1" i="0" lang="en-US" sz="1825" u="none" cap="none" strike="noStrike">
                <a:solidFill>
                  <a:srgbClr val="2171B5"/>
                </a:solidFill>
                <a:latin typeface="Poppins"/>
                <a:ea typeface="Poppins"/>
                <a:cs typeface="Poppins"/>
                <a:sym typeface="Poppins"/>
              </a:rPr>
              <a:t>CHALLENGE</a:t>
            </a:r>
            <a:endParaRPr b="0" i="0" sz="1825" u="none" cap="none" strike="noStrike">
              <a:solidFill>
                <a:schemeClr val="dk1"/>
              </a:solidFill>
              <a:latin typeface="Calibri"/>
              <a:ea typeface="Calibri"/>
              <a:cs typeface="Calibri"/>
              <a:sym typeface="Calibri"/>
            </a:endParaRPr>
          </a:p>
        </p:txBody>
      </p:sp>
      <p:sp>
        <p:nvSpPr>
          <p:cNvPr id="986" name="Google Shape;986;p25"/>
          <p:cNvSpPr/>
          <p:nvPr/>
        </p:nvSpPr>
        <p:spPr>
          <a:xfrm>
            <a:off x="12376150" y="7634850"/>
            <a:ext cx="4847700" cy="6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350"/>
              <a:buFont typeface="Inter"/>
              <a:buNone/>
            </a:pPr>
            <a:r>
              <a:rPr b="0" i="0" lang="en-US" sz="2050" u="none" cap="none" strike="noStrike">
                <a:solidFill>
                  <a:srgbClr val="4A6785"/>
                </a:solidFill>
                <a:latin typeface="Inter"/>
                <a:ea typeface="Inter"/>
                <a:cs typeface="Inter"/>
                <a:sym typeface="Inter"/>
              </a:rPr>
              <a:t>Distribution shift across tasks and SLM families</a:t>
            </a:r>
            <a:endParaRPr b="0" i="0" sz="2050" u="none" cap="none" strike="noStrike">
              <a:solidFill>
                <a:schemeClr val="dk1"/>
              </a:solidFill>
              <a:latin typeface="Calibri"/>
              <a:ea typeface="Calibri"/>
              <a:cs typeface="Calibri"/>
              <a:sym typeface="Calibri"/>
            </a:endParaRPr>
          </a:p>
        </p:txBody>
      </p:sp>
      <p:sp>
        <p:nvSpPr>
          <p:cNvPr id="987" name="Google Shape;987;p25"/>
          <p:cNvSpPr/>
          <p:nvPr/>
        </p:nvSpPr>
        <p:spPr>
          <a:xfrm>
            <a:off x="1143000" y="9525000"/>
            <a:ext cx="17602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A6785"/>
              </a:buClr>
              <a:buSzPts val="1500"/>
              <a:buFont typeface="Inter"/>
              <a:buNone/>
            </a:pPr>
            <a:r>
              <a:rPr b="0" i="0" lang="en-US" sz="1500" u="none" cap="none" strike="noStrike">
                <a:solidFill>
                  <a:srgbClr val="4A6785"/>
                </a:solidFill>
                <a:latin typeface="Inter"/>
                <a:ea typeface="Inter"/>
                <a:cs typeface="Inter"/>
                <a:sym typeface="Inter"/>
              </a:rPr>
              <a:t>Sources: Olausson et al. (ICLR 2024) • Arimbur (2026, preprint) • Dou et al. (2026, preprint)</a:t>
            </a:r>
            <a:endParaRPr b="0" i="0" sz="1500" u="none" cap="none" strike="noStrike">
              <a:solidFill>
                <a:schemeClr val="dk1"/>
              </a:solidFill>
              <a:latin typeface="Calibri"/>
              <a:ea typeface="Calibri"/>
              <a:cs typeface="Calibri"/>
              <a:sym typeface="Calibri"/>
            </a:endParaRPr>
          </a:p>
        </p:txBody>
      </p:sp>
      <p:pic>
        <p:nvPicPr>
          <p:cNvPr id="988" name="Google Shape;988;p25"/>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4594"/>
        </a:solidFill>
      </p:bgPr>
    </p:bg>
    <p:spTree>
      <p:nvGrpSpPr>
        <p:cNvPr id="993" name="Shape 993"/>
        <p:cNvGrpSpPr/>
        <p:nvPr/>
      </p:nvGrpSpPr>
      <p:grpSpPr>
        <a:xfrm>
          <a:off x="0" y="0"/>
          <a:ext cx="0" cy="0"/>
          <a:chOff x="0" y="0"/>
          <a:chExt cx="0" cy="0"/>
        </a:xfrm>
      </p:grpSpPr>
      <p:pic>
        <p:nvPicPr>
          <p:cNvPr descr="preencoded.png" id="994" name="Google Shape;994;p26"/>
          <p:cNvPicPr preferRelativeResize="0"/>
          <p:nvPr/>
        </p:nvPicPr>
        <p:blipFill rotWithShape="1">
          <a:blip r:embed="rId3">
            <a:alphaModFix amt="25000"/>
          </a:blip>
          <a:srcRect b="0" l="0" r="0" t="0"/>
          <a:stretch/>
        </p:blipFill>
        <p:spPr>
          <a:xfrm>
            <a:off x="-1524000" y="-1524000"/>
            <a:ext cx="4953000" cy="4953000"/>
          </a:xfrm>
          <a:prstGeom prst="rect">
            <a:avLst/>
          </a:prstGeom>
          <a:noFill/>
          <a:ln>
            <a:noFill/>
          </a:ln>
        </p:spPr>
      </p:pic>
      <p:sp>
        <p:nvSpPr>
          <p:cNvPr id="995" name="Google Shape;995;p26"/>
          <p:cNvSpPr/>
          <p:nvPr/>
        </p:nvSpPr>
        <p:spPr>
          <a:xfrm>
            <a:off x="1238250" y="1301750"/>
            <a:ext cx="14716200" cy="1473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750"/>
              <a:buFont typeface="Poppins"/>
              <a:buNone/>
            </a:pPr>
            <a:r>
              <a:rPr b="1" i="0" lang="en-US" sz="3750" u="none" cap="none" strike="noStrike">
                <a:solidFill>
                  <a:srgbClr val="FFFFFF"/>
                </a:solidFill>
                <a:latin typeface="Poppins"/>
                <a:ea typeface="Poppins"/>
                <a:cs typeface="Poppins"/>
                <a:sym typeface="Poppins"/>
              </a:rPr>
              <a:t>TRACER </a:t>
            </a:r>
            <a:r>
              <a:rPr b="1" lang="en-US" sz="3750">
                <a:solidFill>
                  <a:srgbClr val="FFFFFF"/>
                </a:solidFill>
                <a:latin typeface="Poppins"/>
                <a:ea typeface="Poppins"/>
                <a:cs typeface="Poppins"/>
                <a:sym typeface="Poppins"/>
              </a:rPr>
              <a:t>t</a:t>
            </a:r>
            <a:r>
              <a:rPr b="1" i="0" lang="en-US" sz="3750" u="none" cap="none" strike="noStrike">
                <a:solidFill>
                  <a:srgbClr val="FFFFFF"/>
                </a:solidFill>
                <a:latin typeface="Poppins"/>
                <a:ea typeface="Poppins"/>
                <a:cs typeface="Poppins"/>
                <a:sym typeface="Poppins"/>
              </a:rPr>
              <a:t>urns </a:t>
            </a:r>
            <a:r>
              <a:rPr b="1" lang="en-US" sz="3750">
                <a:solidFill>
                  <a:srgbClr val="FFFFFF"/>
                </a:solidFill>
                <a:latin typeface="Poppins"/>
                <a:ea typeface="Poppins"/>
                <a:cs typeface="Poppins"/>
                <a:sym typeface="Poppins"/>
              </a:rPr>
              <a:t>r</a:t>
            </a:r>
            <a:r>
              <a:rPr b="1" i="0" lang="en-US" sz="3750" u="none" cap="none" strike="noStrike">
                <a:solidFill>
                  <a:srgbClr val="FFFFFF"/>
                </a:solidFill>
                <a:latin typeface="Poppins"/>
                <a:ea typeface="Poppins"/>
                <a:cs typeface="Poppins"/>
                <a:sym typeface="Poppins"/>
              </a:rPr>
              <a:t>esponse </a:t>
            </a:r>
            <a:r>
              <a:rPr b="1" lang="en-US" sz="3750">
                <a:solidFill>
                  <a:srgbClr val="FFFFFF"/>
                </a:solidFill>
                <a:latin typeface="Poppins"/>
                <a:ea typeface="Poppins"/>
                <a:cs typeface="Poppins"/>
                <a:sym typeface="Poppins"/>
              </a:rPr>
              <a:t>h</a:t>
            </a:r>
            <a:r>
              <a:rPr b="1" i="0" lang="en-US" sz="3750" u="none" cap="none" strike="noStrike">
                <a:solidFill>
                  <a:srgbClr val="FFFFFF"/>
                </a:solidFill>
                <a:latin typeface="Poppins"/>
                <a:ea typeface="Poppins"/>
                <a:cs typeface="Poppins"/>
                <a:sym typeface="Poppins"/>
              </a:rPr>
              <a:t>andling into a </a:t>
            </a:r>
            <a:r>
              <a:rPr b="1" lang="en-US" sz="3750">
                <a:solidFill>
                  <a:srgbClr val="FFFFFF"/>
                </a:solidFill>
                <a:latin typeface="Poppins"/>
                <a:ea typeface="Poppins"/>
                <a:cs typeface="Poppins"/>
                <a:sym typeface="Poppins"/>
              </a:rPr>
              <a:t>c</a:t>
            </a:r>
            <a:r>
              <a:rPr b="1" i="0" lang="en-US" sz="3750" u="none" cap="none" strike="noStrike">
                <a:solidFill>
                  <a:srgbClr val="FFFFFF"/>
                </a:solidFill>
                <a:latin typeface="Poppins"/>
                <a:ea typeface="Poppins"/>
                <a:cs typeface="Poppins"/>
                <a:sym typeface="Poppins"/>
              </a:rPr>
              <a:t>alibrated </a:t>
            </a:r>
            <a:r>
              <a:rPr b="1" lang="en-US" sz="3750">
                <a:solidFill>
                  <a:srgbClr val="FFFFFF"/>
                </a:solidFill>
                <a:latin typeface="Poppins"/>
                <a:ea typeface="Poppins"/>
                <a:cs typeface="Poppins"/>
                <a:sym typeface="Poppins"/>
              </a:rPr>
              <a:t>r</a:t>
            </a:r>
            <a:r>
              <a:rPr b="1" i="0" lang="en-US" sz="3750" u="none" cap="none" strike="noStrike">
                <a:solidFill>
                  <a:srgbClr val="FFFFFF"/>
                </a:solidFill>
                <a:latin typeface="Poppins"/>
                <a:ea typeface="Poppins"/>
                <a:cs typeface="Poppins"/>
                <a:sym typeface="Poppins"/>
              </a:rPr>
              <a:t>isk </a:t>
            </a:r>
            <a:r>
              <a:rPr b="1" lang="en-US" sz="3750">
                <a:solidFill>
                  <a:srgbClr val="FFFFFF"/>
                </a:solidFill>
                <a:latin typeface="Poppins"/>
                <a:ea typeface="Poppins"/>
                <a:cs typeface="Poppins"/>
                <a:sym typeface="Poppins"/>
              </a:rPr>
              <a:t>p</a:t>
            </a:r>
            <a:r>
              <a:rPr b="1" i="0" lang="en-US" sz="3750" u="none" cap="none" strike="noStrike">
                <a:solidFill>
                  <a:srgbClr val="FFFFFF"/>
                </a:solidFill>
                <a:latin typeface="Poppins"/>
                <a:ea typeface="Poppins"/>
                <a:cs typeface="Poppins"/>
                <a:sym typeface="Poppins"/>
              </a:rPr>
              <a:t>roblem.</a:t>
            </a:r>
            <a:endParaRPr b="0" i="0" sz="3750" u="none" cap="none" strike="noStrike">
              <a:solidFill>
                <a:schemeClr val="dk1"/>
              </a:solidFill>
              <a:latin typeface="Calibri"/>
              <a:ea typeface="Calibri"/>
              <a:cs typeface="Calibri"/>
              <a:sym typeface="Calibri"/>
            </a:endParaRPr>
          </a:p>
        </p:txBody>
      </p:sp>
      <p:sp>
        <p:nvSpPr>
          <p:cNvPr id="996" name="Google Shape;996;p26"/>
          <p:cNvSpPr/>
          <p:nvPr/>
        </p:nvSpPr>
        <p:spPr>
          <a:xfrm>
            <a:off x="1247363" y="3747909"/>
            <a:ext cx="2074500" cy="643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350"/>
              <a:buFont typeface="Poppins"/>
              <a:buNone/>
            </a:pPr>
            <a:r>
              <a:rPr b="1" i="0" lang="en-US" sz="2050" u="none" cap="none" strike="noStrike">
                <a:solidFill>
                  <a:srgbClr val="9ECAE1"/>
                </a:solidFill>
                <a:latin typeface="Poppins"/>
                <a:ea typeface="Poppins"/>
                <a:cs typeface="Poppins"/>
                <a:sym typeface="Poppins"/>
              </a:rPr>
              <a:t>RESEARCH GAP</a:t>
            </a:r>
            <a:endParaRPr b="0" i="0" sz="2050" u="none" cap="none" strike="noStrike">
              <a:solidFill>
                <a:schemeClr val="dk1"/>
              </a:solidFill>
              <a:latin typeface="Calibri"/>
              <a:ea typeface="Calibri"/>
              <a:cs typeface="Calibri"/>
              <a:sym typeface="Calibri"/>
            </a:endParaRPr>
          </a:p>
        </p:txBody>
      </p:sp>
      <p:sp>
        <p:nvSpPr>
          <p:cNvPr id="997" name="Google Shape;997;p26"/>
          <p:cNvSpPr/>
          <p:nvPr/>
        </p:nvSpPr>
        <p:spPr>
          <a:xfrm>
            <a:off x="3639086" y="3747909"/>
            <a:ext cx="13673700" cy="8079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425" u="none" cap="none" strike="noStrike">
                <a:solidFill>
                  <a:srgbClr val="FFFFFF"/>
                </a:solidFill>
                <a:latin typeface="Inter"/>
                <a:ea typeface="Inter"/>
                <a:cs typeface="Inter"/>
                <a:sym typeface="Inter"/>
              </a:rPr>
              <a:t>Existing work mainly routes before generation or accepts/defers after output; it does not jointly estimate three action outcomes.</a:t>
            </a:r>
            <a:endParaRPr b="0" i="0" sz="2425" u="none" cap="none" strike="noStrike">
              <a:solidFill>
                <a:schemeClr val="dk1"/>
              </a:solidFill>
              <a:latin typeface="Calibri"/>
              <a:ea typeface="Calibri"/>
              <a:cs typeface="Calibri"/>
              <a:sym typeface="Calibri"/>
            </a:endParaRPr>
          </a:p>
        </p:txBody>
      </p:sp>
      <p:sp>
        <p:nvSpPr>
          <p:cNvPr id="998" name="Google Shape;998;p26"/>
          <p:cNvSpPr/>
          <p:nvPr/>
        </p:nvSpPr>
        <p:spPr>
          <a:xfrm>
            <a:off x="1247363" y="4807773"/>
            <a:ext cx="2074500" cy="643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350"/>
              <a:buFont typeface="Poppins"/>
              <a:buNone/>
            </a:pPr>
            <a:r>
              <a:rPr b="1" i="0" lang="en-US" sz="2050" u="none" cap="none" strike="noStrike">
                <a:solidFill>
                  <a:srgbClr val="9ECAE1"/>
                </a:solidFill>
                <a:latin typeface="Poppins"/>
                <a:ea typeface="Poppins"/>
                <a:cs typeface="Poppins"/>
                <a:sym typeface="Poppins"/>
              </a:rPr>
              <a:t>CONTRIBUTION</a:t>
            </a:r>
            <a:endParaRPr b="0" i="0" sz="2050" u="none" cap="none" strike="noStrike">
              <a:solidFill>
                <a:schemeClr val="dk1"/>
              </a:solidFill>
              <a:latin typeface="Calibri"/>
              <a:ea typeface="Calibri"/>
              <a:cs typeface="Calibri"/>
              <a:sym typeface="Calibri"/>
            </a:endParaRPr>
          </a:p>
        </p:txBody>
      </p:sp>
      <p:sp>
        <p:nvSpPr>
          <p:cNvPr id="999" name="Google Shape;999;p26"/>
          <p:cNvSpPr/>
          <p:nvPr/>
        </p:nvSpPr>
        <p:spPr>
          <a:xfrm>
            <a:off x="3639086" y="4807773"/>
            <a:ext cx="12192300" cy="8079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425" u="none" cap="none" strike="noStrike">
                <a:solidFill>
                  <a:srgbClr val="FFFFFF"/>
                </a:solidFill>
                <a:latin typeface="Inter"/>
                <a:ea typeface="Inter"/>
                <a:cs typeface="Inter"/>
                <a:sym typeface="Inter"/>
              </a:rPr>
              <a:t>ACRE learns calibrated failure probability for ACCEPT, REPAIR, and REGENERATE from objective action outcomes.</a:t>
            </a:r>
            <a:endParaRPr b="0" i="0" sz="2425" u="none" cap="none" strike="noStrike">
              <a:solidFill>
                <a:schemeClr val="dk1"/>
              </a:solidFill>
              <a:latin typeface="Calibri"/>
              <a:ea typeface="Calibri"/>
              <a:cs typeface="Calibri"/>
              <a:sym typeface="Calibri"/>
            </a:endParaRPr>
          </a:p>
        </p:txBody>
      </p:sp>
      <p:sp>
        <p:nvSpPr>
          <p:cNvPr id="1000" name="Google Shape;1000;p26"/>
          <p:cNvSpPr/>
          <p:nvPr/>
        </p:nvSpPr>
        <p:spPr>
          <a:xfrm>
            <a:off x="1247363" y="5867635"/>
            <a:ext cx="2074500" cy="643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350"/>
              <a:buFont typeface="Poppins"/>
              <a:buNone/>
            </a:pPr>
            <a:r>
              <a:rPr b="1" i="0" lang="en-US" sz="2050" u="none" cap="none" strike="noStrike">
                <a:solidFill>
                  <a:srgbClr val="9ECAE1"/>
                </a:solidFill>
                <a:latin typeface="Poppins"/>
                <a:ea typeface="Poppins"/>
                <a:cs typeface="Poppins"/>
                <a:sym typeface="Poppins"/>
              </a:rPr>
              <a:t>EXECUTION</a:t>
            </a:r>
            <a:endParaRPr b="0" i="0" sz="2050" u="none" cap="none" strike="noStrike">
              <a:solidFill>
                <a:schemeClr val="dk1"/>
              </a:solidFill>
              <a:latin typeface="Calibri"/>
              <a:ea typeface="Calibri"/>
              <a:cs typeface="Calibri"/>
              <a:sym typeface="Calibri"/>
            </a:endParaRPr>
          </a:p>
        </p:txBody>
      </p:sp>
      <p:sp>
        <p:nvSpPr>
          <p:cNvPr id="1001" name="Google Shape;1001;p26"/>
          <p:cNvSpPr/>
          <p:nvPr/>
        </p:nvSpPr>
        <p:spPr>
          <a:xfrm>
            <a:off x="3639086" y="5867635"/>
            <a:ext cx="9490500" cy="8079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425" u="none" cap="none" strike="noStrike">
                <a:solidFill>
                  <a:srgbClr val="FFFFFF"/>
                </a:solidFill>
                <a:latin typeface="Inter"/>
                <a:ea typeface="Inter"/>
                <a:cs typeface="Inter"/>
                <a:sym typeface="Inter"/>
              </a:rPr>
              <a:t>Two verifiable domains, two SLM families, one stronger model, and 12 one-week sprints.</a:t>
            </a:r>
            <a:endParaRPr b="0" i="0" sz="2425" u="none" cap="none" strike="noStrike">
              <a:solidFill>
                <a:schemeClr val="dk1"/>
              </a:solidFill>
              <a:latin typeface="Calibri"/>
              <a:ea typeface="Calibri"/>
              <a:cs typeface="Calibri"/>
              <a:sym typeface="Calibri"/>
            </a:endParaRPr>
          </a:p>
        </p:txBody>
      </p:sp>
      <p:sp>
        <p:nvSpPr>
          <p:cNvPr id="1002" name="Google Shape;1002;p26"/>
          <p:cNvSpPr/>
          <p:nvPr/>
        </p:nvSpPr>
        <p:spPr>
          <a:xfrm>
            <a:off x="1247363" y="6927499"/>
            <a:ext cx="2074500" cy="643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350"/>
              <a:buFont typeface="Poppins"/>
              <a:buNone/>
            </a:pPr>
            <a:r>
              <a:rPr b="1" i="0" lang="en-US" sz="2050" u="none" cap="none" strike="noStrike">
                <a:solidFill>
                  <a:srgbClr val="9ECAE1"/>
                </a:solidFill>
                <a:latin typeface="Poppins"/>
                <a:ea typeface="Poppins"/>
                <a:cs typeface="Poppins"/>
                <a:sym typeface="Poppins"/>
              </a:rPr>
              <a:t>STATUS</a:t>
            </a:r>
            <a:endParaRPr b="0" i="0" sz="2050" u="none" cap="none" strike="noStrike">
              <a:solidFill>
                <a:schemeClr val="dk1"/>
              </a:solidFill>
              <a:latin typeface="Calibri"/>
              <a:ea typeface="Calibri"/>
              <a:cs typeface="Calibri"/>
              <a:sym typeface="Calibri"/>
            </a:endParaRPr>
          </a:p>
        </p:txBody>
      </p:sp>
      <p:sp>
        <p:nvSpPr>
          <p:cNvPr id="1003" name="Google Shape;1003;p26"/>
          <p:cNvSpPr/>
          <p:nvPr/>
        </p:nvSpPr>
        <p:spPr>
          <a:xfrm>
            <a:off x="3639086" y="6927499"/>
            <a:ext cx="11795700" cy="807900"/>
          </a:xfrm>
          <a:prstGeom prst="rect">
            <a:avLst/>
          </a:prstGeom>
          <a:noFill/>
          <a:ln>
            <a:noFill/>
          </a:ln>
        </p:spPr>
        <p:txBody>
          <a:bodyPr anchorCtr="0" anchor="t" bIns="25400" lIns="25400" spcFirstLastPara="1" rIns="25400" wrap="square" tIns="25400">
            <a:noAutofit/>
          </a:bodyPr>
          <a:lstStyle/>
          <a:p>
            <a:pPr indent="0" lvl="0" marL="0" marR="0" rtl="0" algn="l">
              <a:lnSpc>
                <a:spcPct val="126220"/>
              </a:lnSpc>
              <a:spcBef>
                <a:spcPts val="0"/>
              </a:spcBef>
              <a:spcAft>
                <a:spcPts val="0"/>
              </a:spcAft>
              <a:buClr>
                <a:srgbClr val="FFFFFF"/>
              </a:buClr>
              <a:buSzPts val="1725"/>
              <a:buFont typeface="Inter"/>
              <a:buNone/>
            </a:pPr>
            <a:r>
              <a:rPr b="0" i="0" lang="en-US" sz="2425" u="none" cap="none" strike="noStrike">
                <a:solidFill>
                  <a:srgbClr val="FFFFFF"/>
                </a:solidFill>
                <a:latin typeface="Inter"/>
                <a:ea typeface="Inter"/>
                <a:cs typeface="Inter"/>
                <a:sym typeface="Inter"/>
              </a:rPr>
              <a:t>Research design complete; next checkpoint is implementing validators and running the 100–150 example pilot.</a:t>
            </a:r>
            <a:endParaRPr b="0" i="0" sz="2425" u="none" cap="none" strike="noStrike">
              <a:solidFill>
                <a:schemeClr val="dk1"/>
              </a:solidFill>
              <a:latin typeface="Calibri"/>
              <a:ea typeface="Calibri"/>
              <a:cs typeface="Calibri"/>
              <a:sym typeface="Calibri"/>
            </a:endParaRPr>
          </a:p>
        </p:txBody>
      </p:sp>
      <p:sp>
        <p:nvSpPr>
          <p:cNvPr id="1004" name="Google Shape;1004;p26"/>
          <p:cNvSpPr/>
          <p:nvPr/>
        </p:nvSpPr>
        <p:spPr>
          <a:xfrm>
            <a:off x="1238250" y="9436100"/>
            <a:ext cx="17392800" cy="222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ECAE1"/>
              </a:buClr>
              <a:buSzPts val="1200"/>
              <a:buFont typeface="Inter"/>
              <a:buNone/>
            </a:pPr>
            <a:r>
              <a:rPr b="0" i="0" lang="en-US" sz="1200" u="none" cap="none" strike="noStrike">
                <a:solidFill>
                  <a:srgbClr val="9ECAE1"/>
                </a:solidFill>
                <a:latin typeface="Inter"/>
                <a:ea typeface="Inter"/>
                <a:cs typeface="Inter"/>
                <a:sym typeface="Inter"/>
              </a:rPr>
              <a:t>Sources: Dekoninck et al. (ICML 2025) • Chuang et al. (ICML 2025) • Olausson et al. (ICLR 2024)</a:t>
            </a:r>
            <a:endParaRPr b="0" i="0" sz="1200" u="none" cap="none" strike="noStrike">
              <a:solidFill>
                <a:schemeClr val="dk1"/>
              </a:solidFill>
              <a:latin typeface="Calibri"/>
              <a:ea typeface="Calibri"/>
              <a:cs typeface="Calibri"/>
              <a:sym typeface="Calibri"/>
            </a:endParaRPr>
          </a:p>
        </p:txBody>
      </p:sp>
      <p:pic>
        <p:nvPicPr>
          <p:cNvPr id="1005" name="Google Shape;1005;p26"/>
          <p:cNvPicPr preferRelativeResize="0"/>
          <p:nvPr/>
        </p:nvPicPr>
        <p:blipFill>
          <a:blip r:embed="rId4">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F"/>
        </a:solidFill>
      </p:bgPr>
    </p:bg>
    <p:spTree>
      <p:nvGrpSpPr>
        <p:cNvPr id="1010" name="Shape 1010"/>
        <p:cNvGrpSpPr/>
        <p:nvPr/>
      </p:nvGrpSpPr>
      <p:grpSpPr>
        <a:xfrm>
          <a:off x="0" y="0"/>
          <a:ext cx="0" cy="0"/>
          <a:chOff x="0" y="0"/>
          <a:chExt cx="0" cy="0"/>
        </a:xfrm>
      </p:grpSpPr>
      <p:sp>
        <p:nvSpPr>
          <p:cNvPr id="1011" name="Google Shape;1011;p27"/>
          <p:cNvSpPr/>
          <p:nvPr/>
        </p:nvSpPr>
        <p:spPr>
          <a:xfrm>
            <a:off x="1047750" y="666750"/>
            <a:ext cx="17811900" cy="552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84594"/>
              </a:buClr>
              <a:buSzPts val="2700"/>
              <a:buFont typeface="Poppins"/>
              <a:buNone/>
            </a:pPr>
            <a:r>
              <a:rPr b="1" i="0" lang="en-US" sz="2700" u="none" cap="none" strike="noStrike">
                <a:solidFill>
                  <a:srgbClr val="084594"/>
                </a:solidFill>
                <a:latin typeface="Poppins"/>
                <a:ea typeface="Poppins"/>
                <a:cs typeface="Poppins"/>
                <a:sym typeface="Poppins"/>
              </a:rPr>
              <a:t>References</a:t>
            </a:r>
            <a:endParaRPr b="0" i="0" sz="2700" u="none" cap="none" strike="noStrike">
              <a:solidFill>
                <a:schemeClr val="dk1"/>
              </a:solidFill>
              <a:latin typeface="Calibri"/>
              <a:ea typeface="Calibri"/>
              <a:cs typeface="Calibri"/>
              <a:sym typeface="Calibri"/>
            </a:endParaRPr>
          </a:p>
        </p:txBody>
      </p:sp>
      <p:sp>
        <p:nvSpPr>
          <p:cNvPr id="1012" name="Google Shape;1012;p27"/>
          <p:cNvSpPr/>
          <p:nvPr/>
        </p:nvSpPr>
        <p:spPr>
          <a:xfrm>
            <a:off x="1047750" y="1519238"/>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 </a:t>
            </a:r>
            <a:r>
              <a:rPr b="0" i="0" lang="en-US" sz="1150" u="none" cap="none" strike="noStrike">
                <a:solidFill>
                  <a:srgbClr val="16324A"/>
                </a:solidFill>
                <a:latin typeface="Inter"/>
                <a:ea typeface="Inter"/>
                <a:cs typeface="Inter"/>
                <a:sym typeface="Inter"/>
              </a:rPr>
              <a:t>Chen, L., Zaharia, M., &amp; Zou, J. (2024). FrugalGPT: How to use large language models while reducing cost and improving performance. </a:t>
            </a:r>
            <a:r>
              <a:rPr b="0" i="1" lang="en-US" sz="1150" u="none" cap="none" strike="noStrike">
                <a:solidFill>
                  <a:srgbClr val="16324A"/>
                </a:solidFill>
                <a:latin typeface="Inter"/>
                <a:ea typeface="Inter"/>
                <a:cs typeface="Inter"/>
                <a:sym typeface="Inter"/>
              </a:rPr>
              <a:t>Transactions on Machine Learning Research.</a:t>
            </a:r>
            <a:endParaRPr b="0" i="0" sz="1150" u="none" cap="none" strike="noStrike">
              <a:solidFill>
                <a:schemeClr val="dk1"/>
              </a:solidFill>
              <a:latin typeface="Calibri"/>
              <a:ea typeface="Calibri"/>
              <a:cs typeface="Calibri"/>
              <a:sym typeface="Calibri"/>
            </a:endParaRPr>
          </a:p>
        </p:txBody>
      </p:sp>
      <p:sp>
        <p:nvSpPr>
          <p:cNvPr id="1013" name="Google Shape;1013;p27"/>
          <p:cNvSpPr/>
          <p:nvPr/>
        </p:nvSpPr>
        <p:spPr>
          <a:xfrm>
            <a:off x="9334500" y="1519238"/>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 </a:t>
            </a:r>
            <a:r>
              <a:rPr b="0" i="0" lang="en-US" sz="1150" u="none" cap="none" strike="noStrike">
                <a:solidFill>
                  <a:srgbClr val="16324A"/>
                </a:solidFill>
                <a:latin typeface="Inter"/>
                <a:ea typeface="Inter"/>
                <a:cs typeface="Inter"/>
                <a:sym typeface="Inter"/>
              </a:rPr>
              <a:t>Ding, D., Mallick, A., Wang, C., Sim, R., Mukherjee, S., Ruhle, V., Lakshmanan, L. V. S., &amp; Awadallah, A. H. (2024). Hybrid LLM: Cost-efficient and quality-aware query routing. </a:t>
            </a:r>
            <a:r>
              <a:rPr b="0" i="1" lang="en-US" sz="1150" u="none" cap="none" strike="noStrike">
                <a:solidFill>
                  <a:srgbClr val="16324A"/>
                </a:solidFill>
                <a:latin typeface="Inter"/>
                <a:ea typeface="Inter"/>
                <a:cs typeface="Inter"/>
                <a:sym typeface="Inter"/>
              </a:rPr>
              <a:t>International Conference on Learning Representations.</a:t>
            </a:r>
            <a:endParaRPr b="0" i="0" sz="1150" u="none" cap="none" strike="noStrike">
              <a:solidFill>
                <a:schemeClr val="dk1"/>
              </a:solidFill>
              <a:latin typeface="Calibri"/>
              <a:ea typeface="Calibri"/>
              <a:cs typeface="Calibri"/>
              <a:sym typeface="Calibri"/>
            </a:endParaRPr>
          </a:p>
        </p:txBody>
      </p:sp>
      <p:sp>
        <p:nvSpPr>
          <p:cNvPr id="1014" name="Google Shape;1014;p27"/>
          <p:cNvSpPr/>
          <p:nvPr/>
        </p:nvSpPr>
        <p:spPr>
          <a:xfrm>
            <a:off x="1047750" y="2125313"/>
            <a:ext cx="8142900" cy="690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3. </a:t>
            </a:r>
            <a:r>
              <a:rPr b="0" i="0" lang="en-US" sz="1150" u="none" cap="none" strike="noStrike">
                <a:solidFill>
                  <a:srgbClr val="16324A"/>
                </a:solidFill>
                <a:latin typeface="Inter"/>
                <a:ea typeface="Inter"/>
                <a:cs typeface="Inter"/>
                <a:sym typeface="Inter"/>
              </a:rPr>
              <a:t>Aggarwal, P., Madaan, A., Anand, A., Potharaju, S. P., Mishra, S., Zhou, P., Gupta, A., Rajagopal, D., Kappaganthu, K., Yang, Y., Upadhyay, S., Faruqui, M., &amp; Mausam. (2024). AutoMix: Automatically mixing language models. </a:t>
            </a:r>
            <a:r>
              <a:rPr b="0" i="1" lang="en-US" sz="1150" u="none" cap="none" strike="noStrike">
                <a:solidFill>
                  <a:srgbClr val="16324A"/>
                </a:solidFill>
                <a:latin typeface="Inter"/>
                <a:ea typeface="Inter"/>
                <a:cs typeface="Inter"/>
                <a:sym typeface="Inter"/>
              </a:rPr>
              <a:t>Advances in Neural Information Processing Systems, 37.</a:t>
            </a:r>
            <a:endParaRPr b="0" i="0" sz="1150" u="none" cap="none" strike="noStrike">
              <a:solidFill>
                <a:schemeClr val="dk1"/>
              </a:solidFill>
              <a:latin typeface="Calibri"/>
              <a:ea typeface="Calibri"/>
              <a:cs typeface="Calibri"/>
              <a:sym typeface="Calibri"/>
            </a:endParaRPr>
          </a:p>
        </p:txBody>
      </p:sp>
      <p:sp>
        <p:nvSpPr>
          <p:cNvPr id="1015" name="Google Shape;1015;p27"/>
          <p:cNvSpPr/>
          <p:nvPr/>
        </p:nvSpPr>
        <p:spPr>
          <a:xfrm>
            <a:off x="9334500" y="2066885"/>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4. </a:t>
            </a:r>
            <a:r>
              <a:rPr b="0" i="0" lang="en-US" sz="1150" u="none" cap="none" strike="noStrike">
                <a:solidFill>
                  <a:srgbClr val="16324A"/>
                </a:solidFill>
                <a:latin typeface="Inter"/>
                <a:ea typeface="Inter"/>
                <a:cs typeface="Inter"/>
                <a:sym typeface="Inter"/>
              </a:rPr>
              <a:t>Ong, I., Almahairi, A., Wu, V., Chiang, W.-L., Wu, T., Gonzalez, J. E., Kadous, M. W., &amp; Stoica, I. (2025). RouteLLM: Learning to route LLMs from preference data. </a:t>
            </a:r>
            <a:r>
              <a:rPr b="0" i="1" lang="en-US" sz="1150" u="none" cap="none" strike="noStrike">
                <a:solidFill>
                  <a:srgbClr val="16324A"/>
                </a:solidFill>
                <a:latin typeface="Inter"/>
                <a:ea typeface="Inter"/>
                <a:cs typeface="Inter"/>
                <a:sym typeface="Inter"/>
              </a:rPr>
              <a:t>International Conference on Learning Representations.</a:t>
            </a:r>
            <a:endParaRPr b="0" i="0" sz="1150" u="none" cap="none" strike="noStrike">
              <a:solidFill>
                <a:schemeClr val="dk1"/>
              </a:solidFill>
              <a:latin typeface="Calibri"/>
              <a:ea typeface="Calibri"/>
              <a:cs typeface="Calibri"/>
              <a:sym typeface="Calibri"/>
            </a:endParaRPr>
          </a:p>
        </p:txBody>
      </p:sp>
      <p:sp>
        <p:nvSpPr>
          <p:cNvPr id="1016" name="Google Shape;1016;p27"/>
          <p:cNvSpPr/>
          <p:nvPr/>
        </p:nvSpPr>
        <p:spPr>
          <a:xfrm>
            <a:off x="1047750" y="2927688"/>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5. </a:t>
            </a:r>
            <a:r>
              <a:rPr b="0" i="0" lang="en-US" sz="1150" u="none" cap="none" strike="noStrike">
                <a:solidFill>
                  <a:srgbClr val="16324A"/>
                </a:solidFill>
                <a:latin typeface="Inter"/>
                <a:ea typeface="Inter"/>
                <a:cs typeface="Inter"/>
                <a:sym typeface="Inter"/>
              </a:rPr>
              <a:t>Dekoninck, J., Baader, M., &amp; Vechev, M. (2025). A unified approach to routing and cascading for LLMs. </a:t>
            </a:r>
            <a:r>
              <a:rPr b="0" i="1" lang="en-US" sz="1150" u="none" cap="none" strike="noStrike">
                <a:solidFill>
                  <a:srgbClr val="16324A"/>
                </a:solidFill>
                <a:latin typeface="Inter"/>
                <a:ea typeface="Inter"/>
                <a:cs typeface="Inter"/>
                <a:sym typeface="Inter"/>
              </a:rPr>
              <a:t>Proceedings of the 42nd International Conference on Machine Learning, 267, </a:t>
            </a:r>
            <a:r>
              <a:rPr b="0" i="0" lang="en-US" sz="1150" u="none" cap="none" strike="noStrike">
                <a:solidFill>
                  <a:srgbClr val="16324A"/>
                </a:solidFill>
                <a:latin typeface="Inter"/>
                <a:ea typeface="Inter"/>
                <a:cs typeface="Inter"/>
                <a:sym typeface="Inter"/>
              </a:rPr>
              <a:t>12987–13010.</a:t>
            </a:r>
            <a:endParaRPr b="0" i="0" sz="1150" u="none" cap="none" strike="noStrike">
              <a:solidFill>
                <a:schemeClr val="dk1"/>
              </a:solidFill>
              <a:latin typeface="Calibri"/>
              <a:ea typeface="Calibri"/>
              <a:cs typeface="Calibri"/>
              <a:sym typeface="Calibri"/>
            </a:endParaRPr>
          </a:p>
        </p:txBody>
      </p:sp>
      <p:sp>
        <p:nvSpPr>
          <p:cNvPr id="1017" name="Google Shape;1017;p27"/>
          <p:cNvSpPr/>
          <p:nvPr/>
        </p:nvSpPr>
        <p:spPr>
          <a:xfrm>
            <a:off x="9334500" y="2660213"/>
            <a:ext cx="8142900" cy="534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6. </a:t>
            </a:r>
            <a:r>
              <a:rPr b="0" i="0" lang="en-US" sz="1150" u="none" cap="none" strike="noStrike">
                <a:solidFill>
                  <a:srgbClr val="16324A"/>
                </a:solidFill>
                <a:latin typeface="Inter"/>
                <a:ea typeface="Inter"/>
                <a:cs typeface="Inter"/>
                <a:sym typeface="Inter"/>
              </a:rPr>
              <a:t>Chuang, Y.-N., Sarma, P. K., Gopalan, P., Boccio, J., Bolouki, S., Hu, X., &amp; Zhou, H. (2025). Learning to route LLMs with confidence tokens. </a:t>
            </a:r>
            <a:r>
              <a:rPr b="0" i="1" lang="en-US" sz="1150" u="none" cap="none" strike="noStrike">
                <a:solidFill>
                  <a:srgbClr val="16324A"/>
                </a:solidFill>
                <a:latin typeface="Inter"/>
                <a:ea typeface="Inter"/>
                <a:cs typeface="Inter"/>
                <a:sym typeface="Inter"/>
              </a:rPr>
              <a:t>Proceedings of the 42nd International Conference on Machine Learning, 267, </a:t>
            </a:r>
            <a:r>
              <a:rPr b="0" i="0" lang="en-US" sz="1150" u="none" cap="none" strike="noStrike">
                <a:solidFill>
                  <a:srgbClr val="16324A"/>
                </a:solidFill>
                <a:latin typeface="Inter"/>
                <a:ea typeface="Inter"/>
                <a:cs typeface="Inter"/>
                <a:sym typeface="Inter"/>
              </a:rPr>
              <a:t>10859–10878.</a:t>
            </a:r>
            <a:endParaRPr b="0" i="0" sz="1150" u="none" cap="none" strike="noStrike">
              <a:solidFill>
                <a:schemeClr val="dk1"/>
              </a:solidFill>
              <a:latin typeface="Calibri"/>
              <a:ea typeface="Calibri"/>
              <a:cs typeface="Calibri"/>
              <a:sym typeface="Calibri"/>
            </a:endParaRPr>
          </a:p>
        </p:txBody>
      </p:sp>
      <p:sp>
        <p:nvSpPr>
          <p:cNvPr id="1018" name="Google Shape;1018;p27"/>
          <p:cNvSpPr/>
          <p:nvPr/>
        </p:nvSpPr>
        <p:spPr>
          <a:xfrm>
            <a:off x="1047750" y="3555865"/>
            <a:ext cx="8142900" cy="534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7. </a:t>
            </a:r>
            <a:r>
              <a:rPr b="0" i="0" lang="en-US" sz="1150" u="none" cap="none" strike="noStrike">
                <a:solidFill>
                  <a:srgbClr val="16324A"/>
                </a:solidFill>
                <a:latin typeface="Inter"/>
                <a:ea typeface="Inter"/>
                <a:cs typeface="Inter"/>
                <a:sym typeface="Inter"/>
              </a:rPr>
              <a:t>Mahaut, M., Aina, L., Czarnowska, P., Hardalov, M., Müller, T., &amp; Màrquez, L. (2024). Factual confidence of LLMs: On reliability and robustness of current estimators. </a:t>
            </a:r>
            <a:r>
              <a:rPr b="0" i="1" lang="en-US" sz="1150" u="none" cap="none" strike="noStrike">
                <a:solidFill>
                  <a:srgbClr val="16324A"/>
                </a:solidFill>
                <a:latin typeface="Inter"/>
                <a:ea typeface="Inter"/>
                <a:cs typeface="Inter"/>
                <a:sym typeface="Inter"/>
              </a:rPr>
              <a:t>Proceedings of ACL 2024, </a:t>
            </a:r>
            <a:r>
              <a:rPr b="0" i="0" lang="en-US" sz="1150" u="none" cap="none" strike="noStrike">
                <a:solidFill>
                  <a:srgbClr val="16324A"/>
                </a:solidFill>
                <a:latin typeface="Inter"/>
                <a:ea typeface="Inter"/>
                <a:cs typeface="Inter"/>
                <a:sym typeface="Inter"/>
              </a:rPr>
              <a:t>4554–4570.</a:t>
            </a:r>
            <a:endParaRPr b="0" i="0" sz="1150" u="none" cap="none" strike="noStrike">
              <a:solidFill>
                <a:schemeClr val="dk1"/>
              </a:solidFill>
              <a:latin typeface="Calibri"/>
              <a:ea typeface="Calibri"/>
              <a:cs typeface="Calibri"/>
              <a:sym typeface="Calibri"/>
            </a:endParaRPr>
          </a:p>
        </p:txBody>
      </p:sp>
      <p:sp>
        <p:nvSpPr>
          <p:cNvPr id="1019" name="Google Shape;1019;p27"/>
          <p:cNvSpPr/>
          <p:nvPr/>
        </p:nvSpPr>
        <p:spPr>
          <a:xfrm>
            <a:off x="9334500" y="3190547"/>
            <a:ext cx="8142900" cy="534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8. </a:t>
            </a:r>
            <a:r>
              <a:rPr b="0" i="0" lang="en-US" sz="1150" u="none" cap="none" strike="noStrike">
                <a:solidFill>
                  <a:srgbClr val="16324A"/>
                </a:solidFill>
                <a:latin typeface="Inter"/>
                <a:ea typeface="Inter"/>
                <a:cs typeface="Inter"/>
                <a:sym typeface="Inter"/>
              </a:rPr>
              <a:t>Dou, Y., Fang, S., &amp; Li, S. (2026). Conformal cascade: Distribution-free accuracy guarantees for multi-tier LLM inference. </a:t>
            </a:r>
            <a:r>
              <a:rPr b="0" i="1" lang="en-US" sz="1150" u="none" cap="none" strike="noStrike">
                <a:solidFill>
                  <a:srgbClr val="16324A"/>
                </a:solidFill>
                <a:latin typeface="Inter"/>
                <a:ea typeface="Inter"/>
                <a:cs typeface="Inter"/>
                <a:sym typeface="Inter"/>
              </a:rPr>
              <a:t>arXiv:2607.25018.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0" name="Google Shape;1020;p27"/>
          <p:cNvSpPr/>
          <p:nvPr/>
        </p:nvSpPr>
        <p:spPr>
          <a:xfrm>
            <a:off x="1047750" y="4220433"/>
            <a:ext cx="8142900" cy="690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9. </a:t>
            </a:r>
            <a:r>
              <a:rPr b="0" i="0" lang="en-US" sz="1150" u="none" cap="none" strike="noStrike">
                <a:solidFill>
                  <a:srgbClr val="16324A"/>
                </a:solidFill>
                <a:latin typeface="Inter"/>
                <a:ea typeface="Inter"/>
                <a:cs typeface="Inter"/>
                <a:sym typeface="Inter"/>
              </a:rPr>
              <a:t>Moslem, Y., Kacmajor, M., Nedumpozhimana, V., Abbas, A., Panahi, S., Lynch, D., Nie, Z., Agapitos, A., Milenovic, A., Song, H., Shi, Y., Pan, Y., Buffini, P., &amp; Kelleher, J. D. (2026). Cluster, route, escalate: Cascaded framework for cost-aware LLM serving. </a:t>
            </a:r>
            <a:r>
              <a:rPr b="0" i="1" lang="en-US" sz="1150" u="none" cap="none" strike="noStrike">
                <a:solidFill>
                  <a:srgbClr val="16324A"/>
                </a:solidFill>
                <a:latin typeface="Inter"/>
                <a:ea typeface="Inter"/>
                <a:cs typeface="Inter"/>
                <a:sym typeface="Inter"/>
              </a:rPr>
              <a:t>arXiv:2606.27457.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1" name="Google Shape;1021;p27"/>
          <p:cNvSpPr/>
          <p:nvPr/>
        </p:nvSpPr>
        <p:spPr>
          <a:xfrm>
            <a:off x="9334500" y="3768038"/>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10. </a:t>
            </a:r>
            <a:r>
              <a:rPr b="0" i="0" lang="en-US" sz="1150" u="none" cap="none" strike="noStrike">
                <a:solidFill>
                  <a:srgbClr val="16324A"/>
                </a:solidFill>
                <a:latin typeface="Inter"/>
                <a:ea typeface="Inter"/>
                <a:cs typeface="Inter"/>
                <a:sym typeface="Inter"/>
              </a:rPr>
              <a:t>Chen, T.-R. (2026). Resample or reroute? Budget-aware test-time model selection for large language models. </a:t>
            </a:r>
            <a:r>
              <a:rPr b="0" i="1" lang="en-US" sz="1150" u="none" cap="none" strike="noStrike">
                <a:solidFill>
                  <a:srgbClr val="16324A"/>
                </a:solidFill>
                <a:latin typeface="Inter"/>
                <a:ea typeface="Inter"/>
                <a:cs typeface="Inter"/>
                <a:sym typeface="Inter"/>
              </a:rPr>
              <a:t>arXiv:2607.08665.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2" name="Google Shape;1022;p27"/>
          <p:cNvSpPr/>
          <p:nvPr/>
        </p:nvSpPr>
        <p:spPr>
          <a:xfrm>
            <a:off x="1047750" y="5033062"/>
            <a:ext cx="8142900" cy="534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11. </a:t>
            </a:r>
            <a:r>
              <a:rPr b="0" i="0" lang="en-US" sz="1150" u="none" cap="none" strike="noStrike">
                <a:solidFill>
                  <a:srgbClr val="16324A"/>
                </a:solidFill>
                <a:latin typeface="Inter"/>
                <a:ea typeface="Inter"/>
                <a:cs typeface="Inter"/>
                <a:sym typeface="Inter"/>
              </a:rPr>
              <a:t>Wu, H., Manoharan, S., Tu, F., Zhao, J., &amp; Wan, J. (2026). RLM-Cascade: Response-level speculative decoding for cost-efficient LLM API serving. </a:t>
            </a:r>
            <a:r>
              <a:rPr b="0" i="1" lang="en-US" sz="1150" u="none" cap="none" strike="noStrike">
                <a:solidFill>
                  <a:srgbClr val="16324A"/>
                </a:solidFill>
                <a:latin typeface="Inter"/>
                <a:ea typeface="Inter"/>
                <a:cs typeface="Inter"/>
                <a:sym typeface="Inter"/>
              </a:rPr>
              <a:t>arXiv:2606.22840.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3" name="Google Shape;1023;p27"/>
          <p:cNvSpPr/>
          <p:nvPr/>
        </p:nvSpPr>
        <p:spPr>
          <a:xfrm>
            <a:off x="9334500" y="4372537"/>
            <a:ext cx="8142900" cy="690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12. </a:t>
            </a:r>
            <a:r>
              <a:rPr b="0" i="0" lang="en-US" sz="1150" u="none" cap="none" strike="noStrike">
                <a:solidFill>
                  <a:srgbClr val="16324A"/>
                </a:solidFill>
                <a:latin typeface="Inter"/>
                <a:ea typeface="Inter"/>
                <a:cs typeface="Inter"/>
                <a:sym typeface="Inter"/>
              </a:rPr>
              <a:t>Li, H., Zhang, Y., Guo, Z., Wang, C., Tang, S., Zhang, Q., Chen, Y., Qi, B., Ye, P., Bai, L., Wang, Z., &amp; Hu, S. (2026). LLMRouterBench: A massive benchmark and unified framework for LLM routing. </a:t>
            </a:r>
            <a:r>
              <a:rPr b="0" i="1" lang="en-US" sz="1150" u="none" cap="none" strike="noStrike">
                <a:solidFill>
                  <a:srgbClr val="16324A"/>
                </a:solidFill>
                <a:latin typeface="Inter"/>
                <a:ea typeface="Inter"/>
                <a:cs typeface="Inter"/>
                <a:sym typeface="Inter"/>
              </a:rPr>
              <a:t>arXiv:2601.07206.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4" name="Google Shape;1024;p27"/>
          <p:cNvSpPr/>
          <p:nvPr/>
        </p:nvSpPr>
        <p:spPr>
          <a:xfrm>
            <a:off x="1047750" y="5658860"/>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13. </a:t>
            </a:r>
            <a:r>
              <a:rPr b="0" i="0" lang="en-US" sz="1150" u="none" cap="none" strike="noStrike">
                <a:solidFill>
                  <a:srgbClr val="16324A"/>
                </a:solidFill>
                <a:latin typeface="Inter"/>
                <a:ea typeface="Inter"/>
                <a:cs typeface="Inter"/>
                <a:sym typeface="Inter"/>
              </a:rPr>
              <a:t>Gou, Z., Shao, Z., Gong, Y., Shen, Y., Yang, Y., Duan, N., &amp; Chen, W. (2024). CRITIC: Large language models can self-correct with tool-interactive critiquing. </a:t>
            </a:r>
            <a:r>
              <a:rPr b="0" i="1" lang="en-US" sz="1150" u="none" cap="none" strike="noStrike">
                <a:solidFill>
                  <a:srgbClr val="16324A"/>
                </a:solidFill>
                <a:latin typeface="Inter"/>
                <a:ea typeface="Inter"/>
                <a:cs typeface="Inter"/>
                <a:sym typeface="Inter"/>
              </a:rPr>
              <a:t>International Conference on Learning Representations.</a:t>
            </a:r>
            <a:endParaRPr b="0" i="0" sz="1150" u="none" cap="none" strike="noStrike">
              <a:solidFill>
                <a:schemeClr val="dk1"/>
              </a:solidFill>
              <a:latin typeface="Calibri"/>
              <a:ea typeface="Calibri"/>
              <a:cs typeface="Calibri"/>
              <a:sym typeface="Calibri"/>
            </a:endParaRPr>
          </a:p>
        </p:txBody>
      </p:sp>
      <p:sp>
        <p:nvSpPr>
          <p:cNvPr id="1025" name="Google Shape;1025;p27"/>
          <p:cNvSpPr/>
          <p:nvPr/>
        </p:nvSpPr>
        <p:spPr>
          <a:xfrm>
            <a:off x="9334500" y="5182485"/>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14. </a:t>
            </a:r>
            <a:r>
              <a:rPr b="0" i="0" lang="en-US" sz="1150" u="none" cap="none" strike="noStrike">
                <a:solidFill>
                  <a:srgbClr val="16324A"/>
                </a:solidFill>
                <a:latin typeface="Inter"/>
                <a:ea typeface="Inter"/>
                <a:cs typeface="Inter"/>
                <a:sym typeface="Inter"/>
              </a:rPr>
              <a:t>Huang, J., Chen, X., Mishra, S., Zheng, H. S., Yu, A. W., Song, X., &amp; Zhou, D. (2024). Large language models cannot self-correct reasoning yet. </a:t>
            </a:r>
            <a:r>
              <a:rPr b="0" i="1" lang="en-US" sz="1150" u="none" cap="none" strike="noStrike">
                <a:solidFill>
                  <a:srgbClr val="16324A"/>
                </a:solidFill>
                <a:latin typeface="Inter"/>
                <a:ea typeface="Inter"/>
                <a:cs typeface="Inter"/>
                <a:sym typeface="Inter"/>
              </a:rPr>
              <a:t>International Conference on Learning Representations.</a:t>
            </a:r>
            <a:endParaRPr b="0" i="0" sz="1150" u="none" cap="none" strike="noStrike">
              <a:solidFill>
                <a:schemeClr val="dk1"/>
              </a:solidFill>
              <a:latin typeface="Calibri"/>
              <a:ea typeface="Calibri"/>
              <a:cs typeface="Calibri"/>
              <a:sym typeface="Calibri"/>
            </a:endParaRPr>
          </a:p>
        </p:txBody>
      </p:sp>
      <p:sp>
        <p:nvSpPr>
          <p:cNvPr id="1026" name="Google Shape;1026;p27"/>
          <p:cNvSpPr/>
          <p:nvPr/>
        </p:nvSpPr>
        <p:spPr>
          <a:xfrm>
            <a:off x="1047750" y="6251664"/>
            <a:ext cx="8142900" cy="5349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15. </a:t>
            </a:r>
            <a:r>
              <a:rPr b="0" i="0" lang="en-US" sz="1150" u="none" cap="none" strike="noStrike">
                <a:solidFill>
                  <a:srgbClr val="16324A"/>
                </a:solidFill>
                <a:latin typeface="Inter"/>
                <a:ea typeface="Inter"/>
                <a:cs typeface="Inter"/>
                <a:sym typeface="Inter"/>
              </a:rPr>
              <a:t>Zhang, Y., Khalifa, M., Logeswaran, L., Kim, J., Lee, M., Lee, H., &amp; Wang, L. (2024). Small language models need strong verifiers to self-correct reasoning. </a:t>
            </a:r>
            <a:r>
              <a:rPr b="0" i="1" lang="en-US" sz="1150" u="none" cap="none" strike="noStrike">
                <a:solidFill>
                  <a:srgbClr val="16324A"/>
                </a:solidFill>
                <a:latin typeface="Inter"/>
                <a:ea typeface="Inter"/>
                <a:cs typeface="Inter"/>
                <a:sym typeface="Inter"/>
              </a:rPr>
              <a:t>Findings of ACL 2024, </a:t>
            </a:r>
            <a:r>
              <a:rPr b="0" i="0" lang="en-US" sz="1150" u="none" cap="none" strike="noStrike">
                <a:solidFill>
                  <a:srgbClr val="16324A"/>
                </a:solidFill>
                <a:latin typeface="Inter"/>
                <a:ea typeface="Inter"/>
                <a:cs typeface="Inter"/>
                <a:sym typeface="Inter"/>
              </a:rPr>
              <a:t>15790–15801.</a:t>
            </a:r>
            <a:endParaRPr b="0" i="0" sz="1150" u="none" cap="none" strike="noStrike">
              <a:solidFill>
                <a:schemeClr val="dk1"/>
              </a:solidFill>
              <a:latin typeface="Calibri"/>
              <a:ea typeface="Calibri"/>
              <a:cs typeface="Calibri"/>
              <a:sym typeface="Calibri"/>
            </a:endParaRPr>
          </a:p>
        </p:txBody>
      </p:sp>
      <p:sp>
        <p:nvSpPr>
          <p:cNvPr id="1027" name="Google Shape;1027;p27"/>
          <p:cNvSpPr/>
          <p:nvPr/>
        </p:nvSpPr>
        <p:spPr>
          <a:xfrm>
            <a:off x="9334500" y="5735088"/>
            <a:ext cx="8142900" cy="5523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16. </a:t>
            </a:r>
            <a:r>
              <a:rPr b="0" i="0" lang="en-US" sz="1150" u="none" cap="none" strike="noStrike">
                <a:solidFill>
                  <a:srgbClr val="16324A"/>
                </a:solidFill>
                <a:latin typeface="Inter"/>
                <a:ea typeface="Inter"/>
                <a:cs typeface="Inter"/>
                <a:sym typeface="Inter"/>
              </a:rPr>
              <a:t>Olausson, T. X., Inala, J. P., Wang, C., Gao, J., &amp; Solar-Lezama, A. (2024). Is self-repair a silver bullet for code generation? </a:t>
            </a:r>
            <a:r>
              <a:rPr b="0" i="1" lang="en-US" sz="1150" u="none" cap="none" strike="noStrike">
                <a:solidFill>
                  <a:srgbClr val="16324A"/>
                </a:solidFill>
                <a:latin typeface="Inter"/>
                <a:ea typeface="Inter"/>
                <a:cs typeface="Inter"/>
                <a:sym typeface="Inter"/>
              </a:rPr>
              <a:t>International Conference on Learning Representations.</a:t>
            </a:r>
            <a:endParaRPr b="0" i="0" sz="1150" u="none" cap="none" strike="noStrike">
              <a:solidFill>
                <a:schemeClr val="dk1"/>
              </a:solidFill>
              <a:latin typeface="Calibri"/>
              <a:ea typeface="Calibri"/>
              <a:cs typeface="Calibri"/>
              <a:sym typeface="Calibri"/>
            </a:endParaRPr>
          </a:p>
        </p:txBody>
      </p:sp>
      <p:sp>
        <p:nvSpPr>
          <p:cNvPr id="1028" name="Google Shape;1028;p27"/>
          <p:cNvSpPr/>
          <p:nvPr/>
        </p:nvSpPr>
        <p:spPr>
          <a:xfrm>
            <a:off x="1047750" y="6786563"/>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17. </a:t>
            </a:r>
            <a:r>
              <a:rPr b="0" i="0" lang="en-US" sz="1150" u="none" cap="none" strike="noStrike">
                <a:solidFill>
                  <a:srgbClr val="16324A"/>
                </a:solidFill>
                <a:latin typeface="Inter"/>
                <a:ea typeface="Inter"/>
                <a:cs typeface="Inter"/>
                <a:sym typeface="Inter"/>
              </a:rPr>
              <a:t>Arimbur, J. J. (2026). How many tries does it take? Iterative self-repair in LLM code generation across model scales and benchmarks. </a:t>
            </a:r>
            <a:r>
              <a:rPr b="0" i="1" lang="en-US" sz="1150" u="none" cap="none" strike="noStrike">
                <a:solidFill>
                  <a:srgbClr val="16324A"/>
                </a:solidFill>
                <a:latin typeface="Inter"/>
                <a:ea typeface="Inter"/>
                <a:cs typeface="Inter"/>
                <a:sym typeface="Inter"/>
              </a:rPr>
              <a:t>arXiv:2604.10508.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29" name="Google Shape;1029;p27"/>
          <p:cNvSpPr/>
          <p:nvPr/>
        </p:nvSpPr>
        <p:spPr>
          <a:xfrm>
            <a:off x="9334500" y="6303263"/>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18. </a:t>
            </a:r>
            <a:r>
              <a:rPr b="0" i="0" lang="en-US" sz="1150" u="none" cap="none" strike="noStrike">
                <a:solidFill>
                  <a:srgbClr val="16324A"/>
                </a:solidFill>
                <a:latin typeface="Inter"/>
                <a:ea typeface="Inter"/>
                <a:cs typeface="Inter"/>
                <a:sym typeface="Inter"/>
              </a:rPr>
              <a:t>Tian, R., Ye, Y., Qin, Y., Cong, X., Lin, Y., Pan, Y., Wu, Y., Haotian, H., Weichuan, L., Liu, Z., &amp; Sun, M. (2024). DebugBench: Evaluating debugging capability of large language models. </a:t>
            </a:r>
            <a:r>
              <a:rPr b="0" i="1" lang="en-US" sz="1150" u="none" cap="none" strike="noStrike">
                <a:solidFill>
                  <a:srgbClr val="16324A"/>
                </a:solidFill>
                <a:latin typeface="Inter"/>
                <a:ea typeface="Inter"/>
                <a:cs typeface="Inter"/>
                <a:sym typeface="Inter"/>
              </a:rPr>
              <a:t>Findings of ACL 2024, </a:t>
            </a:r>
            <a:r>
              <a:rPr b="0" i="0" lang="en-US" sz="1150" u="none" cap="none" strike="noStrike">
                <a:solidFill>
                  <a:srgbClr val="16324A"/>
                </a:solidFill>
                <a:latin typeface="Inter"/>
                <a:ea typeface="Inter"/>
                <a:cs typeface="Inter"/>
                <a:sym typeface="Inter"/>
              </a:rPr>
              <a:t>4173–4198.</a:t>
            </a:r>
            <a:endParaRPr b="0" i="0" sz="1150" u="none" cap="none" strike="noStrike">
              <a:solidFill>
                <a:schemeClr val="dk1"/>
              </a:solidFill>
              <a:latin typeface="Calibri"/>
              <a:ea typeface="Calibri"/>
              <a:cs typeface="Calibri"/>
              <a:sym typeface="Calibri"/>
            </a:endParaRPr>
          </a:p>
        </p:txBody>
      </p:sp>
      <p:sp>
        <p:nvSpPr>
          <p:cNvPr id="1030" name="Google Shape;1030;p27"/>
          <p:cNvSpPr/>
          <p:nvPr/>
        </p:nvSpPr>
        <p:spPr>
          <a:xfrm>
            <a:off x="1047750" y="7339163"/>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19. </a:t>
            </a:r>
            <a:r>
              <a:rPr b="0" i="0" lang="en-US" sz="1150" u="none" cap="none" strike="noStrike">
                <a:solidFill>
                  <a:srgbClr val="16324A"/>
                </a:solidFill>
                <a:latin typeface="Inter"/>
                <a:ea typeface="Inter"/>
                <a:cs typeface="Inter"/>
                <a:sym typeface="Inter"/>
              </a:rPr>
              <a:t>Liu, J., Xia, C. S., Wang, Y., &amp; Zhang, L. (2023). Is your code generated by ChatGPT really correct? Rigorous evaluation of large language models for code generation. </a:t>
            </a:r>
            <a:r>
              <a:rPr b="0" i="1" lang="en-US" sz="1150" u="none" cap="none" strike="noStrike">
                <a:solidFill>
                  <a:srgbClr val="16324A"/>
                </a:solidFill>
                <a:latin typeface="Inter"/>
                <a:ea typeface="Inter"/>
                <a:cs typeface="Inter"/>
                <a:sym typeface="Inter"/>
              </a:rPr>
              <a:t>Advances in Neural Information Processing Systems, 36.</a:t>
            </a:r>
            <a:endParaRPr b="0" i="0" sz="1150" u="none" cap="none" strike="noStrike">
              <a:solidFill>
                <a:schemeClr val="dk1"/>
              </a:solidFill>
              <a:latin typeface="Calibri"/>
              <a:ea typeface="Calibri"/>
              <a:cs typeface="Calibri"/>
              <a:sym typeface="Calibri"/>
            </a:endParaRPr>
          </a:p>
        </p:txBody>
      </p:sp>
      <p:sp>
        <p:nvSpPr>
          <p:cNvPr id="1031" name="Google Shape;1031;p27"/>
          <p:cNvSpPr/>
          <p:nvPr/>
        </p:nvSpPr>
        <p:spPr>
          <a:xfrm>
            <a:off x="9334500" y="6959038"/>
            <a:ext cx="8142900" cy="7158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20. </a:t>
            </a:r>
            <a:r>
              <a:rPr b="0" i="0" lang="en-US" sz="1150" u="none" cap="none" strike="noStrike">
                <a:solidFill>
                  <a:srgbClr val="16324A"/>
                </a:solidFill>
                <a:latin typeface="Inter"/>
                <a:ea typeface="Inter"/>
                <a:cs typeface="Inter"/>
                <a:sym typeface="Inter"/>
              </a:rPr>
              <a:t>Chen, Z., Chen, W., Smiley, C., Shah, S., Borova, I., Langdon, D., Moussa, R., Beane, M., Huang, T.-H., Routledge, B., &amp; Wang, W. Y. (2021). FinQA: A dataset of numerical reasoning over financial data. </a:t>
            </a:r>
            <a:r>
              <a:rPr b="0" i="1" lang="en-US" sz="1150" u="none" cap="none" strike="noStrike">
                <a:solidFill>
                  <a:srgbClr val="16324A"/>
                </a:solidFill>
                <a:latin typeface="Inter"/>
                <a:ea typeface="Inter"/>
                <a:cs typeface="Inter"/>
                <a:sym typeface="Inter"/>
              </a:rPr>
              <a:t>Proceedings of EMNLP 2021, </a:t>
            </a:r>
            <a:r>
              <a:rPr b="0" i="0" lang="en-US" sz="1150" u="none" cap="none" strike="noStrike">
                <a:solidFill>
                  <a:srgbClr val="16324A"/>
                </a:solidFill>
                <a:latin typeface="Inter"/>
                <a:ea typeface="Inter"/>
                <a:cs typeface="Inter"/>
                <a:sym typeface="Inter"/>
              </a:rPr>
              <a:t>3697–3711.</a:t>
            </a:r>
            <a:endParaRPr b="0" i="0" sz="1150" u="none" cap="none" strike="noStrike">
              <a:solidFill>
                <a:schemeClr val="dk1"/>
              </a:solidFill>
              <a:latin typeface="Calibri"/>
              <a:ea typeface="Calibri"/>
              <a:cs typeface="Calibri"/>
              <a:sym typeface="Calibri"/>
            </a:endParaRPr>
          </a:p>
        </p:txBody>
      </p:sp>
      <p:sp>
        <p:nvSpPr>
          <p:cNvPr id="1032" name="Google Shape;1032;p27"/>
          <p:cNvSpPr/>
          <p:nvPr/>
        </p:nvSpPr>
        <p:spPr>
          <a:xfrm>
            <a:off x="1047750" y="7853513"/>
            <a:ext cx="8142900" cy="7158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21. </a:t>
            </a:r>
            <a:r>
              <a:rPr b="0" i="0" lang="en-US" sz="1150" u="none" cap="none" strike="noStrike">
                <a:solidFill>
                  <a:srgbClr val="16324A"/>
                </a:solidFill>
                <a:latin typeface="Inter"/>
                <a:ea typeface="Inter"/>
                <a:cs typeface="Inter"/>
                <a:sym typeface="Inter"/>
              </a:rPr>
              <a:t>Zhu, F., Lei, W., Huang, Y., Wang, C., Zhang, S., Lv, J., Feng, F., &amp; Chua, T.-S. (2021). TAT-QA: A question answering benchmark on a hybrid of tabular and textual content in finance. </a:t>
            </a:r>
            <a:r>
              <a:rPr b="0" i="1" lang="en-US" sz="1150" u="none" cap="none" strike="noStrike">
                <a:solidFill>
                  <a:srgbClr val="16324A"/>
                </a:solidFill>
                <a:latin typeface="Inter"/>
                <a:ea typeface="Inter"/>
                <a:cs typeface="Inter"/>
                <a:sym typeface="Inter"/>
              </a:rPr>
              <a:t>Proceedings of ACL-IJCNLP 2021, </a:t>
            </a:r>
            <a:r>
              <a:rPr b="0" i="0" lang="en-US" sz="1150" u="none" cap="none" strike="noStrike">
                <a:solidFill>
                  <a:srgbClr val="16324A"/>
                </a:solidFill>
                <a:latin typeface="Inter"/>
                <a:ea typeface="Inter"/>
                <a:cs typeface="Inter"/>
                <a:sym typeface="Inter"/>
              </a:rPr>
              <a:t>3277–3287.</a:t>
            </a:r>
            <a:endParaRPr b="0" i="0" sz="1150" u="none" cap="none" strike="noStrike">
              <a:solidFill>
                <a:schemeClr val="dk1"/>
              </a:solidFill>
              <a:latin typeface="Calibri"/>
              <a:ea typeface="Calibri"/>
              <a:cs typeface="Calibri"/>
              <a:sym typeface="Calibri"/>
            </a:endParaRPr>
          </a:p>
        </p:txBody>
      </p:sp>
      <p:sp>
        <p:nvSpPr>
          <p:cNvPr id="1033" name="Google Shape;1033;p27"/>
          <p:cNvSpPr/>
          <p:nvPr/>
        </p:nvSpPr>
        <p:spPr>
          <a:xfrm>
            <a:off x="9334500" y="7778013"/>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22. </a:t>
            </a:r>
            <a:r>
              <a:rPr b="0" i="0" lang="en-US" sz="1150" u="none" cap="none" strike="noStrike">
                <a:solidFill>
                  <a:srgbClr val="16324A"/>
                </a:solidFill>
                <a:latin typeface="Inter"/>
                <a:ea typeface="Inter"/>
                <a:cs typeface="Inter"/>
                <a:sym typeface="Inter"/>
              </a:rPr>
              <a:t>Yang, A., Li, A., Yang, B., Zhang, B., Hui, B., Zheng, B., Yu, B., Gao, C., Huang, C., Lv, C., Zheng, C., et al. (2025). Qwen3 technical report. </a:t>
            </a:r>
            <a:r>
              <a:rPr b="0" i="1" lang="en-US" sz="1150" u="none" cap="none" strike="noStrike">
                <a:solidFill>
                  <a:srgbClr val="16324A"/>
                </a:solidFill>
                <a:latin typeface="Inter"/>
                <a:ea typeface="Inter"/>
                <a:cs typeface="Inter"/>
                <a:sym typeface="Inter"/>
              </a:rPr>
              <a:t>arXiv:2505.09388.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34" name="Google Shape;1034;p27"/>
          <p:cNvSpPr/>
          <p:nvPr/>
        </p:nvSpPr>
        <p:spPr>
          <a:xfrm>
            <a:off x="1047750" y="8569313"/>
            <a:ext cx="81429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23. </a:t>
            </a:r>
            <a:r>
              <a:rPr b="0" i="0" lang="en-US" sz="1150" u="none" cap="none" strike="noStrike">
                <a:solidFill>
                  <a:srgbClr val="16324A"/>
                </a:solidFill>
                <a:latin typeface="Inter"/>
                <a:ea typeface="Inter"/>
                <a:cs typeface="Inter"/>
                <a:sym typeface="Inter"/>
              </a:rPr>
              <a:t>Gemma Team. (2025). Gemma 3 technical report. </a:t>
            </a:r>
            <a:r>
              <a:rPr b="0" i="1" lang="en-US" sz="1150" u="none" cap="none" strike="noStrike">
                <a:solidFill>
                  <a:srgbClr val="16324A"/>
                </a:solidFill>
                <a:latin typeface="Inter"/>
                <a:ea typeface="Inter"/>
                <a:cs typeface="Inter"/>
                <a:sym typeface="Inter"/>
              </a:rPr>
              <a:t>arXiv:2503.19786.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35" name="Google Shape;1035;p27"/>
          <p:cNvSpPr/>
          <p:nvPr/>
        </p:nvSpPr>
        <p:spPr>
          <a:xfrm>
            <a:off x="9334500" y="8346488"/>
            <a:ext cx="8142900" cy="2478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24. </a:t>
            </a:r>
            <a:r>
              <a:rPr b="0" i="0" lang="en-US" sz="1150" u="none" cap="none" strike="noStrike">
                <a:solidFill>
                  <a:srgbClr val="16324A"/>
                </a:solidFill>
                <a:latin typeface="Inter"/>
                <a:ea typeface="Inter"/>
                <a:cs typeface="Inter"/>
                <a:sym typeface="Inter"/>
              </a:rPr>
              <a:t>OpenAI. (2025, April 14). Introducing GPT-4.1 in the API. </a:t>
            </a:r>
            <a:r>
              <a:rPr b="1" i="0" lang="en-US" sz="1150" u="none" cap="none" strike="noStrike">
                <a:solidFill>
                  <a:srgbClr val="2171B5"/>
                </a:solidFill>
                <a:latin typeface="Inter"/>
                <a:ea typeface="Inter"/>
                <a:cs typeface="Inter"/>
                <a:sym typeface="Inter"/>
              </a:rPr>
              <a:t>[Not peer-reviewed]</a:t>
            </a:r>
            <a:endParaRPr b="0" i="0" sz="1150" u="none" cap="none" strike="noStrike">
              <a:solidFill>
                <a:schemeClr val="dk1"/>
              </a:solidFill>
              <a:latin typeface="Calibri"/>
              <a:ea typeface="Calibri"/>
              <a:cs typeface="Calibri"/>
              <a:sym typeface="Calibri"/>
            </a:endParaRPr>
          </a:p>
        </p:txBody>
      </p:sp>
      <p:sp>
        <p:nvSpPr>
          <p:cNvPr id="1036" name="Google Shape;1036;p27"/>
          <p:cNvSpPr/>
          <p:nvPr/>
        </p:nvSpPr>
        <p:spPr>
          <a:xfrm>
            <a:off x="1047750" y="8958713"/>
            <a:ext cx="8142900" cy="552600"/>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16324A"/>
              </a:buClr>
              <a:buSzPts val="1350"/>
              <a:buFont typeface="Inter"/>
              <a:buNone/>
            </a:pPr>
            <a:r>
              <a:rPr b="1" i="0" lang="en-US" sz="1150" u="none" cap="none" strike="noStrike">
                <a:solidFill>
                  <a:srgbClr val="16324A"/>
                </a:solidFill>
                <a:latin typeface="Inter"/>
                <a:ea typeface="Inter"/>
                <a:cs typeface="Inter"/>
                <a:sym typeface="Inter"/>
              </a:rPr>
              <a:t>25. </a:t>
            </a:r>
            <a:r>
              <a:rPr b="0" i="0" lang="en-US" sz="1150" u="none" cap="none" strike="noStrike">
                <a:solidFill>
                  <a:srgbClr val="16324A"/>
                </a:solidFill>
                <a:latin typeface="Inter"/>
                <a:ea typeface="Inter"/>
                <a:cs typeface="Inter"/>
                <a:sym typeface="Inter"/>
              </a:rPr>
              <a:t>Reimers, N., &amp; Gurevych, I. (2019). Sentence-BERT: Sentence embeddings using Siamese BERT-networks. </a:t>
            </a:r>
            <a:r>
              <a:rPr b="0" i="1" lang="en-US" sz="1150" u="none" cap="none" strike="noStrike">
                <a:solidFill>
                  <a:srgbClr val="16324A"/>
                </a:solidFill>
                <a:latin typeface="Inter"/>
                <a:ea typeface="Inter"/>
                <a:cs typeface="Inter"/>
                <a:sym typeface="Inter"/>
              </a:rPr>
              <a:t>Proceedings of EMNLP-IJCNLP 2019, </a:t>
            </a:r>
            <a:r>
              <a:rPr b="0" i="0" lang="en-US" sz="1150" u="none" cap="none" strike="noStrike">
                <a:solidFill>
                  <a:srgbClr val="16324A"/>
                </a:solidFill>
                <a:latin typeface="Inter"/>
                <a:ea typeface="Inter"/>
                <a:cs typeface="Inter"/>
                <a:sym typeface="Inter"/>
              </a:rPr>
              <a:t>3982–3992.</a:t>
            </a:r>
            <a:endParaRPr b="0" i="0" sz="1150" u="none" cap="none" strike="noStrike">
              <a:solidFill>
                <a:schemeClr val="dk1"/>
              </a:solidFill>
              <a:latin typeface="Calibri"/>
              <a:ea typeface="Calibri"/>
              <a:cs typeface="Calibri"/>
              <a:sym typeface="Calibri"/>
            </a:endParaRPr>
          </a:p>
        </p:txBody>
      </p:sp>
      <p:pic>
        <p:nvPicPr>
          <p:cNvPr id="1037" name="Google Shape;1037;p27"/>
          <p:cNvPicPr preferRelativeResize="0"/>
          <p:nvPr/>
        </p:nvPicPr>
        <p:blipFill>
          <a:blip r:embed="rId3">
            <a:alphaModFix/>
          </a:blip>
          <a:stretch>
            <a:fillRect/>
          </a:stretch>
        </p:blipFill>
        <p:spPr>
          <a:xfrm>
            <a:off x="14514274" y="256251"/>
            <a:ext cx="3489799" cy="614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4594"/>
        </a:solidFill>
      </p:bgPr>
    </p:bg>
    <p:spTree>
      <p:nvGrpSpPr>
        <p:cNvPr id="1042" name="Shape 1042"/>
        <p:cNvGrpSpPr/>
        <p:nvPr/>
      </p:nvGrpSpPr>
      <p:grpSpPr>
        <a:xfrm>
          <a:off x="0" y="0"/>
          <a:ext cx="0" cy="0"/>
          <a:chOff x="0" y="0"/>
          <a:chExt cx="0" cy="0"/>
        </a:xfrm>
      </p:grpSpPr>
      <p:pic>
        <p:nvPicPr>
          <p:cNvPr descr="preencoded.png" id="1043" name="Google Shape;1043;p28"/>
          <p:cNvPicPr preferRelativeResize="0"/>
          <p:nvPr/>
        </p:nvPicPr>
        <p:blipFill rotWithShape="1">
          <a:blip r:embed="rId3">
            <a:alphaModFix amt="28000"/>
          </a:blip>
          <a:srcRect b="0" l="0" r="0" t="0"/>
          <a:stretch/>
        </p:blipFill>
        <p:spPr>
          <a:xfrm>
            <a:off x="14287500" y="-1905000"/>
            <a:ext cx="5715000" cy="5715000"/>
          </a:xfrm>
          <a:prstGeom prst="rect">
            <a:avLst/>
          </a:prstGeom>
          <a:noFill/>
          <a:ln>
            <a:noFill/>
          </a:ln>
        </p:spPr>
      </p:pic>
      <p:sp>
        <p:nvSpPr>
          <p:cNvPr id="1044" name="Google Shape;1044;p28"/>
          <p:cNvSpPr/>
          <p:nvPr/>
        </p:nvSpPr>
        <p:spPr>
          <a:xfrm>
            <a:off x="6463190" y="4495800"/>
            <a:ext cx="5361600" cy="1295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6600"/>
              <a:buFont typeface="Poppins"/>
              <a:buNone/>
            </a:pPr>
            <a:r>
              <a:rPr b="1" lang="en-US" sz="6600">
                <a:solidFill>
                  <a:srgbClr val="FFFFFF"/>
                </a:solidFill>
                <a:latin typeface="Poppins"/>
                <a:ea typeface="Poppins"/>
                <a:cs typeface="Poppins"/>
                <a:sym typeface="Poppins"/>
              </a:rPr>
              <a:t>Q &amp; A</a:t>
            </a:r>
            <a:endParaRPr b="0" i="0" sz="6600" u="none" cap="none" strike="noStrike">
              <a:solidFill>
                <a:schemeClr val="dk1"/>
              </a:solidFill>
              <a:latin typeface="Calibri"/>
              <a:ea typeface="Calibri"/>
              <a:cs typeface="Calibri"/>
              <a:sym typeface="Calibri"/>
            </a:endParaRPr>
          </a:p>
        </p:txBody>
      </p:sp>
      <p:pic>
        <p:nvPicPr>
          <p:cNvPr id="1045" name="Google Shape;1045;p28"/>
          <p:cNvPicPr preferRelativeResize="0"/>
          <p:nvPr/>
        </p:nvPicPr>
        <p:blipFill>
          <a:blip r:embed="rId4">
            <a:alphaModFix/>
          </a:blip>
          <a:stretch>
            <a:fillRect/>
          </a:stretch>
        </p:blipFill>
        <p:spPr>
          <a:xfrm>
            <a:off x="14514274" y="256251"/>
            <a:ext cx="3489799" cy="614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